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3.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 id="2147483708" r:id="rId2"/>
    <p:sldMasterId id="2147483726" r:id="rId3"/>
    <p:sldMasterId id="2147483744" r:id="rId4"/>
  </p:sldMasterIdLst>
  <p:sldIdLst>
    <p:sldId id="259" r:id="rId5"/>
    <p:sldId id="260" r:id="rId6"/>
    <p:sldId id="258"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1" r:id="rId27"/>
    <p:sldId id="282" r:id="rId28"/>
    <p:sldId id="283" r:id="rId29"/>
    <p:sldId id="284"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9" r:id="rId43"/>
    <p:sldId id="298" r:id="rId44"/>
    <p:sldId id="300" r:id="rId45"/>
    <p:sldId id="301"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3" d="100"/>
          <a:sy n="113" d="100"/>
        </p:scale>
        <p:origin x="456"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slideMaster" Target="slideMasters/slideMaster1.xml"/><Relationship Id="rId6"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007C8-348D-4297-BC43-929E64D8B16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A06F73B-F48E-4B2B-8D0A-C7324CBD2BE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2FC1A7B-899B-4719-9024-31B39298A87C}"/>
              </a:ext>
            </a:extLst>
          </p:cNvPr>
          <p:cNvSpPr>
            <a:spLocks noGrp="1"/>
          </p:cNvSpPr>
          <p:nvPr>
            <p:ph type="dt" sz="half" idx="10"/>
          </p:nvPr>
        </p:nvSpPr>
        <p:spPr/>
        <p:txBody>
          <a:bodyPr/>
          <a:lstStyle/>
          <a:p>
            <a:fld id="{400BD5AD-7A74-494A-9CEB-945174FA32CE}" type="datetimeFigureOut">
              <a:rPr lang="en-IN" smtClean="0"/>
              <a:t>07-08-2026</a:t>
            </a:fld>
            <a:endParaRPr lang="en-IN"/>
          </a:p>
        </p:txBody>
      </p:sp>
      <p:sp>
        <p:nvSpPr>
          <p:cNvPr id="5" name="Footer Placeholder 4">
            <a:extLst>
              <a:ext uri="{FF2B5EF4-FFF2-40B4-BE49-F238E27FC236}">
                <a16:creationId xmlns:a16="http://schemas.microsoft.com/office/drawing/2014/main" id="{D306DFFD-F4EB-4F3C-8659-5441146C91C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FF12CE3-F892-44D7-807D-E0D32D2F6E2F}"/>
              </a:ext>
            </a:extLst>
          </p:cNvPr>
          <p:cNvSpPr>
            <a:spLocks noGrp="1"/>
          </p:cNvSpPr>
          <p:nvPr>
            <p:ph type="sldNum" sz="quarter" idx="12"/>
          </p:nvPr>
        </p:nvSpPr>
        <p:spPr/>
        <p:txBody>
          <a:bodyPr/>
          <a:lstStyle/>
          <a:p>
            <a:fld id="{2F811E15-AAE1-4DC2-8BBF-F805B231CA86}" type="slidenum">
              <a:rPr lang="en-IN" smtClean="0"/>
              <a:t>‹#›</a:t>
            </a:fld>
            <a:endParaRPr lang="en-IN"/>
          </a:p>
        </p:txBody>
      </p:sp>
    </p:spTree>
    <p:extLst>
      <p:ext uri="{BB962C8B-B14F-4D97-AF65-F5344CB8AC3E}">
        <p14:creationId xmlns:p14="http://schemas.microsoft.com/office/powerpoint/2010/main" val="31105162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5C60E-2892-48CB-9F11-3E541437C97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44B5B64-5639-44BF-A940-0737212992D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FE1C4D7-25F5-437F-86B3-DE43FA5D49D1}"/>
              </a:ext>
            </a:extLst>
          </p:cNvPr>
          <p:cNvSpPr>
            <a:spLocks noGrp="1"/>
          </p:cNvSpPr>
          <p:nvPr>
            <p:ph type="dt" sz="half" idx="10"/>
          </p:nvPr>
        </p:nvSpPr>
        <p:spPr/>
        <p:txBody>
          <a:bodyPr/>
          <a:lstStyle/>
          <a:p>
            <a:fld id="{400BD5AD-7A74-494A-9CEB-945174FA32CE}" type="datetimeFigureOut">
              <a:rPr lang="en-IN" smtClean="0"/>
              <a:t>07-08-2026</a:t>
            </a:fld>
            <a:endParaRPr lang="en-IN"/>
          </a:p>
        </p:txBody>
      </p:sp>
      <p:sp>
        <p:nvSpPr>
          <p:cNvPr id="5" name="Footer Placeholder 4">
            <a:extLst>
              <a:ext uri="{FF2B5EF4-FFF2-40B4-BE49-F238E27FC236}">
                <a16:creationId xmlns:a16="http://schemas.microsoft.com/office/drawing/2014/main" id="{73E1D6AA-9169-4174-B68F-A06F3C991C5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E3CAB1B-DFA4-4FFE-BD71-82442FF1F470}"/>
              </a:ext>
            </a:extLst>
          </p:cNvPr>
          <p:cNvSpPr>
            <a:spLocks noGrp="1"/>
          </p:cNvSpPr>
          <p:nvPr>
            <p:ph type="sldNum" sz="quarter" idx="12"/>
          </p:nvPr>
        </p:nvSpPr>
        <p:spPr/>
        <p:txBody>
          <a:bodyPr/>
          <a:lstStyle/>
          <a:p>
            <a:fld id="{2F811E15-AAE1-4DC2-8BBF-F805B231CA86}" type="slidenum">
              <a:rPr lang="en-IN" smtClean="0"/>
              <a:t>‹#›</a:t>
            </a:fld>
            <a:endParaRPr lang="en-IN"/>
          </a:p>
        </p:txBody>
      </p:sp>
    </p:spTree>
    <p:extLst>
      <p:ext uri="{BB962C8B-B14F-4D97-AF65-F5344CB8AC3E}">
        <p14:creationId xmlns:p14="http://schemas.microsoft.com/office/powerpoint/2010/main" val="3094163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64754-53E2-4548-9C72-6910FD84562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31B02F8-9ABD-4617-B59A-2BE84AB69D0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7C0FE24-45C9-4BF9-AF7A-6C031DDD2FA2}"/>
              </a:ext>
            </a:extLst>
          </p:cNvPr>
          <p:cNvSpPr>
            <a:spLocks noGrp="1"/>
          </p:cNvSpPr>
          <p:nvPr>
            <p:ph type="dt" sz="half" idx="10"/>
          </p:nvPr>
        </p:nvSpPr>
        <p:spPr/>
        <p:txBody>
          <a:bodyPr/>
          <a:lstStyle/>
          <a:p>
            <a:fld id="{400BD5AD-7A74-494A-9CEB-945174FA32CE}" type="datetimeFigureOut">
              <a:rPr lang="en-IN" smtClean="0"/>
              <a:t>07-08-2026</a:t>
            </a:fld>
            <a:endParaRPr lang="en-IN"/>
          </a:p>
        </p:txBody>
      </p:sp>
      <p:sp>
        <p:nvSpPr>
          <p:cNvPr id="5" name="Footer Placeholder 4">
            <a:extLst>
              <a:ext uri="{FF2B5EF4-FFF2-40B4-BE49-F238E27FC236}">
                <a16:creationId xmlns:a16="http://schemas.microsoft.com/office/drawing/2014/main" id="{6EA384BC-EA9D-4A8E-8092-5FE2B047464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A39DC6C-0344-4F73-B450-538C4B2DD0CC}"/>
              </a:ext>
            </a:extLst>
          </p:cNvPr>
          <p:cNvSpPr>
            <a:spLocks noGrp="1"/>
          </p:cNvSpPr>
          <p:nvPr>
            <p:ph type="sldNum" sz="quarter" idx="12"/>
          </p:nvPr>
        </p:nvSpPr>
        <p:spPr/>
        <p:txBody>
          <a:bodyPr/>
          <a:lstStyle/>
          <a:p>
            <a:fld id="{2F811E15-AAE1-4DC2-8BBF-F805B231CA86}" type="slidenum">
              <a:rPr lang="en-IN" smtClean="0"/>
              <a:t>‹#›</a:t>
            </a:fld>
            <a:endParaRPr lang="en-IN"/>
          </a:p>
        </p:txBody>
      </p:sp>
    </p:spTree>
    <p:extLst>
      <p:ext uri="{BB962C8B-B14F-4D97-AF65-F5344CB8AC3E}">
        <p14:creationId xmlns:p14="http://schemas.microsoft.com/office/powerpoint/2010/main" val="10094756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14080-64E9-4938-979C-E69AF22B488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45E0F2C-DE55-4865-916E-01B45B89F04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4F5BA31-6C02-498A-9AF6-ACF5F161C58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F1F326D-DA99-41EF-BB5E-A531BDCD156A}"/>
              </a:ext>
            </a:extLst>
          </p:cNvPr>
          <p:cNvSpPr>
            <a:spLocks noGrp="1"/>
          </p:cNvSpPr>
          <p:nvPr>
            <p:ph type="dt" sz="half" idx="10"/>
          </p:nvPr>
        </p:nvSpPr>
        <p:spPr/>
        <p:txBody>
          <a:bodyPr/>
          <a:lstStyle/>
          <a:p>
            <a:fld id="{400BD5AD-7A74-494A-9CEB-945174FA32CE}" type="datetimeFigureOut">
              <a:rPr lang="en-IN" smtClean="0"/>
              <a:t>07-08-2026</a:t>
            </a:fld>
            <a:endParaRPr lang="en-IN"/>
          </a:p>
        </p:txBody>
      </p:sp>
      <p:sp>
        <p:nvSpPr>
          <p:cNvPr id="6" name="Footer Placeholder 5">
            <a:extLst>
              <a:ext uri="{FF2B5EF4-FFF2-40B4-BE49-F238E27FC236}">
                <a16:creationId xmlns:a16="http://schemas.microsoft.com/office/drawing/2014/main" id="{6C8F250A-F8A2-46AA-8DDE-44A0941438D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010A23C-0015-4138-AC3B-CCC28DC10A3D}"/>
              </a:ext>
            </a:extLst>
          </p:cNvPr>
          <p:cNvSpPr>
            <a:spLocks noGrp="1"/>
          </p:cNvSpPr>
          <p:nvPr>
            <p:ph type="sldNum" sz="quarter" idx="12"/>
          </p:nvPr>
        </p:nvSpPr>
        <p:spPr/>
        <p:txBody>
          <a:bodyPr/>
          <a:lstStyle/>
          <a:p>
            <a:fld id="{2F811E15-AAE1-4DC2-8BBF-F805B231CA86}" type="slidenum">
              <a:rPr lang="en-IN" smtClean="0"/>
              <a:t>‹#›</a:t>
            </a:fld>
            <a:endParaRPr lang="en-IN"/>
          </a:p>
        </p:txBody>
      </p:sp>
    </p:spTree>
    <p:extLst>
      <p:ext uri="{BB962C8B-B14F-4D97-AF65-F5344CB8AC3E}">
        <p14:creationId xmlns:p14="http://schemas.microsoft.com/office/powerpoint/2010/main" val="1018802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EEFB9-404D-4CB0-9E57-4FA28CB86B0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814331B-BCE3-4C31-9D7B-D907C5CC55B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30A3481-A099-4141-96A3-0966B2A3AD8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3C89201-A805-4524-8EC0-47AAE68F9FA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3F8DFFD-78E2-49DA-934C-D4EE8358EE9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A46393A-333E-47AB-89E5-79C7073ADC8A}"/>
              </a:ext>
            </a:extLst>
          </p:cNvPr>
          <p:cNvSpPr>
            <a:spLocks noGrp="1"/>
          </p:cNvSpPr>
          <p:nvPr>
            <p:ph type="dt" sz="half" idx="10"/>
          </p:nvPr>
        </p:nvSpPr>
        <p:spPr/>
        <p:txBody>
          <a:bodyPr/>
          <a:lstStyle/>
          <a:p>
            <a:fld id="{400BD5AD-7A74-494A-9CEB-945174FA32CE}" type="datetimeFigureOut">
              <a:rPr lang="en-IN" smtClean="0"/>
              <a:t>07-08-2026</a:t>
            </a:fld>
            <a:endParaRPr lang="en-IN"/>
          </a:p>
        </p:txBody>
      </p:sp>
      <p:sp>
        <p:nvSpPr>
          <p:cNvPr id="8" name="Footer Placeholder 7">
            <a:extLst>
              <a:ext uri="{FF2B5EF4-FFF2-40B4-BE49-F238E27FC236}">
                <a16:creationId xmlns:a16="http://schemas.microsoft.com/office/drawing/2014/main" id="{1FFCF2A2-D826-489A-B978-E8357C8D9F4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DE915A8-BBFE-4657-AB1F-5C9E5A4745D3}"/>
              </a:ext>
            </a:extLst>
          </p:cNvPr>
          <p:cNvSpPr>
            <a:spLocks noGrp="1"/>
          </p:cNvSpPr>
          <p:nvPr>
            <p:ph type="sldNum" sz="quarter" idx="12"/>
          </p:nvPr>
        </p:nvSpPr>
        <p:spPr/>
        <p:txBody>
          <a:bodyPr/>
          <a:lstStyle/>
          <a:p>
            <a:fld id="{2F811E15-AAE1-4DC2-8BBF-F805B231CA86}" type="slidenum">
              <a:rPr lang="en-IN" smtClean="0"/>
              <a:t>‹#›</a:t>
            </a:fld>
            <a:endParaRPr lang="en-IN"/>
          </a:p>
        </p:txBody>
      </p:sp>
    </p:spTree>
    <p:extLst>
      <p:ext uri="{BB962C8B-B14F-4D97-AF65-F5344CB8AC3E}">
        <p14:creationId xmlns:p14="http://schemas.microsoft.com/office/powerpoint/2010/main" val="28263798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D7DD7-6959-47AE-A0E5-88949DB7BE8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AD1BD82-99AE-408F-9825-A908B75258FE}"/>
              </a:ext>
            </a:extLst>
          </p:cNvPr>
          <p:cNvSpPr>
            <a:spLocks noGrp="1"/>
          </p:cNvSpPr>
          <p:nvPr>
            <p:ph type="dt" sz="half" idx="10"/>
          </p:nvPr>
        </p:nvSpPr>
        <p:spPr/>
        <p:txBody>
          <a:bodyPr/>
          <a:lstStyle/>
          <a:p>
            <a:fld id="{400BD5AD-7A74-494A-9CEB-945174FA32CE}" type="datetimeFigureOut">
              <a:rPr lang="en-IN" smtClean="0"/>
              <a:t>07-08-2026</a:t>
            </a:fld>
            <a:endParaRPr lang="en-IN"/>
          </a:p>
        </p:txBody>
      </p:sp>
      <p:sp>
        <p:nvSpPr>
          <p:cNvPr id="4" name="Footer Placeholder 3">
            <a:extLst>
              <a:ext uri="{FF2B5EF4-FFF2-40B4-BE49-F238E27FC236}">
                <a16:creationId xmlns:a16="http://schemas.microsoft.com/office/drawing/2014/main" id="{FB5280E2-6625-4729-BD58-A94282DAAA6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07F4542-6F85-44CE-A8D1-D1DAB3F1A22A}"/>
              </a:ext>
            </a:extLst>
          </p:cNvPr>
          <p:cNvSpPr>
            <a:spLocks noGrp="1"/>
          </p:cNvSpPr>
          <p:nvPr>
            <p:ph type="sldNum" sz="quarter" idx="12"/>
          </p:nvPr>
        </p:nvSpPr>
        <p:spPr/>
        <p:txBody>
          <a:bodyPr/>
          <a:lstStyle/>
          <a:p>
            <a:fld id="{2F811E15-AAE1-4DC2-8BBF-F805B231CA86}" type="slidenum">
              <a:rPr lang="en-IN" smtClean="0"/>
              <a:t>‹#›</a:t>
            </a:fld>
            <a:endParaRPr lang="en-IN"/>
          </a:p>
        </p:txBody>
      </p:sp>
    </p:spTree>
    <p:extLst>
      <p:ext uri="{BB962C8B-B14F-4D97-AF65-F5344CB8AC3E}">
        <p14:creationId xmlns:p14="http://schemas.microsoft.com/office/powerpoint/2010/main" val="20428379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C9999D6-7EBC-42D2-B6FE-7D2A7910F837}"/>
              </a:ext>
            </a:extLst>
          </p:cNvPr>
          <p:cNvSpPr>
            <a:spLocks noGrp="1"/>
          </p:cNvSpPr>
          <p:nvPr>
            <p:ph type="dt" sz="half" idx="10"/>
          </p:nvPr>
        </p:nvSpPr>
        <p:spPr/>
        <p:txBody>
          <a:bodyPr/>
          <a:lstStyle/>
          <a:p>
            <a:fld id="{400BD5AD-7A74-494A-9CEB-945174FA32CE}" type="datetimeFigureOut">
              <a:rPr lang="en-IN" smtClean="0"/>
              <a:t>07-08-2026</a:t>
            </a:fld>
            <a:endParaRPr lang="en-IN"/>
          </a:p>
        </p:txBody>
      </p:sp>
      <p:sp>
        <p:nvSpPr>
          <p:cNvPr id="3" name="Footer Placeholder 2">
            <a:extLst>
              <a:ext uri="{FF2B5EF4-FFF2-40B4-BE49-F238E27FC236}">
                <a16:creationId xmlns:a16="http://schemas.microsoft.com/office/drawing/2014/main" id="{A0DB459E-6E8E-4EEB-875C-B6E275CDF83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D084DA6-85E4-4CA6-86B8-3F5359D64861}"/>
              </a:ext>
            </a:extLst>
          </p:cNvPr>
          <p:cNvSpPr>
            <a:spLocks noGrp="1"/>
          </p:cNvSpPr>
          <p:nvPr>
            <p:ph type="sldNum" sz="quarter" idx="12"/>
          </p:nvPr>
        </p:nvSpPr>
        <p:spPr/>
        <p:txBody>
          <a:bodyPr/>
          <a:lstStyle/>
          <a:p>
            <a:fld id="{2F811E15-AAE1-4DC2-8BBF-F805B231CA86}" type="slidenum">
              <a:rPr lang="en-IN" smtClean="0"/>
              <a:t>‹#›</a:t>
            </a:fld>
            <a:endParaRPr lang="en-IN"/>
          </a:p>
        </p:txBody>
      </p:sp>
    </p:spTree>
    <p:extLst>
      <p:ext uri="{BB962C8B-B14F-4D97-AF65-F5344CB8AC3E}">
        <p14:creationId xmlns:p14="http://schemas.microsoft.com/office/powerpoint/2010/main" val="23444364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90BA3-9E50-4473-B832-DBCD998FCE3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A6AAF93-7CAF-4F3E-BE87-A42BB8F1734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F24A591-71CC-4279-8702-7304227F2F6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63B49BA-305B-4222-9013-82FD5EBE6D82}"/>
              </a:ext>
            </a:extLst>
          </p:cNvPr>
          <p:cNvSpPr>
            <a:spLocks noGrp="1"/>
          </p:cNvSpPr>
          <p:nvPr>
            <p:ph type="dt" sz="half" idx="10"/>
          </p:nvPr>
        </p:nvSpPr>
        <p:spPr/>
        <p:txBody>
          <a:bodyPr/>
          <a:lstStyle/>
          <a:p>
            <a:fld id="{400BD5AD-7A74-494A-9CEB-945174FA32CE}" type="datetimeFigureOut">
              <a:rPr lang="en-IN" smtClean="0"/>
              <a:t>07-08-2026</a:t>
            </a:fld>
            <a:endParaRPr lang="en-IN"/>
          </a:p>
        </p:txBody>
      </p:sp>
      <p:sp>
        <p:nvSpPr>
          <p:cNvPr id="6" name="Footer Placeholder 5">
            <a:extLst>
              <a:ext uri="{FF2B5EF4-FFF2-40B4-BE49-F238E27FC236}">
                <a16:creationId xmlns:a16="http://schemas.microsoft.com/office/drawing/2014/main" id="{0FB10DFD-FDAA-48E2-8499-A08077A1A1F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F8089D2-D02C-478F-B74C-6ACEA3A20847}"/>
              </a:ext>
            </a:extLst>
          </p:cNvPr>
          <p:cNvSpPr>
            <a:spLocks noGrp="1"/>
          </p:cNvSpPr>
          <p:nvPr>
            <p:ph type="sldNum" sz="quarter" idx="12"/>
          </p:nvPr>
        </p:nvSpPr>
        <p:spPr/>
        <p:txBody>
          <a:bodyPr/>
          <a:lstStyle/>
          <a:p>
            <a:fld id="{2F811E15-AAE1-4DC2-8BBF-F805B231CA86}" type="slidenum">
              <a:rPr lang="en-IN" smtClean="0"/>
              <a:t>‹#›</a:t>
            </a:fld>
            <a:endParaRPr lang="en-IN"/>
          </a:p>
        </p:txBody>
      </p:sp>
    </p:spTree>
    <p:extLst>
      <p:ext uri="{BB962C8B-B14F-4D97-AF65-F5344CB8AC3E}">
        <p14:creationId xmlns:p14="http://schemas.microsoft.com/office/powerpoint/2010/main" val="31582089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DCF06-66C3-41A3-B11B-C348CA2D9CA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4B10F0B-C209-4C06-B32B-DA2C0A4BAA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CD8593F-BBA6-4408-8A44-B57D035614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2B16B1-5371-4E74-AC94-72AF989E5DA5}"/>
              </a:ext>
            </a:extLst>
          </p:cNvPr>
          <p:cNvSpPr>
            <a:spLocks noGrp="1"/>
          </p:cNvSpPr>
          <p:nvPr>
            <p:ph type="dt" sz="half" idx="10"/>
          </p:nvPr>
        </p:nvSpPr>
        <p:spPr/>
        <p:txBody>
          <a:bodyPr/>
          <a:lstStyle/>
          <a:p>
            <a:fld id="{400BD5AD-7A74-494A-9CEB-945174FA32CE}" type="datetimeFigureOut">
              <a:rPr lang="en-IN" smtClean="0"/>
              <a:t>07-08-2026</a:t>
            </a:fld>
            <a:endParaRPr lang="en-IN"/>
          </a:p>
        </p:txBody>
      </p:sp>
      <p:sp>
        <p:nvSpPr>
          <p:cNvPr id="6" name="Footer Placeholder 5">
            <a:extLst>
              <a:ext uri="{FF2B5EF4-FFF2-40B4-BE49-F238E27FC236}">
                <a16:creationId xmlns:a16="http://schemas.microsoft.com/office/drawing/2014/main" id="{C98C0E16-8463-4227-AA21-9F8D21C38CD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ACF2F4C-D5A2-4331-9623-0CB3538D665E}"/>
              </a:ext>
            </a:extLst>
          </p:cNvPr>
          <p:cNvSpPr>
            <a:spLocks noGrp="1"/>
          </p:cNvSpPr>
          <p:nvPr>
            <p:ph type="sldNum" sz="quarter" idx="12"/>
          </p:nvPr>
        </p:nvSpPr>
        <p:spPr/>
        <p:txBody>
          <a:bodyPr/>
          <a:lstStyle/>
          <a:p>
            <a:fld id="{2F811E15-AAE1-4DC2-8BBF-F805B231CA86}" type="slidenum">
              <a:rPr lang="en-IN" smtClean="0"/>
              <a:t>‹#›</a:t>
            </a:fld>
            <a:endParaRPr lang="en-IN"/>
          </a:p>
        </p:txBody>
      </p:sp>
    </p:spTree>
    <p:extLst>
      <p:ext uri="{BB962C8B-B14F-4D97-AF65-F5344CB8AC3E}">
        <p14:creationId xmlns:p14="http://schemas.microsoft.com/office/powerpoint/2010/main" val="41591224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FDA28-FB09-4FA5-8807-CEC4DC44565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A18F8D2-012B-41B6-A6A5-87C3C9BFE6B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59049C6-38C4-4DB3-BB3C-A3777907AF57}"/>
              </a:ext>
            </a:extLst>
          </p:cNvPr>
          <p:cNvSpPr>
            <a:spLocks noGrp="1"/>
          </p:cNvSpPr>
          <p:nvPr>
            <p:ph type="dt" sz="half" idx="10"/>
          </p:nvPr>
        </p:nvSpPr>
        <p:spPr/>
        <p:txBody>
          <a:bodyPr/>
          <a:lstStyle/>
          <a:p>
            <a:fld id="{400BD5AD-7A74-494A-9CEB-945174FA32CE}" type="datetimeFigureOut">
              <a:rPr lang="en-IN" smtClean="0"/>
              <a:t>07-08-2026</a:t>
            </a:fld>
            <a:endParaRPr lang="en-IN"/>
          </a:p>
        </p:txBody>
      </p:sp>
      <p:sp>
        <p:nvSpPr>
          <p:cNvPr id="5" name="Footer Placeholder 4">
            <a:extLst>
              <a:ext uri="{FF2B5EF4-FFF2-40B4-BE49-F238E27FC236}">
                <a16:creationId xmlns:a16="http://schemas.microsoft.com/office/drawing/2014/main" id="{4758CDBA-82CD-4F2C-8DD0-FE90091C8C1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15DB478-771E-485A-B5E1-1FB4E53C6EE3}"/>
              </a:ext>
            </a:extLst>
          </p:cNvPr>
          <p:cNvSpPr>
            <a:spLocks noGrp="1"/>
          </p:cNvSpPr>
          <p:nvPr>
            <p:ph type="sldNum" sz="quarter" idx="12"/>
          </p:nvPr>
        </p:nvSpPr>
        <p:spPr/>
        <p:txBody>
          <a:bodyPr/>
          <a:lstStyle/>
          <a:p>
            <a:fld id="{2F811E15-AAE1-4DC2-8BBF-F805B231CA86}" type="slidenum">
              <a:rPr lang="en-IN" smtClean="0"/>
              <a:t>‹#›</a:t>
            </a:fld>
            <a:endParaRPr lang="en-IN"/>
          </a:p>
        </p:txBody>
      </p:sp>
    </p:spTree>
    <p:extLst>
      <p:ext uri="{BB962C8B-B14F-4D97-AF65-F5344CB8AC3E}">
        <p14:creationId xmlns:p14="http://schemas.microsoft.com/office/powerpoint/2010/main" val="13894160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145AAD6-6C30-4834-A6E7-0BA86EB80DC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08940B6-B457-4D7D-9636-2CA32C8238A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8F879E0-F59D-4A9B-BD5D-F18E9B425955}"/>
              </a:ext>
            </a:extLst>
          </p:cNvPr>
          <p:cNvSpPr>
            <a:spLocks noGrp="1"/>
          </p:cNvSpPr>
          <p:nvPr>
            <p:ph type="dt" sz="half" idx="10"/>
          </p:nvPr>
        </p:nvSpPr>
        <p:spPr/>
        <p:txBody>
          <a:bodyPr/>
          <a:lstStyle/>
          <a:p>
            <a:fld id="{400BD5AD-7A74-494A-9CEB-945174FA32CE}" type="datetimeFigureOut">
              <a:rPr lang="en-IN" smtClean="0"/>
              <a:t>07-08-2026</a:t>
            </a:fld>
            <a:endParaRPr lang="en-IN"/>
          </a:p>
        </p:txBody>
      </p:sp>
      <p:sp>
        <p:nvSpPr>
          <p:cNvPr id="5" name="Footer Placeholder 4">
            <a:extLst>
              <a:ext uri="{FF2B5EF4-FFF2-40B4-BE49-F238E27FC236}">
                <a16:creationId xmlns:a16="http://schemas.microsoft.com/office/drawing/2014/main" id="{4EA48549-5F6F-4BAD-8A00-A18F96F6286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C94723D-8143-4A72-8DF1-5CE5A2EA169B}"/>
              </a:ext>
            </a:extLst>
          </p:cNvPr>
          <p:cNvSpPr>
            <a:spLocks noGrp="1"/>
          </p:cNvSpPr>
          <p:nvPr>
            <p:ph type="sldNum" sz="quarter" idx="12"/>
          </p:nvPr>
        </p:nvSpPr>
        <p:spPr/>
        <p:txBody>
          <a:bodyPr/>
          <a:lstStyle/>
          <a:p>
            <a:fld id="{2F811E15-AAE1-4DC2-8BBF-F805B231CA86}" type="slidenum">
              <a:rPr lang="en-IN" smtClean="0"/>
              <a:t>‹#›</a:t>
            </a:fld>
            <a:endParaRPr lang="en-IN"/>
          </a:p>
        </p:txBody>
      </p:sp>
    </p:spTree>
    <p:extLst>
      <p:ext uri="{BB962C8B-B14F-4D97-AF65-F5344CB8AC3E}">
        <p14:creationId xmlns:p14="http://schemas.microsoft.com/office/powerpoint/2010/main" val="13623381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00BD5AD-7A74-494A-9CEB-945174FA32CE}" type="datetimeFigureOut">
              <a:rPr lang="en-IN" smtClean="0"/>
              <a:t>07-08-2026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F811E15-AAE1-4DC2-8BBF-F805B231CA86}" type="slidenum">
              <a:rPr lang="en-IN" smtClean="0"/>
              <a:t>‹#›</a:t>
            </a:fld>
            <a:endParaRPr lang="en-IN"/>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531062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0BD5AD-7A74-494A-9CEB-945174FA32CE}" type="datetimeFigureOut">
              <a:rPr lang="en-IN" smtClean="0"/>
              <a:t>07-08-2026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F811E15-AAE1-4DC2-8BBF-F805B231CA86}" type="slidenum">
              <a:rPr lang="en-IN" smtClean="0"/>
              <a:t>‹#›</a:t>
            </a:fld>
            <a:endParaRPr lang="en-IN"/>
          </a:p>
        </p:txBody>
      </p:sp>
    </p:spTree>
    <p:extLst>
      <p:ext uri="{BB962C8B-B14F-4D97-AF65-F5344CB8AC3E}">
        <p14:creationId xmlns:p14="http://schemas.microsoft.com/office/powerpoint/2010/main" val="253141217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00BD5AD-7A74-494A-9CEB-945174FA32CE}" type="datetimeFigureOut">
              <a:rPr lang="en-IN" smtClean="0"/>
              <a:t>07-08-2026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F811E15-AAE1-4DC2-8BBF-F805B231CA86}" type="slidenum">
              <a:rPr lang="en-IN" smtClean="0"/>
              <a:t>‹#›</a:t>
            </a:fld>
            <a:endParaRPr lang="en-IN"/>
          </a:p>
        </p:txBody>
      </p:sp>
    </p:spTree>
    <p:extLst>
      <p:ext uri="{BB962C8B-B14F-4D97-AF65-F5344CB8AC3E}">
        <p14:creationId xmlns:p14="http://schemas.microsoft.com/office/powerpoint/2010/main" val="17911702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00BD5AD-7A74-494A-9CEB-945174FA32CE}" type="datetimeFigureOut">
              <a:rPr lang="en-IN" smtClean="0"/>
              <a:t>07-08-2026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F811E15-AAE1-4DC2-8BBF-F805B231CA86}" type="slidenum">
              <a:rPr lang="en-IN" smtClean="0"/>
              <a:t>‹#›</a:t>
            </a:fld>
            <a:endParaRPr lang="en-IN"/>
          </a:p>
        </p:txBody>
      </p:sp>
    </p:spTree>
    <p:extLst>
      <p:ext uri="{BB962C8B-B14F-4D97-AF65-F5344CB8AC3E}">
        <p14:creationId xmlns:p14="http://schemas.microsoft.com/office/powerpoint/2010/main" val="42167693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00BD5AD-7A74-494A-9CEB-945174FA32CE}" type="datetimeFigureOut">
              <a:rPr lang="en-IN" smtClean="0"/>
              <a:t>07-08-2026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F811E15-AAE1-4DC2-8BBF-F805B231CA86}" type="slidenum">
              <a:rPr lang="en-IN" smtClean="0"/>
              <a:t>‹#›</a:t>
            </a:fld>
            <a:endParaRPr lang="en-IN"/>
          </a:p>
        </p:txBody>
      </p:sp>
    </p:spTree>
    <p:extLst>
      <p:ext uri="{BB962C8B-B14F-4D97-AF65-F5344CB8AC3E}">
        <p14:creationId xmlns:p14="http://schemas.microsoft.com/office/powerpoint/2010/main" val="220431973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00BD5AD-7A74-494A-9CEB-945174FA32CE}" type="datetimeFigureOut">
              <a:rPr lang="en-IN" smtClean="0"/>
              <a:t>07-08-2026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F811E15-AAE1-4DC2-8BBF-F805B231CA86}" type="slidenum">
              <a:rPr lang="en-IN" smtClean="0"/>
              <a:t>‹#›</a:t>
            </a:fld>
            <a:endParaRPr lang="en-IN"/>
          </a:p>
        </p:txBody>
      </p:sp>
    </p:spTree>
    <p:extLst>
      <p:ext uri="{BB962C8B-B14F-4D97-AF65-F5344CB8AC3E}">
        <p14:creationId xmlns:p14="http://schemas.microsoft.com/office/powerpoint/2010/main" val="420059615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00BD5AD-7A74-494A-9CEB-945174FA32CE}" type="datetimeFigureOut">
              <a:rPr lang="en-IN" smtClean="0"/>
              <a:t>07-08-2026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F811E15-AAE1-4DC2-8BBF-F805B231CA86}" type="slidenum">
              <a:rPr lang="en-IN" smtClean="0"/>
              <a:t>‹#›</a:t>
            </a:fld>
            <a:endParaRPr lang="en-IN"/>
          </a:p>
        </p:txBody>
      </p:sp>
    </p:spTree>
    <p:extLst>
      <p:ext uri="{BB962C8B-B14F-4D97-AF65-F5344CB8AC3E}">
        <p14:creationId xmlns:p14="http://schemas.microsoft.com/office/powerpoint/2010/main" val="356870769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00BD5AD-7A74-494A-9CEB-945174FA32CE}" type="datetimeFigureOut">
              <a:rPr lang="en-IN" smtClean="0"/>
              <a:t>07-08-2026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F811E15-AAE1-4DC2-8BBF-F805B231CA86}" type="slidenum">
              <a:rPr lang="en-IN" smtClean="0"/>
              <a:t>‹#›</a:t>
            </a:fld>
            <a:endParaRPr lang="en-IN"/>
          </a:p>
        </p:txBody>
      </p:sp>
    </p:spTree>
    <p:extLst>
      <p:ext uri="{BB962C8B-B14F-4D97-AF65-F5344CB8AC3E}">
        <p14:creationId xmlns:p14="http://schemas.microsoft.com/office/powerpoint/2010/main" val="25978887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00BD5AD-7A74-494A-9CEB-945174FA32CE}" type="datetimeFigureOut">
              <a:rPr lang="en-IN" smtClean="0"/>
              <a:t>07-08-2026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F811E15-AAE1-4DC2-8BBF-F805B231CA86}" type="slidenum">
              <a:rPr lang="en-IN" smtClean="0"/>
              <a:t>‹#›</a:t>
            </a:fld>
            <a:endParaRPr lang="en-IN"/>
          </a:p>
        </p:txBody>
      </p:sp>
    </p:spTree>
    <p:extLst>
      <p:ext uri="{BB962C8B-B14F-4D97-AF65-F5344CB8AC3E}">
        <p14:creationId xmlns:p14="http://schemas.microsoft.com/office/powerpoint/2010/main" val="146521208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Date Placeholder 2"/>
          <p:cNvSpPr>
            <a:spLocks noGrp="1"/>
          </p:cNvSpPr>
          <p:nvPr>
            <p:ph type="dt" sz="half" idx="10"/>
          </p:nvPr>
        </p:nvSpPr>
        <p:spPr/>
        <p:txBody>
          <a:bodyPr/>
          <a:lstStyle/>
          <a:p>
            <a:fld id="{400BD5AD-7A74-494A-9CEB-945174FA32CE}" type="datetimeFigureOut">
              <a:rPr lang="en-IN" smtClean="0"/>
              <a:t>07-08-2026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F811E15-AAE1-4DC2-8BBF-F805B231CA86}" type="slidenum">
              <a:rPr lang="en-IN" smtClean="0"/>
              <a:t>‹#›</a:t>
            </a:fld>
            <a:endParaRPr lang="en-IN"/>
          </a:p>
        </p:txBody>
      </p:sp>
    </p:spTree>
    <p:extLst>
      <p:ext uri="{BB962C8B-B14F-4D97-AF65-F5344CB8AC3E}">
        <p14:creationId xmlns:p14="http://schemas.microsoft.com/office/powerpoint/2010/main" val="401492828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00BD5AD-7A74-494A-9CEB-945174FA32CE}" type="datetimeFigureOut">
              <a:rPr lang="en-IN" smtClean="0"/>
              <a:t>07-08-2026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F811E15-AAE1-4DC2-8BBF-F805B231CA86}" type="slidenum">
              <a:rPr lang="en-IN" smtClean="0"/>
              <a:t>‹#›</a:t>
            </a:fld>
            <a:endParaRPr lang="en-IN"/>
          </a:p>
        </p:txBody>
      </p:sp>
    </p:spTree>
    <p:extLst>
      <p:ext uri="{BB962C8B-B14F-4D97-AF65-F5344CB8AC3E}">
        <p14:creationId xmlns:p14="http://schemas.microsoft.com/office/powerpoint/2010/main" val="277294011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00BD5AD-7A74-494A-9CEB-945174FA32CE}" type="datetimeFigureOut">
              <a:rPr lang="en-IN" smtClean="0"/>
              <a:t>07-08-2026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F811E15-AAE1-4DC2-8BBF-F805B231CA86}" type="slidenum">
              <a:rPr lang="en-IN" smtClean="0"/>
              <a:t>‹#›</a:t>
            </a:fld>
            <a:endParaRPr lang="en-IN"/>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393145809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00BD5AD-7A74-494A-9CEB-945174FA32CE}" type="datetimeFigureOut">
              <a:rPr lang="en-IN" smtClean="0"/>
              <a:t>07-08-2026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F811E15-AAE1-4DC2-8BBF-F805B231CA86}" type="slidenum">
              <a:rPr lang="en-IN" smtClean="0"/>
              <a:t>‹#›</a:t>
            </a:fld>
            <a:endParaRPr lang="en-IN"/>
          </a:p>
        </p:txBody>
      </p:sp>
    </p:spTree>
    <p:extLst>
      <p:ext uri="{BB962C8B-B14F-4D97-AF65-F5344CB8AC3E}">
        <p14:creationId xmlns:p14="http://schemas.microsoft.com/office/powerpoint/2010/main" val="83575343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00BD5AD-7A74-494A-9CEB-945174FA32CE}" type="datetimeFigureOut">
              <a:rPr lang="en-IN" smtClean="0"/>
              <a:t>07-08-2026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F811E15-AAE1-4DC2-8BBF-F805B231CA86}" type="slidenum">
              <a:rPr lang="en-IN" smtClean="0"/>
              <a:t>‹#›</a:t>
            </a:fld>
            <a:endParaRPr lang="en-IN"/>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376878009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00BD5AD-7A74-494A-9CEB-945174FA32CE}" type="datetimeFigureOut">
              <a:rPr lang="en-IN" smtClean="0"/>
              <a:t>07-08-2026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F811E15-AAE1-4DC2-8BBF-F805B231CA86}" type="slidenum">
              <a:rPr lang="en-IN" smtClean="0"/>
              <a:t>‹#›</a:t>
            </a:fld>
            <a:endParaRPr lang="en-IN"/>
          </a:p>
        </p:txBody>
      </p:sp>
    </p:spTree>
    <p:extLst>
      <p:ext uri="{BB962C8B-B14F-4D97-AF65-F5344CB8AC3E}">
        <p14:creationId xmlns:p14="http://schemas.microsoft.com/office/powerpoint/2010/main" val="112850202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0BD5AD-7A74-494A-9CEB-945174FA32CE}" type="datetimeFigureOut">
              <a:rPr lang="en-IN" smtClean="0"/>
              <a:t>07-08-2026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F811E15-AAE1-4DC2-8BBF-F805B231CA86}" type="slidenum">
              <a:rPr lang="en-IN" smtClean="0"/>
              <a:t>‹#›</a:t>
            </a:fld>
            <a:endParaRPr lang="en-IN"/>
          </a:p>
        </p:txBody>
      </p:sp>
    </p:spTree>
    <p:extLst>
      <p:ext uri="{BB962C8B-B14F-4D97-AF65-F5344CB8AC3E}">
        <p14:creationId xmlns:p14="http://schemas.microsoft.com/office/powerpoint/2010/main" val="324494450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0BD5AD-7A74-494A-9CEB-945174FA32CE}" type="datetimeFigureOut">
              <a:rPr lang="en-IN" smtClean="0"/>
              <a:t>07-08-2026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F811E15-AAE1-4DC2-8BBF-F805B231CA86}" type="slidenum">
              <a:rPr lang="en-IN" smtClean="0"/>
              <a:t>‹#›</a:t>
            </a:fld>
            <a:endParaRPr lang="en-IN"/>
          </a:p>
        </p:txBody>
      </p:sp>
    </p:spTree>
    <p:extLst>
      <p:ext uri="{BB962C8B-B14F-4D97-AF65-F5344CB8AC3E}">
        <p14:creationId xmlns:p14="http://schemas.microsoft.com/office/powerpoint/2010/main" val="413816709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00BD5AD-7A74-494A-9CEB-945174FA32CE}" type="datetimeFigureOut">
              <a:rPr lang="en-IN" smtClean="0"/>
              <a:t>07-08-2026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F811E15-AAE1-4DC2-8BBF-F805B231CA86}" type="slidenum">
              <a:rPr lang="en-IN" smtClean="0"/>
              <a:t>‹#›</a:t>
            </a:fld>
            <a:endParaRPr lang="en-IN"/>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5283329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0BD5AD-7A74-494A-9CEB-945174FA32CE}" type="datetimeFigureOut">
              <a:rPr lang="en-IN" smtClean="0"/>
              <a:t>07-08-2026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F811E15-AAE1-4DC2-8BBF-F805B231CA86}" type="slidenum">
              <a:rPr lang="en-IN" smtClean="0"/>
              <a:t>‹#›</a:t>
            </a:fld>
            <a:endParaRPr lang="en-IN"/>
          </a:p>
        </p:txBody>
      </p:sp>
    </p:spTree>
    <p:extLst>
      <p:ext uri="{BB962C8B-B14F-4D97-AF65-F5344CB8AC3E}">
        <p14:creationId xmlns:p14="http://schemas.microsoft.com/office/powerpoint/2010/main" val="206210638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00BD5AD-7A74-494A-9CEB-945174FA32CE}" type="datetimeFigureOut">
              <a:rPr lang="en-IN" smtClean="0"/>
              <a:t>07-08-2026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F811E15-AAE1-4DC2-8BBF-F805B231CA86}" type="slidenum">
              <a:rPr lang="en-IN" smtClean="0"/>
              <a:t>‹#›</a:t>
            </a:fld>
            <a:endParaRPr lang="en-IN"/>
          </a:p>
        </p:txBody>
      </p:sp>
    </p:spTree>
    <p:extLst>
      <p:ext uri="{BB962C8B-B14F-4D97-AF65-F5344CB8AC3E}">
        <p14:creationId xmlns:p14="http://schemas.microsoft.com/office/powerpoint/2010/main" val="340234207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00BD5AD-7A74-494A-9CEB-945174FA32CE}" type="datetimeFigureOut">
              <a:rPr lang="en-IN" smtClean="0"/>
              <a:t>07-08-2026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F811E15-AAE1-4DC2-8BBF-F805B231CA86}" type="slidenum">
              <a:rPr lang="en-IN" smtClean="0"/>
              <a:t>‹#›</a:t>
            </a:fld>
            <a:endParaRPr lang="en-IN"/>
          </a:p>
        </p:txBody>
      </p:sp>
    </p:spTree>
    <p:extLst>
      <p:ext uri="{BB962C8B-B14F-4D97-AF65-F5344CB8AC3E}">
        <p14:creationId xmlns:p14="http://schemas.microsoft.com/office/powerpoint/2010/main" val="331445686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00BD5AD-7A74-494A-9CEB-945174FA32CE}" type="datetimeFigureOut">
              <a:rPr lang="en-IN" smtClean="0"/>
              <a:t>07-08-2026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F811E15-AAE1-4DC2-8BBF-F805B231CA86}" type="slidenum">
              <a:rPr lang="en-IN" smtClean="0"/>
              <a:t>‹#›</a:t>
            </a:fld>
            <a:endParaRPr lang="en-IN"/>
          </a:p>
        </p:txBody>
      </p:sp>
    </p:spTree>
    <p:extLst>
      <p:ext uri="{BB962C8B-B14F-4D97-AF65-F5344CB8AC3E}">
        <p14:creationId xmlns:p14="http://schemas.microsoft.com/office/powerpoint/2010/main" val="19600372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00BD5AD-7A74-494A-9CEB-945174FA32CE}" type="datetimeFigureOut">
              <a:rPr lang="en-IN" smtClean="0"/>
              <a:t>07-08-2026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F811E15-AAE1-4DC2-8BBF-F805B231CA86}" type="slidenum">
              <a:rPr lang="en-IN" smtClean="0"/>
              <a:t>‹#›</a:t>
            </a:fld>
            <a:endParaRPr lang="en-IN"/>
          </a:p>
        </p:txBody>
      </p:sp>
    </p:spTree>
    <p:extLst>
      <p:ext uri="{BB962C8B-B14F-4D97-AF65-F5344CB8AC3E}">
        <p14:creationId xmlns:p14="http://schemas.microsoft.com/office/powerpoint/2010/main" val="40369006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00BD5AD-7A74-494A-9CEB-945174FA32CE}" type="datetimeFigureOut">
              <a:rPr lang="en-IN" smtClean="0"/>
              <a:t>07-08-2026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F811E15-AAE1-4DC2-8BBF-F805B231CA86}" type="slidenum">
              <a:rPr lang="en-IN" smtClean="0"/>
              <a:t>‹#›</a:t>
            </a:fld>
            <a:endParaRPr lang="en-IN"/>
          </a:p>
        </p:txBody>
      </p:sp>
    </p:spTree>
    <p:extLst>
      <p:ext uri="{BB962C8B-B14F-4D97-AF65-F5344CB8AC3E}">
        <p14:creationId xmlns:p14="http://schemas.microsoft.com/office/powerpoint/2010/main" val="369765209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00BD5AD-7A74-494A-9CEB-945174FA32CE}" type="datetimeFigureOut">
              <a:rPr lang="en-IN" smtClean="0"/>
              <a:t>07-08-2026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F811E15-AAE1-4DC2-8BBF-F805B231CA86}" type="slidenum">
              <a:rPr lang="en-IN" smtClean="0"/>
              <a:t>‹#›</a:t>
            </a:fld>
            <a:endParaRPr lang="en-IN"/>
          </a:p>
        </p:txBody>
      </p:sp>
    </p:spTree>
    <p:extLst>
      <p:ext uri="{BB962C8B-B14F-4D97-AF65-F5344CB8AC3E}">
        <p14:creationId xmlns:p14="http://schemas.microsoft.com/office/powerpoint/2010/main" val="65106317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00BD5AD-7A74-494A-9CEB-945174FA32CE}" type="datetimeFigureOut">
              <a:rPr lang="en-IN" smtClean="0"/>
              <a:t>07-08-2026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F811E15-AAE1-4DC2-8BBF-F805B231CA86}" type="slidenum">
              <a:rPr lang="en-IN" smtClean="0"/>
              <a:t>‹#›</a:t>
            </a:fld>
            <a:endParaRPr lang="en-IN"/>
          </a:p>
        </p:txBody>
      </p:sp>
    </p:spTree>
    <p:extLst>
      <p:ext uri="{BB962C8B-B14F-4D97-AF65-F5344CB8AC3E}">
        <p14:creationId xmlns:p14="http://schemas.microsoft.com/office/powerpoint/2010/main" val="236212830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Date Placeholder 2"/>
          <p:cNvSpPr>
            <a:spLocks noGrp="1"/>
          </p:cNvSpPr>
          <p:nvPr>
            <p:ph type="dt" sz="half" idx="10"/>
          </p:nvPr>
        </p:nvSpPr>
        <p:spPr/>
        <p:txBody>
          <a:bodyPr/>
          <a:lstStyle/>
          <a:p>
            <a:fld id="{400BD5AD-7A74-494A-9CEB-945174FA32CE}" type="datetimeFigureOut">
              <a:rPr lang="en-IN" smtClean="0"/>
              <a:t>07-08-2026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F811E15-AAE1-4DC2-8BBF-F805B231CA86}" type="slidenum">
              <a:rPr lang="en-IN" smtClean="0"/>
              <a:t>‹#›</a:t>
            </a:fld>
            <a:endParaRPr lang="en-IN"/>
          </a:p>
        </p:txBody>
      </p:sp>
    </p:spTree>
    <p:extLst>
      <p:ext uri="{BB962C8B-B14F-4D97-AF65-F5344CB8AC3E}">
        <p14:creationId xmlns:p14="http://schemas.microsoft.com/office/powerpoint/2010/main" val="171063750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00BD5AD-7A74-494A-9CEB-945174FA32CE}" type="datetimeFigureOut">
              <a:rPr lang="en-IN" smtClean="0"/>
              <a:t>07-08-2026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F811E15-AAE1-4DC2-8BBF-F805B231CA86}" type="slidenum">
              <a:rPr lang="en-IN" smtClean="0"/>
              <a:t>‹#›</a:t>
            </a:fld>
            <a:endParaRPr lang="en-IN"/>
          </a:p>
        </p:txBody>
      </p:sp>
    </p:spTree>
    <p:extLst>
      <p:ext uri="{BB962C8B-B14F-4D97-AF65-F5344CB8AC3E}">
        <p14:creationId xmlns:p14="http://schemas.microsoft.com/office/powerpoint/2010/main" val="419332191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00BD5AD-7A74-494A-9CEB-945174FA32CE}" type="datetimeFigureOut">
              <a:rPr lang="en-IN" smtClean="0"/>
              <a:t>07-08-2026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F811E15-AAE1-4DC2-8BBF-F805B231CA86}" type="slidenum">
              <a:rPr lang="en-IN" smtClean="0"/>
              <a:t>‹#›</a:t>
            </a:fld>
            <a:endParaRPr lang="en-IN"/>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271572477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00BD5AD-7A74-494A-9CEB-945174FA32CE}" type="datetimeFigureOut">
              <a:rPr lang="en-IN" smtClean="0"/>
              <a:t>07-08-2026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F811E15-AAE1-4DC2-8BBF-F805B231CA86}" type="slidenum">
              <a:rPr lang="en-IN" smtClean="0"/>
              <a:t>‹#›</a:t>
            </a:fld>
            <a:endParaRPr lang="en-IN"/>
          </a:p>
        </p:txBody>
      </p:sp>
    </p:spTree>
    <p:extLst>
      <p:ext uri="{BB962C8B-B14F-4D97-AF65-F5344CB8AC3E}">
        <p14:creationId xmlns:p14="http://schemas.microsoft.com/office/powerpoint/2010/main" val="148150166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00BD5AD-7A74-494A-9CEB-945174FA32CE}" type="datetimeFigureOut">
              <a:rPr lang="en-IN" smtClean="0"/>
              <a:t>07-08-2026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F811E15-AAE1-4DC2-8BBF-F805B231CA86}" type="slidenum">
              <a:rPr lang="en-IN" smtClean="0"/>
              <a:t>‹#›</a:t>
            </a:fld>
            <a:endParaRPr lang="en-IN"/>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299902489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00BD5AD-7A74-494A-9CEB-945174FA32CE}" type="datetimeFigureOut">
              <a:rPr lang="en-IN" smtClean="0"/>
              <a:t>07-08-2026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F811E15-AAE1-4DC2-8BBF-F805B231CA86}" type="slidenum">
              <a:rPr lang="en-IN" smtClean="0"/>
              <a:t>‹#›</a:t>
            </a:fld>
            <a:endParaRPr lang="en-IN"/>
          </a:p>
        </p:txBody>
      </p:sp>
    </p:spTree>
    <p:extLst>
      <p:ext uri="{BB962C8B-B14F-4D97-AF65-F5344CB8AC3E}">
        <p14:creationId xmlns:p14="http://schemas.microsoft.com/office/powerpoint/2010/main" val="106897123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0BD5AD-7A74-494A-9CEB-945174FA32CE}" type="datetimeFigureOut">
              <a:rPr lang="en-IN" smtClean="0"/>
              <a:t>07-08-2026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F811E15-AAE1-4DC2-8BBF-F805B231CA86}" type="slidenum">
              <a:rPr lang="en-IN" smtClean="0"/>
              <a:t>‹#›</a:t>
            </a:fld>
            <a:endParaRPr lang="en-IN"/>
          </a:p>
        </p:txBody>
      </p:sp>
    </p:spTree>
    <p:extLst>
      <p:ext uri="{BB962C8B-B14F-4D97-AF65-F5344CB8AC3E}">
        <p14:creationId xmlns:p14="http://schemas.microsoft.com/office/powerpoint/2010/main" val="58297873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0BD5AD-7A74-494A-9CEB-945174FA32CE}" type="datetimeFigureOut">
              <a:rPr lang="en-IN" smtClean="0"/>
              <a:t>07-08-2026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F811E15-AAE1-4DC2-8BBF-F805B231CA86}" type="slidenum">
              <a:rPr lang="en-IN" smtClean="0"/>
              <a:t>‹#›</a:t>
            </a:fld>
            <a:endParaRPr lang="en-IN"/>
          </a:p>
        </p:txBody>
      </p:sp>
    </p:spTree>
    <p:extLst>
      <p:ext uri="{BB962C8B-B14F-4D97-AF65-F5344CB8AC3E}">
        <p14:creationId xmlns:p14="http://schemas.microsoft.com/office/powerpoint/2010/main" val="331816974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00BD5AD-7A74-494A-9CEB-945174FA32CE}" type="datetimeFigureOut">
              <a:rPr lang="en-IN" smtClean="0"/>
              <a:t>07-08-2026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F811E15-AAE1-4DC2-8BBF-F805B231CA86}" type="slidenum">
              <a:rPr lang="en-IN" smtClean="0"/>
              <a:t>‹#›</a:t>
            </a:fld>
            <a:endParaRPr lang="en-IN"/>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6568310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0BD5AD-7A74-494A-9CEB-945174FA32CE}" type="datetimeFigureOut">
              <a:rPr lang="en-IN" smtClean="0"/>
              <a:t>07-08-2026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F811E15-AAE1-4DC2-8BBF-F805B231CA86}" type="slidenum">
              <a:rPr lang="en-IN" smtClean="0"/>
              <a:t>‹#›</a:t>
            </a:fld>
            <a:endParaRPr lang="en-IN"/>
          </a:p>
        </p:txBody>
      </p:sp>
    </p:spTree>
    <p:extLst>
      <p:ext uri="{BB962C8B-B14F-4D97-AF65-F5344CB8AC3E}">
        <p14:creationId xmlns:p14="http://schemas.microsoft.com/office/powerpoint/2010/main" val="161936876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00BD5AD-7A74-494A-9CEB-945174FA32CE}" type="datetimeFigureOut">
              <a:rPr lang="en-IN" smtClean="0"/>
              <a:t>07-08-2026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F811E15-AAE1-4DC2-8BBF-F805B231CA86}" type="slidenum">
              <a:rPr lang="en-IN" smtClean="0"/>
              <a:t>‹#›</a:t>
            </a:fld>
            <a:endParaRPr lang="en-IN"/>
          </a:p>
        </p:txBody>
      </p:sp>
    </p:spTree>
    <p:extLst>
      <p:ext uri="{BB962C8B-B14F-4D97-AF65-F5344CB8AC3E}">
        <p14:creationId xmlns:p14="http://schemas.microsoft.com/office/powerpoint/2010/main" val="126786866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00BD5AD-7A74-494A-9CEB-945174FA32CE}" type="datetimeFigureOut">
              <a:rPr lang="en-IN" smtClean="0"/>
              <a:t>07-08-2026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F811E15-AAE1-4DC2-8BBF-F805B231CA86}" type="slidenum">
              <a:rPr lang="en-IN" smtClean="0"/>
              <a:t>‹#›</a:t>
            </a:fld>
            <a:endParaRPr lang="en-IN"/>
          </a:p>
        </p:txBody>
      </p:sp>
    </p:spTree>
    <p:extLst>
      <p:ext uri="{BB962C8B-B14F-4D97-AF65-F5344CB8AC3E}">
        <p14:creationId xmlns:p14="http://schemas.microsoft.com/office/powerpoint/2010/main" val="125600187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00BD5AD-7A74-494A-9CEB-945174FA32CE}" type="datetimeFigureOut">
              <a:rPr lang="en-IN" smtClean="0"/>
              <a:t>07-08-2026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F811E15-AAE1-4DC2-8BBF-F805B231CA86}" type="slidenum">
              <a:rPr lang="en-IN" smtClean="0"/>
              <a:t>‹#›</a:t>
            </a:fld>
            <a:endParaRPr lang="en-IN"/>
          </a:p>
        </p:txBody>
      </p:sp>
    </p:spTree>
    <p:extLst>
      <p:ext uri="{BB962C8B-B14F-4D97-AF65-F5344CB8AC3E}">
        <p14:creationId xmlns:p14="http://schemas.microsoft.com/office/powerpoint/2010/main" val="224613522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00BD5AD-7A74-494A-9CEB-945174FA32CE}" type="datetimeFigureOut">
              <a:rPr lang="en-IN" smtClean="0"/>
              <a:t>07-08-2026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F811E15-AAE1-4DC2-8BBF-F805B231CA86}" type="slidenum">
              <a:rPr lang="en-IN" smtClean="0"/>
              <a:t>‹#›</a:t>
            </a:fld>
            <a:endParaRPr lang="en-IN"/>
          </a:p>
        </p:txBody>
      </p:sp>
    </p:spTree>
    <p:extLst>
      <p:ext uri="{BB962C8B-B14F-4D97-AF65-F5344CB8AC3E}">
        <p14:creationId xmlns:p14="http://schemas.microsoft.com/office/powerpoint/2010/main" val="74810115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00BD5AD-7A74-494A-9CEB-945174FA32CE}" type="datetimeFigureOut">
              <a:rPr lang="en-IN" smtClean="0"/>
              <a:t>07-08-2026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F811E15-AAE1-4DC2-8BBF-F805B231CA86}" type="slidenum">
              <a:rPr lang="en-IN" smtClean="0"/>
              <a:t>‹#›</a:t>
            </a:fld>
            <a:endParaRPr lang="en-IN"/>
          </a:p>
        </p:txBody>
      </p:sp>
    </p:spTree>
    <p:extLst>
      <p:ext uri="{BB962C8B-B14F-4D97-AF65-F5344CB8AC3E}">
        <p14:creationId xmlns:p14="http://schemas.microsoft.com/office/powerpoint/2010/main" val="40742327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00BD5AD-7A74-494A-9CEB-945174FA32CE}" type="datetimeFigureOut">
              <a:rPr lang="en-IN" smtClean="0"/>
              <a:t>07-08-2026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F811E15-AAE1-4DC2-8BBF-F805B231CA86}" type="slidenum">
              <a:rPr lang="en-IN" smtClean="0"/>
              <a:t>‹#›</a:t>
            </a:fld>
            <a:endParaRPr lang="en-IN"/>
          </a:p>
        </p:txBody>
      </p:sp>
    </p:spTree>
    <p:extLst>
      <p:ext uri="{BB962C8B-B14F-4D97-AF65-F5344CB8AC3E}">
        <p14:creationId xmlns:p14="http://schemas.microsoft.com/office/powerpoint/2010/main" val="80801038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00BD5AD-7A74-494A-9CEB-945174FA32CE}" type="datetimeFigureOut">
              <a:rPr lang="en-IN" smtClean="0"/>
              <a:t>07-08-2026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F811E15-AAE1-4DC2-8BBF-F805B231CA86}" type="slidenum">
              <a:rPr lang="en-IN" smtClean="0"/>
              <a:t>‹#›</a:t>
            </a:fld>
            <a:endParaRPr lang="en-IN"/>
          </a:p>
        </p:txBody>
      </p:sp>
    </p:spTree>
    <p:extLst>
      <p:ext uri="{BB962C8B-B14F-4D97-AF65-F5344CB8AC3E}">
        <p14:creationId xmlns:p14="http://schemas.microsoft.com/office/powerpoint/2010/main" val="110015218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Date Placeholder 2"/>
          <p:cNvSpPr>
            <a:spLocks noGrp="1"/>
          </p:cNvSpPr>
          <p:nvPr>
            <p:ph type="dt" sz="half" idx="10"/>
          </p:nvPr>
        </p:nvSpPr>
        <p:spPr/>
        <p:txBody>
          <a:bodyPr/>
          <a:lstStyle/>
          <a:p>
            <a:fld id="{400BD5AD-7A74-494A-9CEB-945174FA32CE}" type="datetimeFigureOut">
              <a:rPr lang="en-IN" smtClean="0"/>
              <a:t>07-08-2026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F811E15-AAE1-4DC2-8BBF-F805B231CA86}" type="slidenum">
              <a:rPr lang="en-IN" smtClean="0"/>
              <a:t>‹#›</a:t>
            </a:fld>
            <a:endParaRPr lang="en-IN"/>
          </a:p>
        </p:txBody>
      </p:sp>
    </p:spTree>
    <p:extLst>
      <p:ext uri="{BB962C8B-B14F-4D97-AF65-F5344CB8AC3E}">
        <p14:creationId xmlns:p14="http://schemas.microsoft.com/office/powerpoint/2010/main" val="282377288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00BD5AD-7A74-494A-9CEB-945174FA32CE}" type="datetimeFigureOut">
              <a:rPr lang="en-IN" smtClean="0"/>
              <a:t>07-08-2026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F811E15-AAE1-4DC2-8BBF-F805B231CA86}" type="slidenum">
              <a:rPr lang="en-IN" smtClean="0"/>
              <a:t>‹#›</a:t>
            </a:fld>
            <a:endParaRPr lang="en-IN"/>
          </a:p>
        </p:txBody>
      </p:sp>
    </p:spTree>
    <p:extLst>
      <p:ext uri="{BB962C8B-B14F-4D97-AF65-F5344CB8AC3E}">
        <p14:creationId xmlns:p14="http://schemas.microsoft.com/office/powerpoint/2010/main" val="323431243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00BD5AD-7A74-494A-9CEB-945174FA32CE}" type="datetimeFigureOut">
              <a:rPr lang="en-IN" smtClean="0"/>
              <a:t>07-08-2026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F811E15-AAE1-4DC2-8BBF-F805B231CA86}" type="slidenum">
              <a:rPr lang="en-IN" smtClean="0"/>
              <a:t>‹#›</a:t>
            </a:fld>
            <a:endParaRPr lang="en-IN"/>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1553190111"/>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00BD5AD-7A74-494A-9CEB-945174FA32CE}" type="datetimeFigureOut">
              <a:rPr lang="en-IN" smtClean="0"/>
              <a:t>07-08-2026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F811E15-AAE1-4DC2-8BBF-F805B231CA86}" type="slidenum">
              <a:rPr lang="en-IN" smtClean="0"/>
              <a:t>‹#›</a:t>
            </a:fld>
            <a:endParaRPr lang="en-IN"/>
          </a:p>
        </p:txBody>
      </p:sp>
    </p:spTree>
    <p:extLst>
      <p:ext uri="{BB962C8B-B14F-4D97-AF65-F5344CB8AC3E}">
        <p14:creationId xmlns:p14="http://schemas.microsoft.com/office/powerpoint/2010/main" val="173783572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00BD5AD-7A74-494A-9CEB-945174FA32CE}" type="datetimeFigureOut">
              <a:rPr lang="en-IN" smtClean="0"/>
              <a:t>07-08-2026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F811E15-AAE1-4DC2-8BBF-F805B231CA86}" type="slidenum">
              <a:rPr lang="en-IN" smtClean="0"/>
              <a:t>‹#›</a:t>
            </a:fld>
            <a:endParaRPr lang="en-IN"/>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2942158417"/>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00BD5AD-7A74-494A-9CEB-945174FA32CE}" type="datetimeFigureOut">
              <a:rPr lang="en-IN" smtClean="0"/>
              <a:t>07-08-2026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F811E15-AAE1-4DC2-8BBF-F805B231CA86}" type="slidenum">
              <a:rPr lang="en-IN" smtClean="0"/>
              <a:t>‹#›</a:t>
            </a:fld>
            <a:endParaRPr lang="en-IN"/>
          </a:p>
        </p:txBody>
      </p:sp>
    </p:spTree>
    <p:extLst>
      <p:ext uri="{BB962C8B-B14F-4D97-AF65-F5344CB8AC3E}">
        <p14:creationId xmlns:p14="http://schemas.microsoft.com/office/powerpoint/2010/main" val="160609720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0BD5AD-7A74-494A-9CEB-945174FA32CE}" type="datetimeFigureOut">
              <a:rPr lang="en-IN" smtClean="0"/>
              <a:t>07-08-2026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F811E15-AAE1-4DC2-8BBF-F805B231CA86}" type="slidenum">
              <a:rPr lang="en-IN" smtClean="0"/>
              <a:t>‹#›</a:t>
            </a:fld>
            <a:endParaRPr lang="en-IN"/>
          </a:p>
        </p:txBody>
      </p:sp>
    </p:spTree>
    <p:extLst>
      <p:ext uri="{BB962C8B-B14F-4D97-AF65-F5344CB8AC3E}">
        <p14:creationId xmlns:p14="http://schemas.microsoft.com/office/powerpoint/2010/main" val="340810801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0BD5AD-7A74-494A-9CEB-945174FA32CE}" type="datetimeFigureOut">
              <a:rPr lang="en-IN" smtClean="0"/>
              <a:t>07-08-2026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F811E15-AAE1-4DC2-8BBF-F805B231CA86}" type="slidenum">
              <a:rPr lang="en-IN" smtClean="0"/>
              <a:t>‹#›</a:t>
            </a:fld>
            <a:endParaRPr lang="en-IN"/>
          </a:p>
        </p:txBody>
      </p:sp>
    </p:spTree>
    <p:extLst>
      <p:ext uri="{BB962C8B-B14F-4D97-AF65-F5344CB8AC3E}">
        <p14:creationId xmlns:p14="http://schemas.microsoft.com/office/powerpoint/2010/main" val="2989729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6.xml"/><Relationship Id="rId13" Type="http://schemas.openxmlformats.org/officeDocument/2006/relationships/slideLayout" Target="../slideLayouts/slideLayout41.xml"/><Relationship Id="rId18" Type="http://schemas.openxmlformats.org/officeDocument/2006/relationships/theme" Target="../theme/theme3.xml"/><Relationship Id="rId3" Type="http://schemas.openxmlformats.org/officeDocument/2006/relationships/slideLayout" Target="../slideLayouts/slideLayout31.xml"/><Relationship Id="rId7" Type="http://schemas.openxmlformats.org/officeDocument/2006/relationships/slideLayout" Target="../slideLayouts/slideLayout35.xml"/><Relationship Id="rId12" Type="http://schemas.openxmlformats.org/officeDocument/2006/relationships/slideLayout" Target="../slideLayouts/slideLayout40.xml"/><Relationship Id="rId17" Type="http://schemas.openxmlformats.org/officeDocument/2006/relationships/slideLayout" Target="../slideLayouts/slideLayout45.xml"/><Relationship Id="rId2" Type="http://schemas.openxmlformats.org/officeDocument/2006/relationships/slideLayout" Target="../slideLayouts/slideLayout30.xml"/><Relationship Id="rId16" Type="http://schemas.openxmlformats.org/officeDocument/2006/relationships/slideLayout" Target="../slideLayouts/slideLayout44.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5" Type="http://schemas.openxmlformats.org/officeDocument/2006/relationships/slideLayout" Target="../slideLayouts/slideLayout33.xml"/><Relationship Id="rId15" Type="http://schemas.openxmlformats.org/officeDocument/2006/relationships/slideLayout" Target="../slideLayouts/slideLayout43.xml"/><Relationship Id="rId10" Type="http://schemas.openxmlformats.org/officeDocument/2006/relationships/slideLayout" Target="../slideLayouts/slideLayout38.xml"/><Relationship Id="rId4" Type="http://schemas.openxmlformats.org/officeDocument/2006/relationships/slideLayout" Target="../slideLayouts/slideLayout32.xml"/><Relationship Id="rId9" Type="http://schemas.openxmlformats.org/officeDocument/2006/relationships/slideLayout" Target="../slideLayouts/slideLayout37.xml"/><Relationship Id="rId14" Type="http://schemas.openxmlformats.org/officeDocument/2006/relationships/slideLayout" Target="../slideLayouts/slideLayout4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3.xml"/><Relationship Id="rId13" Type="http://schemas.openxmlformats.org/officeDocument/2006/relationships/slideLayout" Target="../slideLayouts/slideLayout58.xml"/><Relationship Id="rId18" Type="http://schemas.openxmlformats.org/officeDocument/2006/relationships/theme" Target="../theme/theme4.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slideLayout" Target="../slideLayouts/slideLayout57.xml"/><Relationship Id="rId17" Type="http://schemas.openxmlformats.org/officeDocument/2006/relationships/slideLayout" Target="../slideLayouts/slideLayout62.xml"/><Relationship Id="rId2" Type="http://schemas.openxmlformats.org/officeDocument/2006/relationships/slideLayout" Target="../slideLayouts/slideLayout47.xml"/><Relationship Id="rId16" Type="http://schemas.openxmlformats.org/officeDocument/2006/relationships/slideLayout" Target="../slideLayouts/slideLayout61.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5" Type="http://schemas.openxmlformats.org/officeDocument/2006/relationships/slideLayout" Target="../slideLayouts/slideLayout60.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 Id="rId14" Type="http://schemas.openxmlformats.org/officeDocument/2006/relationships/slideLayout" Target="../slideLayouts/slideLayout5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CA9A12D-3FE3-4E61-98F1-24F566E792B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025DF68-A976-4EFE-8CCB-76C111D11E8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6784FDF-CEFB-4CAC-AD08-8CC38F1CB36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00BD5AD-7A74-494A-9CEB-945174FA32CE}" type="datetimeFigureOut">
              <a:rPr lang="en-IN" smtClean="0"/>
              <a:t>07-08-2026</a:t>
            </a:fld>
            <a:endParaRPr lang="en-IN"/>
          </a:p>
        </p:txBody>
      </p:sp>
      <p:sp>
        <p:nvSpPr>
          <p:cNvPr id="5" name="Footer Placeholder 4">
            <a:extLst>
              <a:ext uri="{FF2B5EF4-FFF2-40B4-BE49-F238E27FC236}">
                <a16:creationId xmlns:a16="http://schemas.microsoft.com/office/drawing/2014/main" id="{3F253039-BA4F-49CA-A07B-E7021C6D83A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3291294-8443-433C-9100-C8274CFD3F8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F811E15-AAE1-4DC2-8BBF-F805B231CA86}" type="slidenum">
              <a:rPr lang="en-IN" smtClean="0"/>
              <a:t>‹#›</a:t>
            </a:fld>
            <a:endParaRPr lang="en-IN"/>
          </a:p>
        </p:txBody>
      </p:sp>
    </p:spTree>
    <p:extLst>
      <p:ext uri="{BB962C8B-B14F-4D97-AF65-F5344CB8AC3E}">
        <p14:creationId xmlns:p14="http://schemas.microsoft.com/office/powerpoint/2010/main" val="837756419"/>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400BD5AD-7A74-494A-9CEB-945174FA32CE}" type="datetimeFigureOut">
              <a:rPr lang="en-IN" smtClean="0"/>
              <a:t>07-08-2026</a:t>
            </a:fld>
            <a:endParaRPr lang="en-IN"/>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IN"/>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2F811E15-AAE1-4DC2-8BBF-F805B231CA86}" type="slidenum">
              <a:rPr lang="en-IN" smtClean="0"/>
              <a:t>‹#›</a:t>
            </a:fld>
            <a:endParaRPr lang="en-IN"/>
          </a:p>
        </p:txBody>
      </p:sp>
    </p:spTree>
    <p:extLst>
      <p:ext uri="{BB962C8B-B14F-4D97-AF65-F5344CB8AC3E}">
        <p14:creationId xmlns:p14="http://schemas.microsoft.com/office/powerpoint/2010/main" val="1786203130"/>
      </p:ext>
    </p:extLst>
  </p:cSld>
  <p:clrMap bg1="dk1" tx1="lt1" bg2="dk2" tx2="lt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0" r:id="rId12"/>
    <p:sldLayoutId id="2147483721" r:id="rId13"/>
    <p:sldLayoutId id="2147483722" r:id="rId14"/>
    <p:sldLayoutId id="2147483723" r:id="rId15"/>
    <p:sldLayoutId id="2147483724" r:id="rId16"/>
    <p:sldLayoutId id="2147483725"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400BD5AD-7A74-494A-9CEB-945174FA32CE}" type="datetimeFigureOut">
              <a:rPr lang="en-IN" smtClean="0"/>
              <a:t>07-08-2026</a:t>
            </a:fld>
            <a:endParaRPr lang="en-IN"/>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IN"/>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2F811E15-AAE1-4DC2-8BBF-F805B231CA86}" type="slidenum">
              <a:rPr lang="en-IN" smtClean="0"/>
              <a:t>‹#›</a:t>
            </a:fld>
            <a:endParaRPr lang="en-IN"/>
          </a:p>
        </p:txBody>
      </p:sp>
    </p:spTree>
    <p:extLst>
      <p:ext uri="{BB962C8B-B14F-4D97-AF65-F5344CB8AC3E}">
        <p14:creationId xmlns:p14="http://schemas.microsoft.com/office/powerpoint/2010/main" val="1669826089"/>
      </p:ext>
    </p:extLst>
  </p:cSld>
  <p:clrMap bg1="dk1" tx1="lt1" bg2="dk2" tx2="lt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 id="2147483738" r:id="rId12"/>
    <p:sldLayoutId id="2147483739" r:id="rId13"/>
    <p:sldLayoutId id="2147483740" r:id="rId14"/>
    <p:sldLayoutId id="2147483741" r:id="rId15"/>
    <p:sldLayoutId id="2147483742" r:id="rId16"/>
    <p:sldLayoutId id="2147483743"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400BD5AD-7A74-494A-9CEB-945174FA32CE}" type="datetimeFigureOut">
              <a:rPr lang="en-IN" smtClean="0"/>
              <a:t>07-08-2026</a:t>
            </a:fld>
            <a:endParaRPr lang="en-IN"/>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IN"/>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2F811E15-AAE1-4DC2-8BBF-F805B231CA86}" type="slidenum">
              <a:rPr lang="en-IN" smtClean="0"/>
              <a:t>‹#›</a:t>
            </a:fld>
            <a:endParaRPr lang="en-IN"/>
          </a:p>
        </p:txBody>
      </p:sp>
    </p:spTree>
    <p:extLst>
      <p:ext uri="{BB962C8B-B14F-4D97-AF65-F5344CB8AC3E}">
        <p14:creationId xmlns:p14="http://schemas.microsoft.com/office/powerpoint/2010/main" val="3060049901"/>
      </p:ext>
    </p:extLst>
  </p:cSld>
  <p:clrMap bg1="dk1" tx1="lt1" bg2="dk2" tx2="lt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756" r:id="rId12"/>
    <p:sldLayoutId id="2147483757" r:id="rId13"/>
    <p:sldLayoutId id="2147483758" r:id="rId14"/>
    <p:sldLayoutId id="2147483759" r:id="rId15"/>
    <p:sldLayoutId id="2147483760" r:id="rId16"/>
    <p:sldLayoutId id="2147483761"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0.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7.xml"/></Relationships>
</file>

<file path=ppt/slides/_rels/slide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7.xml"/></Relationships>
</file>

<file path=ppt/slides/_rels/slide3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3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7.xml"/></Relationships>
</file>

<file path=ppt/slides/_rels/slide3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4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E8B051D-71CE-41A5-B8FB-13EC6D44044D}"/>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0" name="Freeform: Shape 9">
            <a:extLst>
              <a:ext uri="{FF2B5EF4-FFF2-40B4-BE49-F238E27FC236}">
                <a16:creationId xmlns:a16="http://schemas.microsoft.com/office/drawing/2014/main" id="{A8161A6E-D49E-4CC3-9B90-BD89D089DF81}"/>
              </a:ext>
            </a:extLst>
          </p:cNvPr>
          <p:cNvSpPr/>
          <p:nvPr/>
        </p:nvSpPr>
        <p:spPr>
          <a:xfrm>
            <a:off x="6324600" y="-18661"/>
            <a:ext cx="5867400" cy="6858001"/>
          </a:xfrm>
          <a:custGeom>
            <a:avLst/>
            <a:gdLst/>
            <a:ahLst/>
            <a:cxnLst/>
            <a:rect l="l" t="t" r="r" b="b"/>
            <a:pathLst>
              <a:path w="5733985" h="6858001">
                <a:moveTo>
                  <a:pt x="1056457" y="2041424"/>
                </a:moveTo>
                <a:cubicBezTo>
                  <a:pt x="1043062" y="2045889"/>
                  <a:pt x="1021854" y="2051222"/>
                  <a:pt x="992833" y="2057423"/>
                </a:cubicBezTo>
                <a:cubicBezTo>
                  <a:pt x="963811" y="2063624"/>
                  <a:pt x="944836" y="2069702"/>
                  <a:pt x="935906" y="2075655"/>
                </a:cubicBezTo>
                <a:cubicBezTo>
                  <a:pt x="922264" y="2085329"/>
                  <a:pt x="915442" y="2097607"/>
                  <a:pt x="915442" y="2112490"/>
                </a:cubicBezTo>
                <a:cubicBezTo>
                  <a:pt x="915442" y="2127125"/>
                  <a:pt x="920899" y="2139775"/>
                  <a:pt x="931813" y="2150441"/>
                </a:cubicBezTo>
                <a:cubicBezTo>
                  <a:pt x="942727" y="2161107"/>
                  <a:pt x="956618" y="2166440"/>
                  <a:pt x="973485" y="2166440"/>
                </a:cubicBezTo>
                <a:cubicBezTo>
                  <a:pt x="992337" y="2166440"/>
                  <a:pt x="1010320" y="2160239"/>
                  <a:pt x="1027435" y="2147836"/>
                </a:cubicBezTo>
                <a:cubicBezTo>
                  <a:pt x="1040086" y="2138411"/>
                  <a:pt x="1048395" y="2126876"/>
                  <a:pt x="1052364" y="2113234"/>
                </a:cubicBezTo>
                <a:cubicBezTo>
                  <a:pt x="1055093" y="2104304"/>
                  <a:pt x="1056457" y="2087313"/>
                  <a:pt x="1056457" y="2062260"/>
                </a:cubicBezTo>
                <a:close/>
                <a:moveTo>
                  <a:pt x="4357762" y="1907107"/>
                </a:moveTo>
                <a:cubicBezTo>
                  <a:pt x="4379094" y="1907107"/>
                  <a:pt x="4397202" y="1914982"/>
                  <a:pt x="4412084" y="1930733"/>
                </a:cubicBezTo>
                <a:cubicBezTo>
                  <a:pt x="4426967" y="1946484"/>
                  <a:pt x="4434780" y="1969491"/>
                  <a:pt x="4435524" y="1999752"/>
                </a:cubicBezTo>
                <a:lnTo>
                  <a:pt x="4279255" y="1999752"/>
                </a:lnTo>
                <a:cubicBezTo>
                  <a:pt x="4279007" y="1971227"/>
                  <a:pt x="4286324" y="1948655"/>
                  <a:pt x="4301207" y="1932036"/>
                </a:cubicBezTo>
                <a:cubicBezTo>
                  <a:pt x="4316090" y="1915416"/>
                  <a:pt x="4334942" y="1907107"/>
                  <a:pt x="4357762" y="1907107"/>
                </a:cubicBezTo>
                <a:close/>
                <a:moveTo>
                  <a:pt x="3109987" y="1907107"/>
                </a:moveTo>
                <a:cubicBezTo>
                  <a:pt x="3131320" y="1907107"/>
                  <a:pt x="3149426" y="1914982"/>
                  <a:pt x="3164309" y="1930733"/>
                </a:cubicBezTo>
                <a:cubicBezTo>
                  <a:pt x="3179192" y="1946484"/>
                  <a:pt x="3187006" y="1969491"/>
                  <a:pt x="3187750" y="1999752"/>
                </a:cubicBezTo>
                <a:lnTo>
                  <a:pt x="3031480" y="1999752"/>
                </a:lnTo>
                <a:cubicBezTo>
                  <a:pt x="3031232" y="1971227"/>
                  <a:pt x="3038550" y="1948655"/>
                  <a:pt x="3053432" y="1932036"/>
                </a:cubicBezTo>
                <a:cubicBezTo>
                  <a:pt x="3068315" y="1915416"/>
                  <a:pt x="3087166" y="1907107"/>
                  <a:pt x="3109987" y="1907107"/>
                </a:cubicBezTo>
                <a:close/>
                <a:moveTo>
                  <a:pt x="1900312" y="1907107"/>
                </a:moveTo>
                <a:cubicBezTo>
                  <a:pt x="1877492" y="1907107"/>
                  <a:pt x="1858640" y="1915416"/>
                  <a:pt x="1843758" y="1932036"/>
                </a:cubicBezTo>
                <a:cubicBezTo>
                  <a:pt x="1828875" y="1948655"/>
                  <a:pt x="1821557" y="1971227"/>
                  <a:pt x="1821805" y="1999752"/>
                </a:cubicBezTo>
                <a:lnTo>
                  <a:pt x="1978075" y="1999752"/>
                </a:lnTo>
                <a:cubicBezTo>
                  <a:pt x="1977331" y="1969491"/>
                  <a:pt x="1969517" y="1946484"/>
                  <a:pt x="1954634" y="1930733"/>
                </a:cubicBezTo>
                <a:cubicBezTo>
                  <a:pt x="1939752" y="1914982"/>
                  <a:pt x="1921644" y="1907107"/>
                  <a:pt x="1900312" y="1907107"/>
                </a:cubicBezTo>
                <a:close/>
                <a:moveTo>
                  <a:pt x="1245022" y="1836041"/>
                </a:moveTo>
                <a:lnTo>
                  <a:pt x="1354783" y="1836041"/>
                </a:lnTo>
                <a:lnTo>
                  <a:pt x="1429197" y="2037704"/>
                </a:lnTo>
                <a:lnTo>
                  <a:pt x="1450777" y="2105048"/>
                </a:lnTo>
                <a:cubicBezTo>
                  <a:pt x="1456482" y="2087933"/>
                  <a:pt x="1460079" y="2076647"/>
                  <a:pt x="1461567" y="2071190"/>
                </a:cubicBezTo>
                <a:cubicBezTo>
                  <a:pt x="1465039" y="2060028"/>
                  <a:pt x="1468760" y="2048866"/>
                  <a:pt x="1472729" y="2037704"/>
                </a:cubicBezTo>
                <a:lnTo>
                  <a:pt x="1547887" y="1836041"/>
                </a:lnTo>
                <a:lnTo>
                  <a:pt x="1655416" y="1836041"/>
                </a:lnTo>
                <a:lnTo>
                  <a:pt x="1498402" y="2231180"/>
                </a:lnTo>
                <a:lnTo>
                  <a:pt x="1404268" y="2231180"/>
                </a:lnTo>
                <a:close/>
                <a:moveTo>
                  <a:pt x="4351436" y="1827112"/>
                </a:moveTo>
                <a:cubicBezTo>
                  <a:pt x="4299098" y="1827112"/>
                  <a:pt x="4255814" y="1845653"/>
                  <a:pt x="4221584" y="1882736"/>
                </a:cubicBezTo>
                <a:cubicBezTo>
                  <a:pt x="4187354" y="1919819"/>
                  <a:pt x="4170238" y="1971103"/>
                  <a:pt x="4170238" y="2036587"/>
                </a:cubicBezTo>
                <a:cubicBezTo>
                  <a:pt x="4170238" y="2091406"/>
                  <a:pt x="4183261" y="2136798"/>
                  <a:pt x="4209306" y="2172765"/>
                </a:cubicBezTo>
                <a:cubicBezTo>
                  <a:pt x="4242296" y="2217662"/>
                  <a:pt x="4293146" y="2240110"/>
                  <a:pt x="4361854" y="2240110"/>
                </a:cubicBezTo>
                <a:cubicBezTo>
                  <a:pt x="4405263" y="2240110"/>
                  <a:pt x="4441416" y="2230126"/>
                  <a:pt x="4470313" y="2210158"/>
                </a:cubicBezTo>
                <a:cubicBezTo>
                  <a:pt x="4499211" y="2190190"/>
                  <a:pt x="4520356" y="2161107"/>
                  <a:pt x="4533751" y="2122908"/>
                </a:cubicBezTo>
                <a:lnTo>
                  <a:pt x="4429572" y="2105421"/>
                </a:lnTo>
                <a:cubicBezTo>
                  <a:pt x="4423866" y="2125264"/>
                  <a:pt x="4415432" y="2139651"/>
                  <a:pt x="4404270" y="2148581"/>
                </a:cubicBezTo>
                <a:cubicBezTo>
                  <a:pt x="4393108" y="2157510"/>
                  <a:pt x="4379342" y="2161975"/>
                  <a:pt x="4362971" y="2161975"/>
                </a:cubicBezTo>
                <a:cubicBezTo>
                  <a:pt x="4338910" y="2161975"/>
                  <a:pt x="4318818" y="2153355"/>
                  <a:pt x="4302696" y="2136116"/>
                </a:cubicBezTo>
                <a:cubicBezTo>
                  <a:pt x="4286572" y="2118877"/>
                  <a:pt x="4278139" y="2094754"/>
                  <a:pt x="4277394" y="2063749"/>
                </a:cubicBezTo>
                <a:lnTo>
                  <a:pt x="4539332" y="2063749"/>
                </a:lnTo>
                <a:cubicBezTo>
                  <a:pt x="4540820" y="1983629"/>
                  <a:pt x="4524573" y="1924160"/>
                  <a:pt x="4490591" y="1885341"/>
                </a:cubicBezTo>
                <a:cubicBezTo>
                  <a:pt x="4456608" y="1846521"/>
                  <a:pt x="4410224" y="1827112"/>
                  <a:pt x="4351436" y="1827112"/>
                </a:cubicBezTo>
                <a:close/>
                <a:moveTo>
                  <a:pt x="3887540" y="1827112"/>
                </a:moveTo>
                <a:cubicBezTo>
                  <a:pt x="3830737" y="1827112"/>
                  <a:pt x="3788817" y="1838770"/>
                  <a:pt x="3761780" y="1862086"/>
                </a:cubicBezTo>
                <a:cubicBezTo>
                  <a:pt x="3734743" y="1885403"/>
                  <a:pt x="3721224" y="1914176"/>
                  <a:pt x="3721224" y="1948407"/>
                </a:cubicBezTo>
                <a:cubicBezTo>
                  <a:pt x="3721224" y="1986358"/>
                  <a:pt x="3736851" y="2016000"/>
                  <a:pt x="3768105" y="2037332"/>
                </a:cubicBezTo>
                <a:cubicBezTo>
                  <a:pt x="3790678" y="2052710"/>
                  <a:pt x="3844132" y="2069702"/>
                  <a:pt x="3928467" y="2088305"/>
                </a:cubicBezTo>
                <a:cubicBezTo>
                  <a:pt x="3946574" y="2092522"/>
                  <a:pt x="3958232" y="2097111"/>
                  <a:pt x="3963442" y="2102072"/>
                </a:cubicBezTo>
                <a:cubicBezTo>
                  <a:pt x="3968403" y="2107281"/>
                  <a:pt x="3970883" y="2113854"/>
                  <a:pt x="3970883" y="2121791"/>
                </a:cubicBezTo>
                <a:cubicBezTo>
                  <a:pt x="3970883" y="2133450"/>
                  <a:pt x="3966294" y="2142752"/>
                  <a:pt x="3957116" y="2149697"/>
                </a:cubicBezTo>
                <a:cubicBezTo>
                  <a:pt x="3943474" y="2159619"/>
                  <a:pt x="3923134" y="2164580"/>
                  <a:pt x="3896097" y="2164580"/>
                </a:cubicBezTo>
                <a:cubicBezTo>
                  <a:pt x="3871540" y="2164580"/>
                  <a:pt x="3852441" y="2159309"/>
                  <a:pt x="3838798" y="2148767"/>
                </a:cubicBezTo>
                <a:cubicBezTo>
                  <a:pt x="3825156" y="2138225"/>
                  <a:pt x="3816102" y="2122784"/>
                  <a:pt x="3811637" y="2102444"/>
                </a:cubicBezTo>
                <a:lnTo>
                  <a:pt x="3706713" y="2118443"/>
                </a:lnTo>
                <a:cubicBezTo>
                  <a:pt x="3716387" y="2155898"/>
                  <a:pt x="3736913" y="2185540"/>
                  <a:pt x="3768291" y="2207368"/>
                </a:cubicBezTo>
                <a:cubicBezTo>
                  <a:pt x="3799669" y="2229196"/>
                  <a:pt x="3842271" y="2240110"/>
                  <a:pt x="3896097" y="2240110"/>
                </a:cubicBezTo>
                <a:cubicBezTo>
                  <a:pt x="3955380" y="2240110"/>
                  <a:pt x="4000153" y="2227087"/>
                  <a:pt x="4030414" y="2201042"/>
                </a:cubicBezTo>
                <a:cubicBezTo>
                  <a:pt x="4060676" y="2174998"/>
                  <a:pt x="4075807" y="2143868"/>
                  <a:pt x="4075807" y="2107653"/>
                </a:cubicBezTo>
                <a:cubicBezTo>
                  <a:pt x="4075807" y="2074415"/>
                  <a:pt x="4064893" y="2048494"/>
                  <a:pt x="4043065" y="2029890"/>
                </a:cubicBezTo>
                <a:cubicBezTo>
                  <a:pt x="4020989" y="2011535"/>
                  <a:pt x="3982108" y="1996032"/>
                  <a:pt x="3926420" y="1983381"/>
                </a:cubicBezTo>
                <a:cubicBezTo>
                  <a:pt x="3870734" y="1970731"/>
                  <a:pt x="3838178" y="1960933"/>
                  <a:pt x="3828752" y="1953988"/>
                </a:cubicBezTo>
                <a:cubicBezTo>
                  <a:pt x="3821808" y="1948779"/>
                  <a:pt x="3818334" y="1942454"/>
                  <a:pt x="3818334" y="1935012"/>
                </a:cubicBezTo>
                <a:cubicBezTo>
                  <a:pt x="3818334" y="1926330"/>
                  <a:pt x="3822303" y="1919261"/>
                  <a:pt x="3830240" y="1913804"/>
                </a:cubicBezTo>
                <a:cubicBezTo>
                  <a:pt x="3842147" y="1906115"/>
                  <a:pt x="3861866" y="1902270"/>
                  <a:pt x="3889400" y="1902270"/>
                </a:cubicBezTo>
                <a:cubicBezTo>
                  <a:pt x="3911228" y="1902270"/>
                  <a:pt x="3928034" y="1906363"/>
                  <a:pt x="3939816" y="1914548"/>
                </a:cubicBezTo>
                <a:cubicBezTo>
                  <a:pt x="3951598" y="1922734"/>
                  <a:pt x="3959597" y="1934516"/>
                  <a:pt x="3963814" y="1949895"/>
                </a:cubicBezTo>
                <a:lnTo>
                  <a:pt x="4062412" y="1931664"/>
                </a:lnTo>
                <a:cubicBezTo>
                  <a:pt x="4052491" y="1897185"/>
                  <a:pt x="4034384" y="1871140"/>
                  <a:pt x="4008090" y="1853529"/>
                </a:cubicBezTo>
                <a:cubicBezTo>
                  <a:pt x="3981798" y="1835917"/>
                  <a:pt x="3941614" y="1827112"/>
                  <a:pt x="3887540" y="1827112"/>
                </a:cubicBezTo>
                <a:close/>
                <a:moveTo>
                  <a:pt x="3592860" y="1827112"/>
                </a:moveTo>
                <a:cubicBezTo>
                  <a:pt x="3575992" y="1827112"/>
                  <a:pt x="3560924" y="1831329"/>
                  <a:pt x="3547653" y="1839762"/>
                </a:cubicBezTo>
                <a:cubicBezTo>
                  <a:pt x="3534383" y="1848196"/>
                  <a:pt x="3519438" y="1865683"/>
                  <a:pt x="3502818" y="1892224"/>
                </a:cubicBezTo>
                <a:lnTo>
                  <a:pt x="3502818" y="1836041"/>
                </a:lnTo>
                <a:lnTo>
                  <a:pt x="3405708" y="1836041"/>
                </a:lnTo>
                <a:lnTo>
                  <a:pt x="3405708" y="2231180"/>
                </a:lnTo>
                <a:lnTo>
                  <a:pt x="3510260" y="2231180"/>
                </a:lnTo>
                <a:lnTo>
                  <a:pt x="3510260" y="2109141"/>
                </a:lnTo>
                <a:cubicBezTo>
                  <a:pt x="3510260" y="2041920"/>
                  <a:pt x="3513175" y="1997768"/>
                  <a:pt x="3519004" y="1976684"/>
                </a:cubicBezTo>
                <a:cubicBezTo>
                  <a:pt x="3524833" y="1955600"/>
                  <a:pt x="3532832" y="1941027"/>
                  <a:pt x="3543002" y="1932966"/>
                </a:cubicBezTo>
                <a:cubicBezTo>
                  <a:pt x="3553172" y="1924904"/>
                  <a:pt x="3565574" y="1920874"/>
                  <a:pt x="3580210" y="1920874"/>
                </a:cubicBezTo>
                <a:cubicBezTo>
                  <a:pt x="3595340" y="1920874"/>
                  <a:pt x="3611712" y="1926579"/>
                  <a:pt x="3629322" y="1937989"/>
                </a:cubicBezTo>
                <a:lnTo>
                  <a:pt x="3661692" y="1846832"/>
                </a:lnTo>
                <a:cubicBezTo>
                  <a:pt x="3639616" y="1833685"/>
                  <a:pt x="3616672" y="1827112"/>
                  <a:pt x="3592860" y="1827112"/>
                </a:cubicBezTo>
                <a:close/>
                <a:moveTo>
                  <a:pt x="3103662" y="1827112"/>
                </a:moveTo>
                <a:cubicBezTo>
                  <a:pt x="3051324" y="1827112"/>
                  <a:pt x="3008040" y="1845653"/>
                  <a:pt x="2973809" y="1882736"/>
                </a:cubicBezTo>
                <a:cubicBezTo>
                  <a:pt x="2939578" y="1919819"/>
                  <a:pt x="2922464" y="1971103"/>
                  <a:pt x="2922464" y="2036587"/>
                </a:cubicBezTo>
                <a:cubicBezTo>
                  <a:pt x="2922464" y="2091406"/>
                  <a:pt x="2935486" y="2136798"/>
                  <a:pt x="2961531" y="2172765"/>
                </a:cubicBezTo>
                <a:cubicBezTo>
                  <a:pt x="2994521" y="2217662"/>
                  <a:pt x="3045371" y="2240110"/>
                  <a:pt x="3114080" y="2240110"/>
                </a:cubicBezTo>
                <a:cubicBezTo>
                  <a:pt x="3157488" y="2240110"/>
                  <a:pt x="3193641" y="2230126"/>
                  <a:pt x="3222538" y="2210158"/>
                </a:cubicBezTo>
                <a:cubicBezTo>
                  <a:pt x="3251436" y="2190190"/>
                  <a:pt x="3272582" y="2161107"/>
                  <a:pt x="3285976" y="2122908"/>
                </a:cubicBezTo>
                <a:lnTo>
                  <a:pt x="3181796" y="2105421"/>
                </a:lnTo>
                <a:cubicBezTo>
                  <a:pt x="3176092" y="2125264"/>
                  <a:pt x="3167658" y="2139651"/>
                  <a:pt x="3156496" y="2148581"/>
                </a:cubicBezTo>
                <a:cubicBezTo>
                  <a:pt x="3145334" y="2157510"/>
                  <a:pt x="3131567" y="2161975"/>
                  <a:pt x="3115196" y="2161975"/>
                </a:cubicBezTo>
                <a:cubicBezTo>
                  <a:pt x="3091136" y="2161975"/>
                  <a:pt x="3071044" y="2153355"/>
                  <a:pt x="3054920" y="2136116"/>
                </a:cubicBezTo>
                <a:cubicBezTo>
                  <a:pt x="3038798" y="2118877"/>
                  <a:pt x="3030364" y="2094754"/>
                  <a:pt x="3029620" y="2063749"/>
                </a:cubicBezTo>
                <a:lnTo>
                  <a:pt x="3291557" y="2063749"/>
                </a:lnTo>
                <a:cubicBezTo>
                  <a:pt x="3293046" y="1983629"/>
                  <a:pt x="3276798" y="1924160"/>
                  <a:pt x="3242816" y="1885341"/>
                </a:cubicBezTo>
                <a:cubicBezTo>
                  <a:pt x="3208834" y="1846521"/>
                  <a:pt x="3162448" y="1827112"/>
                  <a:pt x="3103662" y="1827112"/>
                </a:cubicBezTo>
                <a:close/>
                <a:moveTo>
                  <a:pt x="1893987" y="1827112"/>
                </a:moveTo>
                <a:cubicBezTo>
                  <a:pt x="1952774" y="1827112"/>
                  <a:pt x="1999159" y="1846521"/>
                  <a:pt x="2033141" y="1885341"/>
                </a:cubicBezTo>
                <a:cubicBezTo>
                  <a:pt x="2067124" y="1924160"/>
                  <a:pt x="2083371" y="1983629"/>
                  <a:pt x="2081882" y="2063749"/>
                </a:cubicBezTo>
                <a:lnTo>
                  <a:pt x="1819945" y="2063749"/>
                </a:lnTo>
                <a:cubicBezTo>
                  <a:pt x="1820689" y="2094754"/>
                  <a:pt x="1829123" y="2118877"/>
                  <a:pt x="1845246" y="2136116"/>
                </a:cubicBezTo>
                <a:cubicBezTo>
                  <a:pt x="1861369" y="2153355"/>
                  <a:pt x="1881461" y="2161975"/>
                  <a:pt x="1905521" y="2161975"/>
                </a:cubicBezTo>
                <a:cubicBezTo>
                  <a:pt x="1921892" y="2161975"/>
                  <a:pt x="1935659" y="2157510"/>
                  <a:pt x="1946821" y="2148581"/>
                </a:cubicBezTo>
                <a:cubicBezTo>
                  <a:pt x="1957983" y="2139651"/>
                  <a:pt x="1966417" y="2125264"/>
                  <a:pt x="1972122" y="2105421"/>
                </a:cubicBezTo>
                <a:lnTo>
                  <a:pt x="2076302" y="2122908"/>
                </a:lnTo>
                <a:cubicBezTo>
                  <a:pt x="2062907" y="2161107"/>
                  <a:pt x="2041761" y="2190190"/>
                  <a:pt x="2012864" y="2210158"/>
                </a:cubicBezTo>
                <a:cubicBezTo>
                  <a:pt x="1983966" y="2230126"/>
                  <a:pt x="1947813" y="2240110"/>
                  <a:pt x="1904405" y="2240110"/>
                </a:cubicBezTo>
                <a:cubicBezTo>
                  <a:pt x="1835696" y="2240110"/>
                  <a:pt x="1784847" y="2217662"/>
                  <a:pt x="1751856" y="2172765"/>
                </a:cubicBezTo>
                <a:cubicBezTo>
                  <a:pt x="1725811" y="2136798"/>
                  <a:pt x="1712789" y="2091406"/>
                  <a:pt x="1712789" y="2036587"/>
                </a:cubicBezTo>
                <a:cubicBezTo>
                  <a:pt x="1712789" y="1971103"/>
                  <a:pt x="1729904" y="1919819"/>
                  <a:pt x="1764135" y="1882736"/>
                </a:cubicBezTo>
                <a:cubicBezTo>
                  <a:pt x="1798365" y="1845653"/>
                  <a:pt x="1841649" y="1827112"/>
                  <a:pt x="1893987" y="1827112"/>
                </a:cubicBezTo>
                <a:close/>
                <a:moveTo>
                  <a:pt x="992833" y="1827112"/>
                </a:moveTo>
                <a:cubicBezTo>
                  <a:pt x="1039465" y="1827112"/>
                  <a:pt x="1074192" y="1832631"/>
                  <a:pt x="1097012" y="1843669"/>
                </a:cubicBezTo>
                <a:cubicBezTo>
                  <a:pt x="1119833" y="1854707"/>
                  <a:pt x="1135894" y="1868722"/>
                  <a:pt x="1145196" y="1885713"/>
                </a:cubicBezTo>
                <a:cubicBezTo>
                  <a:pt x="1154497" y="1902704"/>
                  <a:pt x="1159148" y="1933896"/>
                  <a:pt x="1159148" y="1979289"/>
                </a:cubicBezTo>
                <a:lnTo>
                  <a:pt x="1158032" y="2101328"/>
                </a:lnTo>
                <a:cubicBezTo>
                  <a:pt x="1158032" y="2136054"/>
                  <a:pt x="1159706" y="2161665"/>
                  <a:pt x="1163055" y="2178160"/>
                </a:cubicBezTo>
                <a:cubicBezTo>
                  <a:pt x="1166404" y="2194655"/>
                  <a:pt x="1172667" y="2212329"/>
                  <a:pt x="1181844" y="2231180"/>
                </a:cubicBezTo>
                <a:lnTo>
                  <a:pt x="1078409" y="2231180"/>
                </a:lnTo>
                <a:cubicBezTo>
                  <a:pt x="1075680" y="2224235"/>
                  <a:pt x="1072332" y="2213941"/>
                  <a:pt x="1068363" y="2200298"/>
                </a:cubicBezTo>
                <a:cubicBezTo>
                  <a:pt x="1066627" y="2194097"/>
                  <a:pt x="1065386" y="2190004"/>
                  <a:pt x="1064642" y="2188020"/>
                </a:cubicBezTo>
                <a:cubicBezTo>
                  <a:pt x="1046783" y="2205383"/>
                  <a:pt x="1027683" y="2218406"/>
                  <a:pt x="1007343" y="2227087"/>
                </a:cubicBezTo>
                <a:cubicBezTo>
                  <a:pt x="987004" y="2235769"/>
                  <a:pt x="965300" y="2240110"/>
                  <a:pt x="942231" y="2240110"/>
                </a:cubicBezTo>
                <a:cubicBezTo>
                  <a:pt x="901551" y="2240110"/>
                  <a:pt x="869491" y="2229072"/>
                  <a:pt x="846051" y="2206996"/>
                </a:cubicBezTo>
                <a:cubicBezTo>
                  <a:pt x="822610" y="2184919"/>
                  <a:pt x="810890" y="2157014"/>
                  <a:pt x="810890" y="2123280"/>
                </a:cubicBezTo>
                <a:cubicBezTo>
                  <a:pt x="810890" y="2100956"/>
                  <a:pt x="816223" y="2081050"/>
                  <a:pt x="826889" y="2063562"/>
                </a:cubicBezTo>
                <a:cubicBezTo>
                  <a:pt x="837555" y="2046075"/>
                  <a:pt x="852500" y="2032681"/>
                  <a:pt x="871724" y="2023379"/>
                </a:cubicBezTo>
                <a:cubicBezTo>
                  <a:pt x="890947" y="2014077"/>
                  <a:pt x="918667" y="2005954"/>
                  <a:pt x="954882" y="1999008"/>
                </a:cubicBezTo>
                <a:cubicBezTo>
                  <a:pt x="1003747" y="1989831"/>
                  <a:pt x="1037605" y="1981273"/>
                  <a:pt x="1056457" y="1973335"/>
                </a:cubicBezTo>
                <a:lnTo>
                  <a:pt x="1056457" y="1962917"/>
                </a:lnTo>
                <a:cubicBezTo>
                  <a:pt x="1056457" y="1942826"/>
                  <a:pt x="1051496" y="1928501"/>
                  <a:pt x="1041574" y="1919943"/>
                </a:cubicBezTo>
                <a:cubicBezTo>
                  <a:pt x="1031652" y="1911386"/>
                  <a:pt x="1012925" y="1907107"/>
                  <a:pt x="985391" y="1907107"/>
                </a:cubicBezTo>
                <a:cubicBezTo>
                  <a:pt x="966788" y="1907107"/>
                  <a:pt x="952277" y="1910766"/>
                  <a:pt x="941859" y="1918083"/>
                </a:cubicBezTo>
                <a:cubicBezTo>
                  <a:pt x="931441" y="1925400"/>
                  <a:pt x="923008" y="1938237"/>
                  <a:pt x="916558" y="1956592"/>
                </a:cubicBezTo>
                <a:lnTo>
                  <a:pt x="821680" y="1939477"/>
                </a:lnTo>
                <a:cubicBezTo>
                  <a:pt x="832346" y="1901278"/>
                  <a:pt x="850702" y="1873000"/>
                  <a:pt x="876747" y="1854645"/>
                </a:cubicBezTo>
                <a:cubicBezTo>
                  <a:pt x="902792" y="1836290"/>
                  <a:pt x="941487" y="1827112"/>
                  <a:pt x="992833" y="1827112"/>
                </a:cubicBezTo>
                <a:close/>
                <a:moveTo>
                  <a:pt x="687735" y="1827112"/>
                </a:moveTo>
                <a:cubicBezTo>
                  <a:pt x="711547" y="1827112"/>
                  <a:pt x="734492" y="1833685"/>
                  <a:pt x="756568" y="1846832"/>
                </a:cubicBezTo>
                <a:lnTo>
                  <a:pt x="724198" y="1937989"/>
                </a:lnTo>
                <a:cubicBezTo>
                  <a:pt x="706586" y="1926579"/>
                  <a:pt x="690215" y="1920874"/>
                  <a:pt x="675084" y="1920874"/>
                </a:cubicBezTo>
                <a:cubicBezTo>
                  <a:pt x="660450" y="1920874"/>
                  <a:pt x="648047" y="1924904"/>
                  <a:pt x="637877" y="1932966"/>
                </a:cubicBezTo>
                <a:cubicBezTo>
                  <a:pt x="627707" y="1941027"/>
                  <a:pt x="619708" y="1955600"/>
                  <a:pt x="613879" y="1976684"/>
                </a:cubicBezTo>
                <a:cubicBezTo>
                  <a:pt x="608050" y="1997768"/>
                  <a:pt x="605135" y="2041920"/>
                  <a:pt x="605135" y="2109141"/>
                </a:cubicBezTo>
                <a:lnTo>
                  <a:pt x="605135" y="2231180"/>
                </a:lnTo>
                <a:lnTo>
                  <a:pt x="500583" y="2231180"/>
                </a:lnTo>
                <a:lnTo>
                  <a:pt x="500583" y="1836041"/>
                </a:lnTo>
                <a:lnTo>
                  <a:pt x="597694" y="1836041"/>
                </a:lnTo>
                <a:lnTo>
                  <a:pt x="597694" y="1892224"/>
                </a:lnTo>
                <a:cubicBezTo>
                  <a:pt x="614313" y="1865683"/>
                  <a:pt x="629258" y="1848196"/>
                  <a:pt x="642528" y="1839762"/>
                </a:cubicBezTo>
                <a:cubicBezTo>
                  <a:pt x="655799" y="1831329"/>
                  <a:pt x="670868" y="1827112"/>
                  <a:pt x="687735" y="1827112"/>
                </a:cubicBezTo>
                <a:close/>
                <a:moveTo>
                  <a:pt x="2393082" y="1685725"/>
                </a:moveTo>
                <a:lnTo>
                  <a:pt x="2588047" y="2231180"/>
                </a:lnTo>
                <a:lnTo>
                  <a:pt x="2705621" y="2231180"/>
                </a:lnTo>
                <a:lnTo>
                  <a:pt x="2900958" y="1685725"/>
                </a:lnTo>
                <a:lnTo>
                  <a:pt x="2784128" y="1685725"/>
                </a:lnTo>
                <a:lnTo>
                  <a:pt x="2650554" y="2089421"/>
                </a:lnTo>
                <a:lnTo>
                  <a:pt x="2512516" y="1685725"/>
                </a:lnTo>
                <a:close/>
                <a:moveTo>
                  <a:pt x="2200498" y="1685725"/>
                </a:moveTo>
                <a:lnTo>
                  <a:pt x="2292545" y="1685725"/>
                </a:lnTo>
                <a:lnTo>
                  <a:pt x="2305050" y="1712181"/>
                </a:lnTo>
                <a:lnTo>
                  <a:pt x="2305050" y="2231180"/>
                </a:lnTo>
                <a:lnTo>
                  <a:pt x="2200498" y="2231180"/>
                </a:lnTo>
                <a:close/>
                <a:moveTo>
                  <a:pt x="0" y="1685725"/>
                </a:moveTo>
                <a:lnTo>
                  <a:pt x="433462" y="1685725"/>
                </a:lnTo>
                <a:lnTo>
                  <a:pt x="433462" y="1777999"/>
                </a:lnTo>
                <a:lnTo>
                  <a:pt x="271983" y="1777999"/>
                </a:lnTo>
                <a:lnTo>
                  <a:pt x="271983" y="2231180"/>
                </a:lnTo>
                <a:lnTo>
                  <a:pt x="161851" y="2231180"/>
                </a:lnTo>
                <a:lnTo>
                  <a:pt x="161851" y="1777999"/>
                </a:lnTo>
                <a:lnTo>
                  <a:pt x="0" y="1777999"/>
                </a:lnTo>
                <a:close/>
                <a:moveTo>
                  <a:pt x="899519" y="0"/>
                </a:moveTo>
                <a:lnTo>
                  <a:pt x="5733985" y="0"/>
                </a:lnTo>
                <a:lnTo>
                  <a:pt x="5733985" y="6858001"/>
                </a:lnTo>
                <a:lnTo>
                  <a:pt x="899519" y="6858001"/>
                </a:lnTo>
                <a:cubicBezTo>
                  <a:pt x="899519" y="5036345"/>
                  <a:pt x="3238019" y="3806093"/>
                  <a:pt x="2324542" y="1753419"/>
                </a:cubicBezTo>
                <a:lnTo>
                  <a:pt x="2305050" y="1712181"/>
                </a:lnTo>
                <a:lnTo>
                  <a:pt x="2305050" y="1685725"/>
                </a:lnTo>
                <a:lnTo>
                  <a:pt x="2292545" y="1685725"/>
                </a:lnTo>
                <a:lnTo>
                  <a:pt x="2267015" y="1631714"/>
                </a:lnTo>
                <a:cubicBezTo>
                  <a:pt x="2021567" y="1141015"/>
                  <a:pt x="1590011" y="603250"/>
                  <a:pt x="899519" y="0"/>
                </a:cubicBez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13" name="TextBox 12">
            <a:extLst>
              <a:ext uri="{FF2B5EF4-FFF2-40B4-BE49-F238E27FC236}">
                <a16:creationId xmlns:a16="http://schemas.microsoft.com/office/drawing/2014/main" id="{7B6E04A8-90EA-4E3B-90B4-3F955B789251}"/>
              </a:ext>
            </a:extLst>
          </p:cNvPr>
          <p:cNvSpPr txBox="1"/>
          <p:nvPr/>
        </p:nvSpPr>
        <p:spPr>
          <a:xfrm>
            <a:off x="8864600" y="2630269"/>
            <a:ext cx="2946400" cy="646331"/>
          </a:xfrm>
          <a:prstGeom prst="rect">
            <a:avLst/>
          </a:prstGeom>
          <a:noFill/>
        </p:spPr>
        <p:txBody>
          <a:bodyPr wrap="square" rtlCol="0">
            <a:spAutoFit/>
          </a:bodyPr>
          <a:lstStyle/>
          <a:p>
            <a:pPr algn="ctr"/>
            <a:r>
              <a:rPr lang="en-IN" b="1" spc="300">
                <a:latin typeface="Arial" panose="020B0604020202020204" pitchFamily="34" charset="0"/>
                <a:cs typeface="Arial" panose="020B0604020202020204" pitchFamily="34" charset="0"/>
              </a:rPr>
              <a:t>Tour Management </a:t>
            </a:r>
          </a:p>
          <a:p>
            <a:pPr algn="ctr"/>
            <a:r>
              <a:rPr lang="en-IN" b="1" spc="300">
                <a:latin typeface="Arial" panose="020B0604020202020204" pitchFamily="34" charset="0"/>
                <a:cs typeface="Arial" panose="020B0604020202020204" pitchFamily="34" charset="0"/>
              </a:rPr>
              <a:t>System</a:t>
            </a:r>
          </a:p>
        </p:txBody>
      </p:sp>
      <p:sp>
        <p:nvSpPr>
          <p:cNvPr id="2" name="TextBox 1">
            <a:extLst>
              <a:ext uri="{FF2B5EF4-FFF2-40B4-BE49-F238E27FC236}">
                <a16:creationId xmlns:a16="http://schemas.microsoft.com/office/drawing/2014/main" id="{D9B53469-F70E-481F-943A-34FCC9805CA4}"/>
              </a:ext>
            </a:extLst>
          </p:cNvPr>
          <p:cNvSpPr txBox="1"/>
          <p:nvPr/>
        </p:nvSpPr>
        <p:spPr>
          <a:xfrm>
            <a:off x="10688217" y="6440462"/>
            <a:ext cx="1503783" cy="276999"/>
          </a:xfrm>
          <a:prstGeom prst="rect">
            <a:avLst/>
          </a:prstGeom>
          <a:noFill/>
        </p:spPr>
        <p:txBody>
          <a:bodyPr wrap="square" rtlCol="0">
            <a:spAutoFit/>
          </a:bodyPr>
          <a:lstStyle/>
          <a:p>
            <a:r>
              <a:rPr lang="en-IN" sz="1200" b="1" spc="300">
                <a:latin typeface="Arial" panose="020B0604020202020204" pitchFamily="34" charset="0"/>
                <a:cs typeface="Arial" panose="020B0604020202020204" pitchFamily="34" charset="0"/>
              </a:rPr>
              <a:t>SQL Project</a:t>
            </a:r>
          </a:p>
        </p:txBody>
      </p:sp>
    </p:spTree>
    <p:extLst>
      <p:ext uri="{BB962C8B-B14F-4D97-AF65-F5344CB8AC3E}">
        <p14:creationId xmlns:p14="http://schemas.microsoft.com/office/powerpoint/2010/main" val="34739822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60000"/>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A99DA6-B0D9-482A-8829-1D90A55C885B}"/>
              </a:ext>
            </a:extLst>
          </p:cNvPr>
          <p:cNvSpPr>
            <a:spLocks noGrp="1"/>
          </p:cNvSpPr>
          <p:nvPr>
            <p:ph type="title"/>
          </p:nvPr>
        </p:nvSpPr>
        <p:spPr>
          <a:xfrm>
            <a:off x="0" y="0"/>
            <a:ext cx="12192000" cy="681037"/>
          </a:xfrm>
          <a:noFill/>
        </p:spPr>
        <p:txBody>
          <a:bodyPr>
            <a:normAutofit/>
          </a:bodyPr>
          <a:lstStyle/>
          <a:p>
            <a:pPr algn="ctr"/>
            <a:r>
              <a:rPr lang="en-IN" sz="3500">
                <a:effectLst>
                  <a:outerShdw blurRad="38100" dist="38100" dir="2700000" algn="tl">
                    <a:srgbClr val="000000">
                      <a:alpha val="43137"/>
                    </a:srgbClr>
                  </a:outerShdw>
                </a:effectLst>
                <a:latin typeface="Century Gothic" panose="020B0502020202020204" pitchFamily="34" charset="0"/>
                <a:ea typeface="Cambria Math" panose="02040503050406030204" pitchFamily="18" charset="0"/>
              </a:rPr>
              <a:t>Abstract</a:t>
            </a:r>
          </a:p>
        </p:txBody>
      </p:sp>
      <p:pic>
        <p:nvPicPr>
          <p:cNvPr id="4" name="Picture 3">
            <a:extLst>
              <a:ext uri="{FF2B5EF4-FFF2-40B4-BE49-F238E27FC236}">
                <a16:creationId xmlns:a16="http://schemas.microsoft.com/office/drawing/2014/main" id="{199286A3-6D1D-48C6-BAA3-FB00FBF10FDA}"/>
              </a:ext>
            </a:extLst>
          </p:cNvPr>
          <p:cNvPicPr>
            <a:picLocks noChangeAspect="1"/>
          </p:cNvPicPr>
          <p:nvPr/>
        </p:nvPicPr>
        <p:blipFill>
          <a:blip r:embed="rId3">
            <a:alphaModFix amt="35000"/>
            <a:extLst>
              <a:ext uri="{28A0092B-C50C-407E-A947-70E740481C1C}">
                <a14:useLocalDpi xmlns:a14="http://schemas.microsoft.com/office/drawing/2010/main" val="0"/>
              </a:ext>
            </a:extLst>
          </a:blip>
          <a:stretch>
            <a:fillRect/>
          </a:stretch>
        </p:blipFill>
        <p:spPr>
          <a:xfrm>
            <a:off x="3969449" y="494545"/>
            <a:ext cx="4253083" cy="4216553"/>
          </a:xfrm>
          <a:prstGeom prst="rect">
            <a:avLst/>
          </a:prstGeom>
          <a:noFill/>
          <a:ln>
            <a:noFill/>
          </a:ln>
          <a:effectLst>
            <a:softEdge rad="25400"/>
          </a:effectLst>
        </p:spPr>
      </p:pic>
      <p:sp>
        <p:nvSpPr>
          <p:cNvPr id="8" name="Content Placeholder 7">
            <a:extLst>
              <a:ext uri="{FF2B5EF4-FFF2-40B4-BE49-F238E27FC236}">
                <a16:creationId xmlns:a16="http://schemas.microsoft.com/office/drawing/2014/main" id="{6B8139AE-EBA2-47F8-8FEB-2D86B356231B}"/>
              </a:ext>
            </a:extLst>
          </p:cNvPr>
          <p:cNvSpPr>
            <a:spLocks noGrp="1"/>
          </p:cNvSpPr>
          <p:nvPr>
            <p:ph idx="1"/>
          </p:nvPr>
        </p:nvSpPr>
        <p:spPr>
          <a:xfrm>
            <a:off x="1308091" y="4711098"/>
            <a:ext cx="9575801" cy="1756303"/>
          </a:xfrm>
        </p:spPr>
        <p:txBody>
          <a:bodyPr>
            <a:normAutofit/>
          </a:bodyPr>
          <a:lstStyle/>
          <a:p>
            <a:pPr marL="0" indent="0" algn="ctr">
              <a:buNone/>
            </a:pPr>
            <a:r>
              <a:rPr lang="en-US" sz="2400" b="1">
                <a:latin typeface="+mj-lt"/>
                <a:cs typeface="Times New Roman" panose="02020603050405020304" pitchFamily="18" charset="0"/>
              </a:rPr>
              <a:t>TravelVerse</a:t>
            </a:r>
            <a:r>
              <a:rPr lang="en-US" sz="2400">
                <a:latin typeface="+mj-lt"/>
                <a:cs typeface="Times New Roman" panose="02020603050405020304" pitchFamily="18" charset="0"/>
              </a:rPr>
              <a:t> is a Tour Management System that manages customers, destinations, tour packages, hotels, bookings, payments, and reviews. It helps travel agencies organize travel operations efficiently, track business performance, and improve customer service through effective database management.</a:t>
            </a:r>
            <a:endParaRPr lang="en-IN" sz="2400">
              <a:latin typeface="+mj-lt"/>
              <a:cs typeface="Times New Roman" panose="02020603050405020304" pitchFamily="18" charset="0"/>
            </a:endParaRPr>
          </a:p>
        </p:txBody>
      </p:sp>
    </p:spTree>
    <p:extLst>
      <p:ext uri="{BB962C8B-B14F-4D97-AF65-F5344CB8AC3E}">
        <p14:creationId xmlns:p14="http://schemas.microsoft.com/office/powerpoint/2010/main" val="37893761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2">
            <a:alphaModFix amt="60000"/>
          </a:blip>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412FB-ED8F-41E9-B61C-DDAF7586E690}"/>
              </a:ext>
            </a:extLst>
          </p:cNvPr>
          <p:cNvSpPr>
            <a:spLocks noGrp="1"/>
          </p:cNvSpPr>
          <p:nvPr>
            <p:ph type="title"/>
          </p:nvPr>
        </p:nvSpPr>
        <p:spPr>
          <a:xfrm>
            <a:off x="0" y="-1"/>
            <a:ext cx="12192001" cy="643468"/>
          </a:xfrm>
          <a:noFill/>
          <a:ln>
            <a:noFill/>
          </a:ln>
        </p:spPr>
        <p:txBody>
          <a:bodyPr>
            <a:normAutofit/>
          </a:bodyPr>
          <a:lstStyle/>
          <a:p>
            <a:pPr algn="ctr"/>
            <a:r>
              <a:rPr lang="en-IN" sz="3200">
                <a:effectLst>
                  <a:outerShdw blurRad="38100" dist="38100" dir="2700000" algn="tl">
                    <a:srgbClr val="000000">
                      <a:alpha val="43137"/>
                    </a:srgbClr>
                  </a:outerShdw>
                </a:effectLst>
                <a:latin typeface="Century Gothic" panose="020B0502020202020204" pitchFamily="34" charset="0"/>
              </a:rPr>
              <a:t>ER-Diagram</a:t>
            </a:r>
          </a:p>
        </p:txBody>
      </p:sp>
      <p:pic>
        <p:nvPicPr>
          <p:cNvPr id="4" name="Picture 3">
            <a:extLst>
              <a:ext uri="{FF2B5EF4-FFF2-40B4-BE49-F238E27FC236}">
                <a16:creationId xmlns:a16="http://schemas.microsoft.com/office/drawing/2014/main" id="{A14323CA-7DA1-41D2-B5E8-EA1450888319}"/>
              </a:ext>
            </a:extLst>
          </p:cNvPr>
          <p:cNvPicPr>
            <a:picLocks noChangeAspect="1"/>
          </p:cNvPicPr>
          <p:nvPr/>
        </p:nvPicPr>
        <p:blipFill rotWithShape="1">
          <a:blip r:embed="rId3">
            <a:extLst>
              <a:ext uri="{28A0092B-C50C-407E-A947-70E740481C1C}">
                <a14:useLocalDpi xmlns:a14="http://schemas.microsoft.com/office/drawing/2010/main" val="0"/>
              </a:ext>
            </a:extLst>
          </a:blip>
          <a:srcRect l="25277" t="12626" r="23125" b="2398"/>
          <a:stretch/>
        </p:blipFill>
        <p:spPr>
          <a:xfrm>
            <a:off x="0" y="531844"/>
            <a:ext cx="12120465" cy="6326155"/>
          </a:xfrm>
          <a:prstGeom prst="rect">
            <a:avLst/>
          </a:prstGeom>
        </p:spPr>
      </p:pic>
    </p:spTree>
    <p:extLst>
      <p:ext uri="{BB962C8B-B14F-4D97-AF65-F5344CB8AC3E}">
        <p14:creationId xmlns:p14="http://schemas.microsoft.com/office/powerpoint/2010/main" val="37433100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60000"/>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FB09B-FE89-4414-8648-C6D3EA1FEA7F}"/>
              </a:ext>
            </a:extLst>
          </p:cNvPr>
          <p:cNvSpPr>
            <a:spLocks noGrp="1"/>
          </p:cNvSpPr>
          <p:nvPr>
            <p:ph type="title"/>
          </p:nvPr>
        </p:nvSpPr>
        <p:spPr>
          <a:xfrm>
            <a:off x="-1" y="8468"/>
            <a:ext cx="12192001" cy="737117"/>
          </a:xfrm>
          <a:noFill/>
          <a:ln cap="sq">
            <a:noFill/>
            <a:round/>
          </a:ln>
        </p:spPr>
        <p:txBody>
          <a:bodyPr>
            <a:normAutofit/>
          </a:bodyPr>
          <a:lstStyle/>
          <a:p>
            <a:pPr algn="ctr"/>
            <a:r>
              <a:rPr lang="en-IN" sz="3000">
                <a:effectLst>
                  <a:outerShdw blurRad="38100" dist="38100" dir="2700000" algn="tl">
                    <a:srgbClr val="000000">
                      <a:alpha val="43137"/>
                    </a:srgbClr>
                  </a:outerShdw>
                </a:effectLst>
                <a:latin typeface="Century Gothic" panose="020B0502020202020204" pitchFamily="34" charset="0"/>
              </a:rPr>
              <a:t>Structure of Tables</a:t>
            </a:r>
          </a:p>
        </p:txBody>
      </p:sp>
      <p:graphicFrame>
        <p:nvGraphicFramePr>
          <p:cNvPr id="4" name="Table 4">
            <a:extLst>
              <a:ext uri="{FF2B5EF4-FFF2-40B4-BE49-F238E27FC236}">
                <a16:creationId xmlns:a16="http://schemas.microsoft.com/office/drawing/2014/main" id="{3886EC81-461F-48E5-A43B-D7A82475A935}"/>
              </a:ext>
            </a:extLst>
          </p:cNvPr>
          <p:cNvGraphicFramePr>
            <a:graphicFrameLocks noGrp="1"/>
          </p:cNvGraphicFramePr>
          <p:nvPr>
            <p:extLst>
              <p:ext uri="{D42A27DB-BD31-4B8C-83A1-F6EECF244321}">
                <p14:modId xmlns:p14="http://schemas.microsoft.com/office/powerpoint/2010/main" val="3711842090"/>
              </p:ext>
            </p:extLst>
          </p:nvPr>
        </p:nvGraphicFramePr>
        <p:xfrm>
          <a:off x="2616199" y="1838527"/>
          <a:ext cx="6882364" cy="3097368"/>
        </p:xfrm>
        <a:graphic>
          <a:graphicData uri="http://schemas.openxmlformats.org/drawingml/2006/table">
            <a:tbl>
              <a:tblPr firstRow="1" bandRow="1">
                <a:tableStyleId>{FABFCF23-3B69-468F-B69F-88F6DE6A72F2}</a:tableStyleId>
              </a:tblPr>
              <a:tblGrid>
                <a:gridCol w="6882364">
                  <a:extLst>
                    <a:ext uri="{9D8B030D-6E8A-4147-A177-3AD203B41FA5}">
                      <a16:colId xmlns:a16="http://schemas.microsoft.com/office/drawing/2014/main" val="600098061"/>
                    </a:ext>
                  </a:extLst>
                </a:gridCol>
              </a:tblGrid>
              <a:tr h="387171">
                <a:tc>
                  <a:txBody>
                    <a:bodyPr/>
                    <a:lstStyle/>
                    <a:p>
                      <a:pPr algn="ctr"/>
                      <a:r>
                        <a:rPr lang="en-IN" b="1">
                          <a:effectLst>
                            <a:outerShdw blurRad="38100" dist="38100" dir="2700000" algn="tl">
                              <a:srgbClr val="000000">
                                <a:alpha val="43137"/>
                              </a:srgbClr>
                            </a:outerShdw>
                          </a:effectLst>
                          <a:latin typeface="+mn-lt"/>
                        </a:rPr>
                        <a:t>Tables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73312983"/>
                  </a:ext>
                </a:extLst>
              </a:tr>
              <a:tr h="387171">
                <a:tc>
                  <a:txBody>
                    <a:bodyPr/>
                    <a:lstStyle/>
                    <a:p>
                      <a:pPr algn="ctr"/>
                      <a:r>
                        <a:rPr lang="en-IN">
                          <a:latin typeface="Century Gothic" panose="020B0502020202020204" pitchFamily="34" charset="0"/>
                        </a:rPr>
                        <a:t>Customers table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02629287"/>
                  </a:ext>
                </a:extLst>
              </a:tr>
              <a:tr h="387171">
                <a:tc>
                  <a:txBody>
                    <a:bodyPr/>
                    <a:lstStyle/>
                    <a:p>
                      <a:pPr algn="ctr"/>
                      <a:r>
                        <a:rPr lang="en-IN">
                          <a:latin typeface="Century Gothic" panose="020B0502020202020204" pitchFamily="34" charset="0"/>
                        </a:rPr>
                        <a:t>Destinations table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6178012"/>
                  </a:ext>
                </a:extLst>
              </a:tr>
              <a:tr h="387171">
                <a:tc>
                  <a:txBody>
                    <a:bodyPr/>
                    <a:lstStyle/>
                    <a:p>
                      <a:pPr algn="ctr"/>
                      <a:r>
                        <a:rPr lang="en-IN">
                          <a:latin typeface="Century Gothic" panose="020B0502020202020204" pitchFamily="34" charset="0"/>
                        </a:rPr>
                        <a:t>Hotels table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96981231"/>
                  </a:ext>
                </a:extLst>
              </a:tr>
              <a:tr h="387171">
                <a:tc>
                  <a:txBody>
                    <a:bodyPr/>
                    <a:lstStyle/>
                    <a:p>
                      <a:pPr algn="ctr"/>
                      <a:r>
                        <a:rPr lang="en-IN">
                          <a:latin typeface="Century Gothic" panose="020B0502020202020204" pitchFamily="34" charset="0"/>
                        </a:rPr>
                        <a:t>TourPackages table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96039661"/>
                  </a:ext>
                </a:extLst>
              </a:tr>
              <a:tr h="387171">
                <a:tc>
                  <a:txBody>
                    <a:bodyPr/>
                    <a:lstStyle/>
                    <a:p>
                      <a:pPr algn="ctr"/>
                      <a:r>
                        <a:rPr lang="en-IN">
                          <a:latin typeface="Century Gothic" panose="020B0502020202020204" pitchFamily="34" charset="0"/>
                        </a:rPr>
                        <a:t>Bookings table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08765529"/>
                  </a:ext>
                </a:extLst>
              </a:tr>
              <a:tr h="387171">
                <a:tc>
                  <a:txBody>
                    <a:bodyPr/>
                    <a:lstStyle/>
                    <a:p>
                      <a:pPr algn="ctr"/>
                      <a:r>
                        <a:rPr lang="en-IN">
                          <a:latin typeface="Century Gothic" panose="020B0502020202020204" pitchFamily="34" charset="0"/>
                        </a:rPr>
                        <a:t>Payments table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80492571"/>
                  </a:ext>
                </a:extLst>
              </a:tr>
              <a:tr h="387171">
                <a:tc>
                  <a:txBody>
                    <a:bodyPr/>
                    <a:lstStyle/>
                    <a:p>
                      <a:pPr algn="ctr"/>
                      <a:r>
                        <a:rPr lang="en-IN">
                          <a:latin typeface="Century Gothic" panose="020B0502020202020204" pitchFamily="34" charset="0"/>
                        </a:rPr>
                        <a:t>Reviews table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63231351"/>
                  </a:ext>
                </a:extLst>
              </a:tr>
            </a:tbl>
          </a:graphicData>
        </a:graphic>
      </p:graphicFrame>
      <p:pic>
        <p:nvPicPr>
          <p:cNvPr id="7" name="Picture 6">
            <a:extLst>
              <a:ext uri="{FF2B5EF4-FFF2-40B4-BE49-F238E27FC236}">
                <a16:creationId xmlns:a16="http://schemas.microsoft.com/office/drawing/2014/main" id="{42793C8A-DE3A-4B1E-932D-2C3955EC78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929818">
            <a:off x="8890176" y="3908031"/>
            <a:ext cx="3554963" cy="3469624"/>
          </a:xfrm>
          <a:prstGeom prst="rect">
            <a:avLst/>
          </a:prstGeom>
        </p:spPr>
      </p:pic>
    </p:spTree>
    <p:extLst>
      <p:ext uri="{BB962C8B-B14F-4D97-AF65-F5344CB8AC3E}">
        <p14:creationId xmlns:p14="http://schemas.microsoft.com/office/powerpoint/2010/main" val="21403279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2">
            <a:alphaModFix amt="60000"/>
          </a:blip>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4C009E-8D17-4853-8864-67CD9A32F0BE}"/>
              </a:ext>
            </a:extLst>
          </p:cNvPr>
          <p:cNvSpPr>
            <a:spLocks noGrp="1"/>
          </p:cNvSpPr>
          <p:nvPr>
            <p:ph type="title"/>
          </p:nvPr>
        </p:nvSpPr>
        <p:spPr>
          <a:xfrm>
            <a:off x="0" y="1"/>
            <a:ext cx="12192000" cy="774440"/>
          </a:xfrm>
          <a:ln>
            <a:noFill/>
          </a:ln>
        </p:spPr>
        <p:txBody>
          <a:bodyPr>
            <a:normAutofit/>
          </a:bodyPr>
          <a:lstStyle/>
          <a:p>
            <a:pPr algn="ctr"/>
            <a:r>
              <a:rPr lang="en-IN" sz="3000">
                <a:effectLst>
                  <a:outerShdw blurRad="38100" dist="38100" dir="2700000" algn="tl">
                    <a:srgbClr val="000000">
                      <a:alpha val="43137"/>
                    </a:srgbClr>
                  </a:outerShdw>
                </a:effectLst>
                <a:latin typeface="Century Gothic" panose="020B0502020202020204" pitchFamily="34" charset="0"/>
              </a:rPr>
              <a:t>Structure of </a:t>
            </a:r>
            <a:r>
              <a:rPr lang="en-IN" sz="3000" u="sng">
                <a:effectLst>
                  <a:outerShdw blurRad="38100" dist="38100" dir="2700000" algn="tl">
                    <a:srgbClr val="000000">
                      <a:alpha val="43137"/>
                    </a:srgbClr>
                  </a:outerShdw>
                </a:effectLst>
                <a:latin typeface="Century Gothic" panose="020B0502020202020204" pitchFamily="34" charset="0"/>
              </a:rPr>
              <a:t>Customers</a:t>
            </a:r>
            <a:r>
              <a:rPr lang="en-IN" sz="3000">
                <a:effectLst>
                  <a:outerShdw blurRad="38100" dist="38100" dir="2700000" algn="tl">
                    <a:srgbClr val="000000">
                      <a:alpha val="43137"/>
                    </a:srgbClr>
                  </a:outerShdw>
                </a:effectLst>
                <a:latin typeface="Century Gothic" panose="020B0502020202020204" pitchFamily="34" charset="0"/>
              </a:rPr>
              <a:t> Table</a:t>
            </a:r>
          </a:p>
        </p:txBody>
      </p:sp>
      <p:pic>
        <p:nvPicPr>
          <p:cNvPr id="12" name="Picture 11">
            <a:extLst>
              <a:ext uri="{FF2B5EF4-FFF2-40B4-BE49-F238E27FC236}">
                <a16:creationId xmlns:a16="http://schemas.microsoft.com/office/drawing/2014/main" id="{EBF4E3B3-8B57-4171-883C-4040620125DD}"/>
              </a:ext>
            </a:extLst>
          </p:cNvPr>
          <p:cNvPicPr>
            <a:picLocks noChangeAspect="1"/>
          </p:cNvPicPr>
          <p:nvPr/>
        </p:nvPicPr>
        <p:blipFill rotWithShape="1">
          <a:blip r:embed="rId3">
            <a:extLst>
              <a:ext uri="{28A0092B-C50C-407E-A947-70E740481C1C}">
                <a14:useLocalDpi xmlns:a14="http://schemas.microsoft.com/office/drawing/2010/main" val="0"/>
              </a:ext>
            </a:extLst>
          </a:blip>
          <a:srcRect l="4434" t="10964" r="11247" b="14852"/>
          <a:stretch/>
        </p:blipFill>
        <p:spPr>
          <a:xfrm>
            <a:off x="340409" y="2091267"/>
            <a:ext cx="5222191" cy="2483673"/>
          </a:xfrm>
          <a:prstGeom prst="rect">
            <a:avLst/>
          </a:prstGeom>
          <a:noFill/>
          <a:ln w="22225">
            <a:solidFill>
              <a:schemeClr val="tx1"/>
            </a:solidFill>
          </a:ln>
        </p:spPr>
      </p:pic>
      <p:sp>
        <p:nvSpPr>
          <p:cNvPr id="14" name="TextBox 13">
            <a:extLst>
              <a:ext uri="{FF2B5EF4-FFF2-40B4-BE49-F238E27FC236}">
                <a16:creationId xmlns:a16="http://schemas.microsoft.com/office/drawing/2014/main" id="{78C2156D-71E3-4C39-AAE9-89AF368845AE}"/>
              </a:ext>
            </a:extLst>
          </p:cNvPr>
          <p:cNvSpPr txBox="1"/>
          <p:nvPr/>
        </p:nvSpPr>
        <p:spPr>
          <a:xfrm>
            <a:off x="6409267" y="2506133"/>
            <a:ext cx="5334000" cy="1477328"/>
          </a:xfrm>
          <a:prstGeom prst="rect">
            <a:avLst/>
          </a:prstGeom>
          <a:noFill/>
        </p:spPr>
        <p:txBody>
          <a:bodyPr wrap="square" rtlCol="0">
            <a:spAutoFit/>
          </a:bodyPr>
          <a:lstStyle/>
          <a:p>
            <a:pPr algn="ctr"/>
            <a:r>
              <a:rPr lang="en-US"/>
              <a:t>The </a:t>
            </a:r>
            <a:r>
              <a:rPr lang="en-US" b="1"/>
              <a:t>Customers</a:t>
            </a:r>
            <a:r>
              <a:rPr lang="en-US"/>
              <a:t> table stores customer information and is used to manage customer records in the TravelVerse system.</a:t>
            </a:r>
          </a:p>
          <a:p>
            <a:pPr algn="ctr"/>
            <a:endParaRPr lang="en-US"/>
          </a:p>
          <a:p>
            <a:pPr algn="ctr"/>
            <a:r>
              <a:rPr lang="en-US" b="1" u="sng"/>
              <a:t>Syntax</a:t>
            </a:r>
            <a:r>
              <a:rPr lang="en-US" b="1"/>
              <a:t>: DESCRIBE Customers;</a:t>
            </a:r>
            <a:endParaRPr lang="en-IN" b="1"/>
          </a:p>
        </p:txBody>
      </p:sp>
    </p:spTree>
    <p:extLst>
      <p:ext uri="{BB962C8B-B14F-4D97-AF65-F5344CB8AC3E}">
        <p14:creationId xmlns:p14="http://schemas.microsoft.com/office/powerpoint/2010/main" val="266713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2">
            <a:alphaModFix amt="60000"/>
          </a:blip>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BA253-5427-4CCA-B72D-D77BEBE21C2C}"/>
              </a:ext>
            </a:extLst>
          </p:cNvPr>
          <p:cNvSpPr>
            <a:spLocks noGrp="1"/>
          </p:cNvSpPr>
          <p:nvPr>
            <p:ph type="title"/>
          </p:nvPr>
        </p:nvSpPr>
        <p:spPr>
          <a:xfrm>
            <a:off x="0" y="19050"/>
            <a:ext cx="12192000" cy="742950"/>
          </a:xfrm>
          <a:noFill/>
        </p:spPr>
        <p:txBody>
          <a:bodyPr>
            <a:normAutofit/>
          </a:bodyPr>
          <a:lstStyle/>
          <a:p>
            <a:pPr algn="ctr"/>
            <a:r>
              <a:rPr lang="en-IN" sz="3000">
                <a:effectLst>
                  <a:outerShdw blurRad="38100" dist="38100" dir="2700000" algn="tl">
                    <a:srgbClr val="000000">
                      <a:alpha val="43137"/>
                    </a:srgbClr>
                  </a:outerShdw>
                </a:effectLst>
                <a:latin typeface="Century Gothic" panose="020B0502020202020204" pitchFamily="34" charset="0"/>
              </a:rPr>
              <a:t>Structure of </a:t>
            </a:r>
            <a:r>
              <a:rPr lang="en-IN" sz="3000" u="sng">
                <a:effectLst>
                  <a:outerShdw blurRad="38100" dist="38100" dir="2700000" algn="tl">
                    <a:srgbClr val="000000">
                      <a:alpha val="43137"/>
                    </a:srgbClr>
                  </a:outerShdw>
                </a:effectLst>
                <a:latin typeface="Century Gothic" panose="020B0502020202020204" pitchFamily="34" charset="0"/>
              </a:rPr>
              <a:t>Destinations</a:t>
            </a:r>
            <a:r>
              <a:rPr lang="en-IN" sz="3000">
                <a:effectLst>
                  <a:outerShdw blurRad="38100" dist="38100" dir="2700000" algn="tl">
                    <a:srgbClr val="000000">
                      <a:alpha val="43137"/>
                    </a:srgbClr>
                  </a:outerShdw>
                </a:effectLst>
                <a:latin typeface="Century Gothic" panose="020B0502020202020204" pitchFamily="34" charset="0"/>
              </a:rPr>
              <a:t> Table</a:t>
            </a:r>
          </a:p>
        </p:txBody>
      </p:sp>
      <p:pic>
        <p:nvPicPr>
          <p:cNvPr id="5" name="Picture 4">
            <a:extLst>
              <a:ext uri="{FF2B5EF4-FFF2-40B4-BE49-F238E27FC236}">
                <a16:creationId xmlns:a16="http://schemas.microsoft.com/office/drawing/2014/main" id="{09DC0F76-DA4E-4A9A-B64F-CC0FFB9B9A8F}"/>
              </a:ext>
            </a:extLst>
          </p:cNvPr>
          <p:cNvPicPr>
            <a:picLocks noChangeAspect="1"/>
          </p:cNvPicPr>
          <p:nvPr/>
        </p:nvPicPr>
        <p:blipFill rotWithShape="1">
          <a:blip r:embed="rId3">
            <a:extLst>
              <a:ext uri="{28A0092B-C50C-407E-A947-70E740481C1C}">
                <a14:useLocalDpi xmlns:a14="http://schemas.microsoft.com/office/drawing/2010/main" val="0"/>
              </a:ext>
            </a:extLst>
          </a:blip>
          <a:srcRect l="10981" t="-281" r="7765" b="14166"/>
          <a:stretch/>
        </p:blipFill>
        <p:spPr>
          <a:xfrm>
            <a:off x="428624" y="2228850"/>
            <a:ext cx="5277909" cy="2171700"/>
          </a:xfrm>
          <a:prstGeom prst="rect">
            <a:avLst/>
          </a:prstGeom>
          <a:ln w="22225">
            <a:solidFill>
              <a:schemeClr val="tx1"/>
            </a:solidFill>
          </a:ln>
        </p:spPr>
      </p:pic>
      <p:sp>
        <p:nvSpPr>
          <p:cNvPr id="7" name="TextBox 6">
            <a:extLst>
              <a:ext uri="{FF2B5EF4-FFF2-40B4-BE49-F238E27FC236}">
                <a16:creationId xmlns:a16="http://schemas.microsoft.com/office/drawing/2014/main" id="{447257B5-8E24-496B-B41B-3E28A61030AA}"/>
              </a:ext>
            </a:extLst>
          </p:cNvPr>
          <p:cNvSpPr txBox="1"/>
          <p:nvPr/>
        </p:nvSpPr>
        <p:spPr>
          <a:xfrm>
            <a:off x="6384133" y="2574204"/>
            <a:ext cx="5680868" cy="1477328"/>
          </a:xfrm>
          <a:prstGeom prst="rect">
            <a:avLst/>
          </a:prstGeom>
          <a:noFill/>
        </p:spPr>
        <p:txBody>
          <a:bodyPr wrap="square" rtlCol="0">
            <a:spAutoFit/>
          </a:bodyPr>
          <a:lstStyle/>
          <a:p>
            <a:pPr algn="ctr"/>
            <a:r>
              <a:rPr lang="en-IN"/>
              <a:t>The </a:t>
            </a:r>
            <a:r>
              <a:rPr lang="en-IN" b="1"/>
              <a:t>Destinations</a:t>
            </a:r>
            <a:r>
              <a:rPr lang="en-IN"/>
              <a:t> table stores information about travel destinations available for tours. It helps organize and manage destination details.</a:t>
            </a:r>
          </a:p>
          <a:p>
            <a:pPr algn="ctr"/>
            <a:endParaRPr lang="en-US">
              <a:latin typeface="Century Gothic" panose="020B0502020202020204" pitchFamily="34" charset="0"/>
            </a:endParaRPr>
          </a:p>
          <a:p>
            <a:pPr algn="ctr"/>
            <a:r>
              <a:rPr lang="en-US" b="1" u="sng"/>
              <a:t>Syntax</a:t>
            </a:r>
            <a:r>
              <a:rPr lang="en-US" b="1"/>
              <a:t>: DESCRIBE Destinations;</a:t>
            </a:r>
          </a:p>
        </p:txBody>
      </p:sp>
    </p:spTree>
    <p:extLst>
      <p:ext uri="{BB962C8B-B14F-4D97-AF65-F5344CB8AC3E}">
        <p14:creationId xmlns:p14="http://schemas.microsoft.com/office/powerpoint/2010/main" val="30792541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60000"/>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A982AC-F007-4411-ADF2-A800A531A825}"/>
              </a:ext>
            </a:extLst>
          </p:cNvPr>
          <p:cNvSpPr>
            <a:spLocks noGrp="1"/>
          </p:cNvSpPr>
          <p:nvPr>
            <p:ph type="title"/>
          </p:nvPr>
        </p:nvSpPr>
        <p:spPr>
          <a:xfrm>
            <a:off x="0" y="-1"/>
            <a:ext cx="12192000" cy="736601"/>
          </a:xfrm>
        </p:spPr>
        <p:txBody>
          <a:bodyPr>
            <a:normAutofit/>
          </a:bodyPr>
          <a:lstStyle/>
          <a:p>
            <a:pPr algn="ctr"/>
            <a:r>
              <a:rPr lang="en-IN" sz="3000">
                <a:effectLst>
                  <a:outerShdw blurRad="38100" dist="38100" dir="2700000" algn="tl">
                    <a:srgbClr val="000000">
                      <a:alpha val="43137"/>
                    </a:srgbClr>
                  </a:outerShdw>
                </a:effectLst>
                <a:latin typeface="Century Gothic" panose="020B0502020202020204" pitchFamily="34" charset="0"/>
              </a:rPr>
              <a:t>Structure of </a:t>
            </a:r>
            <a:r>
              <a:rPr lang="en-IN" sz="3000" u="sng">
                <a:effectLst>
                  <a:outerShdw blurRad="38100" dist="38100" dir="2700000" algn="tl">
                    <a:srgbClr val="000000">
                      <a:alpha val="43137"/>
                    </a:srgbClr>
                  </a:outerShdw>
                </a:effectLst>
                <a:latin typeface="Century Gothic" panose="020B0502020202020204" pitchFamily="34" charset="0"/>
              </a:rPr>
              <a:t>Hotels</a:t>
            </a:r>
            <a:r>
              <a:rPr lang="en-IN" sz="3000">
                <a:effectLst>
                  <a:outerShdw blurRad="38100" dist="38100" dir="2700000" algn="tl">
                    <a:srgbClr val="000000">
                      <a:alpha val="43137"/>
                    </a:srgbClr>
                  </a:outerShdw>
                </a:effectLst>
                <a:latin typeface="Century Gothic" panose="020B0502020202020204" pitchFamily="34" charset="0"/>
              </a:rPr>
              <a:t> Table</a:t>
            </a:r>
          </a:p>
        </p:txBody>
      </p:sp>
      <p:pic>
        <p:nvPicPr>
          <p:cNvPr id="5" name="Picture 4">
            <a:extLst>
              <a:ext uri="{FF2B5EF4-FFF2-40B4-BE49-F238E27FC236}">
                <a16:creationId xmlns:a16="http://schemas.microsoft.com/office/drawing/2014/main" id="{BB4DB8DB-BC2D-4896-826C-17F4797E581E}"/>
              </a:ext>
            </a:extLst>
          </p:cNvPr>
          <p:cNvPicPr>
            <a:picLocks noChangeAspect="1"/>
          </p:cNvPicPr>
          <p:nvPr/>
        </p:nvPicPr>
        <p:blipFill rotWithShape="1">
          <a:blip r:embed="rId3">
            <a:extLst>
              <a:ext uri="{28A0092B-C50C-407E-A947-70E740481C1C}">
                <a14:useLocalDpi xmlns:a14="http://schemas.microsoft.com/office/drawing/2010/main" val="0"/>
              </a:ext>
            </a:extLst>
          </a:blip>
          <a:srcRect l="3692" t="6263" r="8848" b="14893"/>
          <a:stretch/>
        </p:blipFill>
        <p:spPr>
          <a:xfrm>
            <a:off x="391884" y="2087134"/>
            <a:ext cx="5343332" cy="2344343"/>
          </a:xfrm>
          <a:prstGeom prst="rect">
            <a:avLst/>
          </a:prstGeom>
          <a:ln w="22225">
            <a:solidFill>
              <a:schemeClr val="tx1"/>
            </a:solidFill>
          </a:ln>
        </p:spPr>
      </p:pic>
      <p:sp>
        <p:nvSpPr>
          <p:cNvPr id="6" name="TextBox 5">
            <a:extLst>
              <a:ext uri="{FF2B5EF4-FFF2-40B4-BE49-F238E27FC236}">
                <a16:creationId xmlns:a16="http://schemas.microsoft.com/office/drawing/2014/main" id="{FAE20C19-1E43-454E-9E75-7F5A4E485AB6}"/>
              </a:ext>
            </a:extLst>
          </p:cNvPr>
          <p:cNvSpPr txBox="1"/>
          <p:nvPr/>
        </p:nvSpPr>
        <p:spPr>
          <a:xfrm>
            <a:off x="6456785" y="2520642"/>
            <a:ext cx="5529944" cy="1477328"/>
          </a:xfrm>
          <a:prstGeom prst="rect">
            <a:avLst/>
          </a:prstGeom>
          <a:noFill/>
        </p:spPr>
        <p:txBody>
          <a:bodyPr wrap="square" rtlCol="0">
            <a:spAutoFit/>
          </a:bodyPr>
          <a:lstStyle/>
          <a:p>
            <a:pPr algn="ctr"/>
            <a:r>
              <a:rPr lang="en-US"/>
              <a:t>The </a:t>
            </a:r>
            <a:r>
              <a:rPr lang="en-US" b="1"/>
              <a:t>Hotels</a:t>
            </a:r>
            <a:r>
              <a:rPr lang="en-US"/>
              <a:t> table stores information about hotels available at different destinations. It helps manage accommodation options for travelers.</a:t>
            </a:r>
          </a:p>
          <a:p>
            <a:pPr algn="ctr"/>
            <a:endParaRPr lang="en-US"/>
          </a:p>
          <a:p>
            <a:pPr algn="ctr"/>
            <a:r>
              <a:rPr lang="en-US" b="1" u="sng"/>
              <a:t>Syntax</a:t>
            </a:r>
            <a:r>
              <a:rPr lang="en-US" b="1"/>
              <a:t>: DESCRIBE Hotels;</a:t>
            </a:r>
            <a:endParaRPr lang="en-IN" b="1"/>
          </a:p>
        </p:txBody>
      </p:sp>
    </p:spTree>
    <p:extLst>
      <p:ext uri="{BB962C8B-B14F-4D97-AF65-F5344CB8AC3E}">
        <p14:creationId xmlns:p14="http://schemas.microsoft.com/office/powerpoint/2010/main" val="21165232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2">
            <a:alphaModFix amt="60000"/>
          </a:blip>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9D377C-A28D-48A3-80C5-9286B2EA1099}"/>
              </a:ext>
            </a:extLst>
          </p:cNvPr>
          <p:cNvSpPr>
            <a:spLocks noGrp="1"/>
          </p:cNvSpPr>
          <p:nvPr>
            <p:ph type="title"/>
          </p:nvPr>
        </p:nvSpPr>
        <p:spPr>
          <a:xfrm>
            <a:off x="0" y="0"/>
            <a:ext cx="12192000" cy="783771"/>
          </a:xfrm>
        </p:spPr>
        <p:txBody>
          <a:bodyPr>
            <a:normAutofit/>
          </a:bodyPr>
          <a:lstStyle/>
          <a:p>
            <a:pPr algn="ctr"/>
            <a:r>
              <a:rPr lang="en-IN" sz="3000">
                <a:effectLst>
                  <a:outerShdw blurRad="38100" dist="38100" dir="2700000" algn="tl">
                    <a:srgbClr val="000000">
                      <a:alpha val="43137"/>
                    </a:srgbClr>
                  </a:outerShdw>
                </a:effectLst>
                <a:latin typeface="Century Gothic" panose="020B0502020202020204" pitchFamily="34" charset="0"/>
              </a:rPr>
              <a:t>Structure of </a:t>
            </a:r>
            <a:r>
              <a:rPr lang="en-IN" sz="3000" u="sng">
                <a:effectLst>
                  <a:outerShdw blurRad="38100" dist="38100" dir="2700000" algn="tl">
                    <a:srgbClr val="000000">
                      <a:alpha val="43137"/>
                    </a:srgbClr>
                  </a:outerShdw>
                </a:effectLst>
                <a:latin typeface="Century Gothic" panose="020B0502020202020204" pitchFamily="34" charset="0"/>
              </a:rPr>
              <a:t>TourPackages</a:t>
            </a:r>
            <a:r>
              <a:rPr lang="en-IN" sz="3000">
                <a:effectLst>
                  <a:outerShdw blurRad="38100" dist="38100" dir="2700000" algn="tl">
                    <a:srgbClr val="000000">
                      <a:alpha val="43137"/>
                    </a:srgbClr>
                  </a:outerShdw>
                </a:effectLst>
                <a:latin typeface="Century Gothic" panose="020B0502020202020204" pitchFamily="34" charset="0"/>
              </a:rPr>
              <a:t> Table</a:t>
            </a:r>
          </a:p>
        </p:txBody>
      </p:sp>
      <p:pic>
        <p:nvPicPr>
          <p:cNvPr id="5" name="Picture 4">
            <a:extLst>
              <a:ext uri="{FF2B5EF4-FFF2-40B4-BE49-F238E27FC236}">
                <a16:creationId xmlns:a16="http://schemas.microsoft.com/office/drawing/2014/main" id="{3DC827C7-6969-4BFF-A612-AB1997AA7AB0}"/>
              </a:ext>
            </a:extLst>
          </p:cNvPr>
          <p:cNvPicPr>
            <a:picLocks noChangeAspect="1"/>
          </p:cNvPicPr>
          <p:nvPr/>
        </p:nvPicPr>
        <p:blipFill rotWithShape="1">
          <a:blip r:embed="rId3">
            <a:extLst>
              <a:ext uri="{28A0092B-C50C-407E-A947-70E740481C1C}">
                <a14:useLocalDpi xmlns:a14="http://schemas.microsoft.com/office/drawing/2010/main" val="0"/>
              </a:ext>
            </a:extLst>
          </a:blip>
          <a:srcRect l="7217" t="8856" r="9366" b="16763"/>
          <a:stretch/>
        </p:blipFill>
        <p:spPr>
          <a:xfrm>
            <a:off x="468421" y="2034074"/>
            <a:ext cx="5360103" cy="2537927"/>
          </a:xfrm>
          <a:prstGeom prst="rect">
            <a:avLst/>
          </a:prstGeom>
          <a:ln w="22225">
            <a:solidFill>
              <a:schemeClr val="tx1"/>
            </a:solidFill>
          </a:ln>
        </p:spPr>
      </p:pic>
      <p:sp>
        <p:nvSpPr>
          <p:cNvPr id="16" name="TextBox 15">
            <a:extLst>
              <a:ext uri="{FF2B5EF4-FFF2-40B4-BE49-F238E27FC236}">
                <a16:creationId xmlns:a16="http://schemas.microsoft.com/office/drawing/2014/main" id="{13A10075-C7C6-4EBD-991A-3F6A72DD9ED1}"/>
              </a:ext>
            </a:extLst>
          </p:cNvPr>
          <p:cNvSpPr txBox="1"/>
          <p:nvPr/>
        </p:nvSpPr>
        <p:spPr>
          <a:xfrm>
            <a:off x="6363478" y="2485142"/>
            <a:ext cx="5747657" cy="1477328"/>
          </a:xfrm>
          <a:prstGeom prst="rect">
            <a:avLst/>
          </a:prstGeom>
          <a:noFill/>
        </p:spPr>
        <p:txBody>
          <a:bodyPr wrap="square" rtlCol="0">
            <a:spAutoFit/>
          </a:bodyPr>
          <a:lstStyle/>
          <a:p>
            <a:pPr algn="ctr"/>
            <a:r>
              <a:rPr lang="en-US"/>
              <a:t>The </a:t>
            </a:r>
            <a:r>
              <a:rPr lang="en-US" b="1"/>
              <a:t>TourPackages</a:t>
            </a:r>
            <a:r>
              <a:rPr lang="en-US"/>
              <a:t> table stores details of tour packages offered to customers. It includes package information such as price and destination.</a:t>
            </a:r>
          </a:p>
          <a:p>
            <a:pPr algn="ctr"/>
            <a:endParaRPr lang="en-US"/>
          </a:p>
          <a:p>
            <a:pPr algn="ctr"/>
            <a:r>
              <a:rPr lang="en-US" b="1" u="sng"/>
              <a:t>Syntax</a:t>
            </a:r>
            <a:r>
              <a:rPr lang="en-US" b="1"/>
              <a:t>: DESCRIBE TourPackages;</a:t>
            </a:r>
            <a:endParaRPr lang="en-IN" b="1"/>
          </a:p>
        </p:txBody>
      </p:sp>
    </p:spTree>
    <p:extLst>
      <p:ext uri="{BB962C8B-B14F-4D97-AF65-F5344CB8AC3E}">
        <p14:creationId xmlns:p14="http://schemas.microsoft.com/office/powerpoint/2010/main" val="10062671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2">
            <a:alphaModFix amt="60000"/>
          </a:blip>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EE14AF-FA19-437A-9748-4F31661F388D}"/>
              </a:ext>
            </a:extLst>
          </p:cNvPr>
          <p:cNvSpPr>
            <a:spLocks noGrp="1"/>
          </p:cNvSpPr>
          <p:nvPr>
            <p:ph type="title"/>
          </p:nvPr>
        </p:nvSpPr>
        <p:spPr>
          <a:xfrm>
            <a:off x="0" y="0"/>
            <a:ext cx="12192000" cy="727788"/>
          </a:xfrm>
        </p:spPr>
        <p:txBody>
          <a:bodyPr>
            <a:normAutofit/>
          </a:bodyPr>
          <a:lstStyle/>
          <a:p>
            <a:pPr algn="ctr"/>
            <a:r>
              <a:rPr lang="en-IN" sz="3000">
                <a:effectLst>
                  <a:outerShdw blurRad="38100" dist="38100" dir="2700000" algn="tl">
                    <a:srgbClr val="000000">
                      <a:alpha val="43137"/>
                    </a:srgbClr>
                  </a:outerShdw>
                </a:effectLst>
                <a:latin typeface="Century Gothic" panose="020B0502020202020204" pitchFamily="34" charset="0"/>
              </a:rPr>
              <a:t>Structure of </a:t>
            </a:r>
            <a:r>
              <a:rPr lang="en-IN" sz="3000" u="sng">
                <a:effectLst>
                  <a:outerShdw blurRad="38100" dist="38100" dir="2700000" algn="tl">
                    <a:srgbClr val="000000">
                      <a:alpha val="43137"/>
                    </a:srgbClr>
                  </a:outerShdw>
                </a:effectLst>
                <a:latin typeface="Century Gothic" panose="020B0502020202020204" pitchFamily="34" charset="0"/>
              </a:rPr>
              <a:t>Bookings</a:t>
            </a:r>
            <a:r>
              <a:rPr lang="en-IN" sz="3000">
                <a:effectLst>
                  <a:outerShdw blurRad="38100" dist="38100" dir="2700000" algn="tl">
                    <a:srgbClr val="000000">
                      <a:alpha val="43137"/>
                    </a:srgbClr>
                  </a:outerShdw>
                </a:effectLst>
                <a:latin typeface="Century Gothic" panose="020B0502020202020204" pitchFamily="34" charset="0"/>
              </a:rPr>
              <a:t> Table</a:t>
            </a:r>
          </a:p>
        </p:txBody>
      </p:sp>
      <p:pic>
        <p:nvPicPr>
          <p:cNvPr id="5" name="Picture 4">
            <a:extLst>
              <a:ext uri="{FF2B5EF4-FFF2-40B4-BE49-F238E27FC236}">
                <a16:creationId xmlns:a16="http://schemas.microsoft.com/office/drawing/2014/main" id="{63D49CDC-78B5-4FF0-BA7C-A55C847EBAAB}"/>
              </a:ext>
            </a:extLst>
          </p:cNvPr>
          <p:cNvPicPr>
            <a:picLocks noChangeAspect="1"/>
          </p:cNvPicPr>
          <p:nvPr/>
        </p:nvPicPr>
        <p:blipFill rotWithShape="1">
          <a:blip r:embed="rId3">
            <a:extLst>
              <a:ext uri="{28A0092B-C50C-407E-A947-70E740481C1C}">
                <a14:useLocalDpi xmlns:a14="http://schemas.microsoft.com/office/drawing/2010/main" val="0"/>
              </a:ext>
            </a:extLst>
          </a:blip>
          <a:srcRect l="9603" t="6983" r="8282" b="12719"/>
          <a:stretch/>
        </p:blipFill>
        <p:spPr>
          <a:xfrm>
            <a:off x="494521" y="2099386"/>
            <a:ext cx="4879911" cy="2417290"/>
          </a:xfrm>
          <a:prstGeom prst="rect">
            <a:avLst/>
          </a:prstGeom>
          <a:ln w="22225">
            <a:solidFill>
              <a:schemeClr val="tx1"/>
            </a:solidFill>
          </a:ln>
          <a:effectLst>
            <a:softEdge rad="0"/>
          </a:effectLst>
        </p:spPr>
      </p:pic>
      <p:sp>
        <p:nvSpPr>
          <p:cNvPr id="9" name="TextBox 8">
            <a:extLst>
              <a:ext uri="{FF2B5EF4-FFF2-40B4-BE49-F238E27FC236}">
                <a16:creationId xmlns:a16="http://schemas.microsoft.com/office/drawing/2014/main" id="{1F676D20-4F03-4EA2-A39D-4A488869E73B}"/>
              </a:ext>
            </a:extLst>
          </p:cNvPr>
          <p:cNvSpPr txBox="1"/>
          <p:nvPr/>
        </p:nvSpPr>
        <p:spPr>
          <a:xfrm>
            <a:off x="6170645" y="2569367"/>
            <a:ext cx="5445967" cy="1477328"/>
          </a:xfrm>
          <a:prstGeom prst="rect">
            <a:avLst/>
          </a:prstGeom>
          <a:noFill/>
        </p:spPr>
        <p:txBody>
          <a:bodyPr wrap="square" rtlCol="0">
            <a:spAutoFit/>
          </a:bodyPr>
          <a:lstStyle/>
          <a:p>
            <a:pPr algn="ctr"/>
            <a:r>
              <a:rPr lang="en-US"/>
              <a:t>The </a:t>
            </a:r>
            <a:r>
              <a:rPr lang="en-US" b="1"/>
              <a:t>Bookings</a:t>
            </a:r>
            <a:r>
              <a:rPr lang="en-US"/>
              <a:t> table stores records of tour package bookings made by customers. It links customers with their selected tour packages and travel details.</a:t>
            </a:r>
          </a:p>
          <a:p>
            <a:pPr algn="ctr"/>
            <a:endParaRPr lang="en-US"/>
          </a:p>
          <a:p>
            <a:pPr algn="ctr"/>
            <a:r>
              <a:rPr lang="en-US" b="1" u="sng"/>
              <a:t>Syntax</a:t>
            </a:r>
            <a:r>
              <a:rPr lang="en-US" b="1"/>
              <a:t>: DESCRIBE Bookings;</a:t>
            </a:r>
            <a:endParaRPr lang="en-IN" b="1"/>
          </a:p>
        </p:txBody>
      </p:sp>
    </p:spTree>
    <p:extLst>
      <p:ext uri="{BB962C8B-B14F-4D97-AF65-F5344CB8AC3E}">
        <p14:creationId xmlns:p14="http://schemas.microsoft.com/office/powerpoint/2010/main" val="32576294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2">
            <a:alphaModFix amt="60000"/>
          </a:blip>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C80F6-16DD-4556-893A-EEC12FDB097B}"/>
              </a:ext>
            </a:extLst>
          </p:cNvPr>
          <p:cNvSpPr>
            <a:spLocks noGrp="1"/>
          </p:cNvSpPr>
          <p:nvPr>
            <p:ph type="title"/>
          </p:nvPr>
        </p:nvSpPr>
        <p:spPr>
          <a:xfrm>
            <a:off x="0" y="0"/>
            <a:ext cx="12192000" cy="765110"/>
          </a:xfrm>
        </p:spPr>
        <p:txBody>
          <a:bodyPr>
            <a:normAutofit/>
          </a:bodyPr>
          <a:lstStyle/>
          <a:p>
            <a:pPr algn="ctr"/>
            <a:r>
              <a:rPr lang="en-IN" sz="3000">
                <a:effectLst>
                  <a:outerShdw blurRad="38100" dist="38100" dir="2700000" algn="tl">
                    <a:srgbClr val="000000">
                      <a:alpha val="43137"/>
                    </a:srgbClr>
                  </a:outerShdw>
                </a:effectLst>
                <a:latin typeface="Century Gothic" panose="020B0502020202020204" pitchFamily="34" charset="0"/>
              </a:rPr>
              <a:t>Structure of </a:t>
            </a:r>
            <a:r>
              <a:rPr lang="en-IN" sz="3000" u="sng">
                <a:effectLst>
                  <a:outerShdw blurRad="38100" dist="38100" dir="2700000" algn="tl">
                    <a:srgbClr val="000000">
                      <a:alpha val="43137"/>
                    </a:srgbClr>
                  </a:outerShdw>
                </a:effectLst>
                <a:latin typeface="Century Gothic" panose="020B0502020202020204" pitchFamily="34" charset="0"/>
              </a:rPr>
              <a:t>Payments</a:t>
            </a:r>
            <a:r>
              <a:rPr lang="en-IN" sz="3000">
                <a:effectLst>
                  <a:outerShdw blurRad="38100" dist="38100" dir="2700000" algn="tl">
                    <a:srgbClr val="000000">
                      <a:alpha val="43137"/>
                    </a:srgbClr>
                  </a:outerShdw>
                </a:effectLst>
                <a:latin typeface="Century Gothic" panose="020B0502020202020204" pitchFamily="34" charset="0"/>
              </a:rPr>
              <a:t> Table</a:t>
            </a:r>
          </a:p>
        </p:txBody>
      </p:sp>
      <p:pic>
        <p:nvPicPr>
          <p:cNvPr id="5" name="Picture 4">
            <a:extLst>
              <a:ext uri="{FF2B5EF4-FFF2-40B4-BE49-F238E27FC236}">
                <a16:creationId xmlns:a16="http://schemas.microsoft.com/office/drawing/2014/main" id="{D6A8F53D-871C-4FBA-9E29-FE3E41B820E8}"/>
              </a:ext>
            </a:extLst>
          </p:cNvPr>
          <p:cNvPicPr>
            <a:picLocks noChangeAspect="1"/>
          </p:cNvPicPr>
          <p:nvPr/>
        </p:nvPicPr>
        <p:blipFill rotWithShape="1">
          <a:blip r:embed="rId3">
            <a:extLst>
              <a:ext uri="{28A0092B-C50C-407E-A947-70E740481C1C}">
                <a14:useLocalDpi xmlns:a14="http://schemas.microsoft.com/office/drawing/2010/main" val="0"/>
              </a:ext>
            </a:extLst>
          </a:blip>
          <a:srcRect l="10082" t="13967" r="12196" b="13967"/>
          <a:stretch/>
        </p:blipFill>
        <p:spPr>
          <a:xfrm>
            <a:off x="435858" y="2091028"/>
            <a:ext cx="4883799" cy="2675943"/>
          </a:xfrm>
          <a:prstGeom prst="rect">
            <a:avLst/>
          </a:prstGeom>
          <a:ln w="22225">
            <a:solidFill>
              <a:schemeClr val="tx1"/>
            </a:solidFill>
          </a:ln>
        </p:spPr>
      </p:pic>
      <p:sp>
        <p:nvSpPr>
          <p:cNvPr id="6" name="TextBox 5">
            <a:extLst>
              <a:ext uri="{FF2B5EF4-FFF2-40B4-BE49-F238E27FC236}">
                <a16:creationId xmlns:a16="http://schemas.microsoft.com/office/drawing/2014/main" id="{F8E9204D-6015-44B1-9AEB-C0AFF8F1C1EC}"/>
              </a:ext>
            </a:extLst>
          </p:cNvPr>
          <p:cNvSpPr txBox="1"/>
          <p:nvPr/>
        </p:nvSpPr>
        <p:spPr>
          <a:xfrm>
            <a:off x="5834570" y="2690335"/>
            <a:ext cx="6239070" cy="1477328"/>
          </a:xfrm>
          <a:prstGeom prst="rect">
            <a:avLst/>
          </a:prstGeom>
          <a:noFill/>
        </p:spPr>
        <p:txBody>
          <a:bodyPr wrap="square" rtlCol="0">
            <a:spAutoFit/>
          </a:bodyPr>
          <a:lstStyle/>
          <a:p>
            <a:pPr algn="ctr"/>
            <a:r>
              <a:rPr lang="en-US"/>
              <a:t>The </a:t>
            </a:r>
            <a:r>
              <a:rPr lang="en-US" b="1"/>
              <a:t>Payments</a:t>
            </a:r>
            <a:r>
              <a:rPr lang="en-US"/>
              <a:t> table stores payment details related to customer bookings. It helps track transaction amounts, payment methods, and payment dates.</a:t>
            </a:r>
          </a:p>
          <a:p>
            <a:pPr algn="ctr"/>
            <a:endParaRPr lang="en-US"/>
          </a:p>
          <a:p>
            <a:pPr algn="ctr"/>
            <a:r>
              <a:rPr lang="en-US" b="1" u="sng"/>
              <a:t>Syntax</a:t>
            </a:r>
            <a:r>
              <a:rPr lang="en-US" b="1"/>
              <a:t>: DESCRIBE Payments;</a:t>
            </a:r>
            <a:endParaRPr lang="en-IN" b="1"/>
          </a:p>
        </p:txBody>
      </p:sp>
    </p:spTree>
    <p:extLst>
      <p:ext uri="{BB962C8B-B14F-4D97-AF65-F5344CB8AC3E}">
        <p14:creationId xmlns:p14="http://schemas.microsoft.com/office/powerpoint/2010/main" val="18227423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2">
            <a:alphaModFix amt="60000"/>
          </a:blip>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CA836-9B03-4052-BA09-71D78D103BE4}"/>
              </a:ext>
            </a:extLst>
          </p:cNvPr>
          <p:cNvSpPr>
            <a:spLocks noGrp="1"/>
          </p:cNvSpPr>
          <p:nvPr>
            <p:ph type="title"/>
          </p:nvPr>
        </p:nvSpPr>
        <p:spPr>
          <a:xfrm>
            <a:off x="0" y="0"/>
            <a:ext cx="12192000" cy="746450"/>
          </a:xfrm>
        </p:spPr>
        <p:txBody>
          <a:bodyPr>
            <a:normAutofit/>
          </a:bodyPr>
          <a:lstStyle/>
          <a:p>
            <a:pPr algn="ctr"/>
            <a:r>
              <a:rPr lang="en-IN" sz="3000">
                <a:effectLst>
                  <a:outerShdw blurRad="38100" dist="38100" dir="2700000" algn="tl">
                    <a:srgbClr val="000000">
                      <a:alpha val="43137"/>
                    </a:srgbClr>
                  </a:outerShdw>
                </a:effectLst>
                <a:latin typeface="Century Gothic" panose="020B0502020202020204" pitchFamily="34" charset="0"/>
              </a:rPr>
              <a:t>Structure of </a:t>
            </a:r>
            <a:r>
              <a:rPr lang="en-IN" sz="3000" u="sng">
                <a:effectLst>
                  <a:outerShdw blurRad="38100" dist="38100" dir="2700000" algn="tl">
                    <a:srgbClr val="000000">
                      <a:alpha val="43137"/>
                    </a:srgbClr>
                  </a:outerShdw>
                </a:effectLst>
                <a:latin typeface="Century Gothic" panose="020B0502020202020204" pitchFamily="34" charset="0"/>
              </a:rPr>
              <a:t>Reviews</a:t>
            </a:r>
            <a:r>
              <a:rPr lang="en-IN" sz="3000">
                <a:effectLst>
                  <a:outerShdw blurRad="38100" dist="38100" dir="2700000" algn="tl">
                    <a:srgbClr val="000000">
                      <a:alpha val="43137"/>
                    </a:srgbClr>
                  </a:outerShdw>
                </a:effectLst>
                <a:latin typeface="Century Gothic" panose="020B0502020202020204" pitchFamily="34" charset="0"/>
              </a:rPr>
              <a:t> Table</a:t>
            </a:r>
          </a:p>
        </p:txBody>
      </p:sp>
      <p:pic>
        <p:nvPicPr>
          <p:cNvPr id="5" name="Picture 4">
            <a:extLst>
              <a:ext uri="{FF2B5EF4-FFF2-40B4-BE49-F238E27FC236}">
                <a16:creationId xmlns:a16="http://schemas.microsoft.com/office/drawing/2014/main" id="{BC9AE684-96F7-4EBE-8F98-2B18CDD9EB81}"/>
              </a:ext>
            </a:extLst>
          </p:cNvPr>
          <p:cNvPicPr>
            <a:picLocks noChangeAspect="1"/>
          </p:cNvPicPr>
          <p:nvPr/>
        </p:nvPicPr>
        <p:blipFill rotWithShape="1">
          <a:blip r:embed="rId3">
            <a:extLst>
              <a:ext uri="{28A0092B-C50C-407E-A947-70E740481C1C}">
                <a14:useLocalDpi xmlns:a14="http://schemas.microsoft.com/office/drawing/2010/main" val="0"/>
              </a:ext>
            </a:extLst>
          </a:blip>
          <a:srcRect l="7375" t="10453" r="21886" b="13731"/>
          <a:stretch/>
        </p:blipFill>
        <p:spPr>
          <a:xfrm>
            <a:off x="438538" y="1996751"/>
            <a:ext cx="4912210" cy="2565917"/>
          </a:xfrm>
          <a:prstGeom prst="rect">
            <a:avLst/>
          </a:prstGeom>
          <a:ln w="22225">
            <a:solidFill>
              <a:schemeClr val="tx1"/>
            </a:solidFill>
          </a:ln>
        </p:spPr>
      </p:pic>
      <p:sp>
        <p:nvSpPr>
          <p:cNvPr id="6" name="TextBox 5">
            <a:extLst>
              <a:ext uri="{FF2B5EF4-FFF2-40B4-BE49-F238E27FC236}">
                <a16:creationId xmlns:a16="http://schemas.microsoft.com/office/drawing/2014/main" id="{314FDC0B-2F17-4B40-B4EE-F9D58063F828}"/>
              </a:ext>
            </a:extLst>
          </p:cNvPr>
          <p:cNvSpPr txBox="1"/>
          <p:nvPr/>
        </p:nvSpPr>
        <p:spPr>
          <a:xfrm>
            <a:off x="5791201" y="2536381"/>
            <a:ext cx="5962261" cy="1477328"/>
          </a:xfrm>
          <a:prstGeom prst="rect">
            <a:avLst/>
          </a:prstGeom>
          <a:noFill/>
        </p:spPr>
        <p:txBody>
          <a:bodyPr wrap="square" rtlCol="0">
            <a:spAutoFit/>
          </a:bodyPr>
          <a:lstStyle/>
          <a:p>
            <a:pPr algn="ctr"/>
            <a:r>
              <a:rPr lang="en-US"/>
              <a:t>The </a:t>
            </a:r>
            <a:r>
              <a:rPr lang="en-US" b="1"/>
              <a:t>Reviews</a:t>
            </a:r>
            <a:r>
              <a:rPr lang="en-US"/>
              <a:t> table stores customer feedback and ratings for tour packages. It helps measure customer satisfaction and service quality.</a:t>
            </a:r>
          </a:p>
          <a:p>
            <a:pPr algn="ctr"/>
            <a:endParaRPr lang="en-US"/>
          </a:p>
          <a:p>
            <a:pPr algn="ctr"/>
            <a:r>
              <a:rPr lang="en-US" b="1" u="sng"/>
              <a:t>Syntax</a:t>
            </a:r>
            <a:r>
              <a:rPr lang="en-US" b="1"/>
              <a:t>: DESCRIBE Reviews;</a:t>
            </a:r>
            <a:endParaRPr lang="en-IN" b="1"/>
          </a:p>
        </p:txBody>
      </p:sp>
    </p:spTree>
    <p:extLst>
      <p:ext uri="{BB962C8B-B14F-4D97-AF65-F5344CB8AC3E}">
        <p14:creationId xmlns:p14="http://schemas.microsoft.com/office/powerpoint/2010/main" val="7191450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4A9BF0-30A8-4744-A6C5-7BB611808CAB}"/>
              </a:ext>
            </a:extLst>
          </p:cNvPr>
          <p:cNvSpPr>
            <a:spLocks noGrp="1"/>
          </p:cNvSpPr>
          <p:nvPr>
            <p:ph type="title"/>
          </p:nvPr>
        </p:nvSpPr>
        <p:spPr>
          <a:xfrm>
            <a:off x="0" y="2821583"/>
            <a:ext cx="12192000" cy="919993"/>
          </a:xfrm>
        </p:spPr>
        <p:txBody>
          <a:bodyPr>
            <a:normAutofit/>
          </a:bodyPr>
          <a:lstStyle/>
          <a:p>
            <a:pPr algn="ctr"/>
            <a:r>
              <a:rPr lang="en-IN" sz="3500" i="1" u="sng">
                <a:solidFill>
                  <a:schemeClr val="bg1"/>
                </a:solidFill>
                <a:effectLst>
                  <a:outerShdw blurRad="38100" dist="38100" dir="2700000" algn="tl">
                    <a:srgbClr val="000000">
                      <a:alpha val="43137"/>
                    </a:srgbClr>
                  </a:outerShdw>
                </a:effectLst>
                <a:latin typeface="Century Gothic" panose="020B0502020202020204" pitchFamily="34" charset="0"/>
              </a:rPr>
              <a:t>Contents of Tables </a:t>
            </a:r>
          </a:p>
        </p:txBody>
      </p:sp>
      <p:pic>
        <p:nvPicPr>
          <p:cNvPr id="7" name="Picture 6">
            <a:extLst>
              <a:ext uri="{FF2B5EF4-FFF2-40B4-BE49-F238E27FC236}">
                <a16:creationId xmlns:a16="http://schemas.microsoft.com/office/drawing/2014/main" id="{51DA2BC3-5F48-4104-BE1D-062E56D197B3}"/>
              </a:ext>
            </a:extLst>
          </p:cNvPr>
          <p:cNvPicPr>
            <a:picLocks noChangeAspect="1"/>
          </p:cNvPicPr>
          <p:nvPr/>
        </p:nvPicPr>
        <p:blipFill rotWithShape="1">
          <a:blip r:embed="rId2">
            <a:extLst>
              <a:ext uri="{28A0092B-C50C-407E-A947-70E740481C1C}">
                <a14:useLocalDpi xmlns:a14="http://schemas.microsoft.com/office/drawing/2010/main" val="0"/>
              </a:ext>
            </a:extLst>
          </a:blip>
          <a:srcRect b="5699"/>
          <a:stretch/>
        </p:blipFill>
        <p:spPr>
          <a:xfrm rot="207493" flipH="1">
            <a:off x="-225738" y="1026363"/>
            <a:ext cx="5425368" cy="5883138"/>
          </a:xfrm>
          <a:prstGeom prst="rect">
            <a:avLst/>
          </a:prstGeom>
        </p:spPr>
      </p:pic>
    </p:spTree>
    <p:extLst>
      <p:ext uri="{BB962C8B-B14F-4D97-AF65-F5344CB8AC3E}">
        <p14:creationId xmlns:p14="http://schemas.microsoft.com/office/powerpoint/2010/main" val="2243840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60000"/>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BDC14E-DE03-47F7-9875-4D52D0CE0DF6}"/>
              </a:ext>
            </a:extLst>
          </p:cNvPr>
          <p:cNvSpPr>
            <a:spLocks noGrp="1"/>
          </p:cNvSpPr>
          <p:nvPr>
            <p:ph type="title"/>
          </p:nvPr>
        </p:nvSpPr>
        <p:spPr>
          <a:xfrm>
            <a:off x="0" y="1"/>
            <a:ext cx="12192000" cy="609600"/>
          </a:xfrm>
        </p:spPr>
        <p:txBody>
          <a:bodyPr>
            <a:normAutofit/>
          </a:bodyPr>
          <a:lstStyle/>
          <a:p>
            <a:pPr algn="ctr"/>
            <a:r>
              <a:rPr lang="en-IN" sz="3000">
                <a:effectLst>
                  <a:outerShdw blurRad="38100" dist="38100" dir="2700000" algn="tl">
                    <a:srgbClr val="000000">
                      <a:alpha val="43137"/>
                    </a:srgbClr>
                  </a:outerShdw>
                </a:effectLst>
                <a:latin typeface="Century Gothic" panose="020B0502020202020204" pitchFamily="34" charset="0"/>
              </a:rPr>
              <a:t>Contents of </a:t>
            </a:r>
            <a:r>
              <a:rPr lang="en-IN" sz="3000" u="sng">
                <a:effectLst>
                  <a:outerShdw blurRad="38100" dist="38100" dir="2700000" algn="tl">
                    <a:srgbClr val="000000">
                      <a:alpha val="43137"/>
                    </a:srgbClr>
                  </a:outerShdw>
                </a:effectLst>
                <a:latin typeface="Century Gothic" panose="020B0502020202020204" pitchFamily="34" charset="0"/>
              </a:rPr>
              <a:t>Customers</a:t>
            </a:r>
            <a:r>
              <a:rPr lang="en-IN" sz="3000">
                <a:effectLst>
                  <a:outerShdw blurRad="38100" dist="38100" dir="2700000" algn="tl">
                    <a:srgbClr val="000000">
                      <a:alpha val="43137"/>
                    </a:srgbClr>
                  </a:outerShdw>
                </a:effectLst>
                <a:latin typeface="Century Gothic" panose="020B0502020202020204" pitchFamily="34" charset="0"/>
              </a:rPr>
              <a:t> Table</a:t>
            </a:r>
          </a:p>
        </p:txBody>
      </p:sp>
      <p:grpSp>
        <p:nvGrpSpPr>
          <p:cNvPr id="9" name="Group 8">
            <a:extLst>
              <a:ext uri="{FF2B5EF4-FFF2-40B4-BE49-F238E27FC236}">
                <a16:creationId xmlns:a16="http://schemas.microsoft.com/office/drawing/2014/main" id="{769D3423-EDB3-48E6-942E-86A8A67DBBB7}"/>
              </a:ext>
            </a:extLst>
          </p:cNvPr>
          <p:cNvGrpSpPr/>
          <p:nvPr/>
        </p:nvGrpSpPr>
        <p:grpSpPr>
          <a:xfrm>
            <a:off x="194733" y="609601"/>
            <a:ext cx="4827328" cy="6229111"/>
            <a:chOff x="252672" y="609601"/>
            <a:chExt cx="4827328" cy="6229111"/>
          </a:xfrm>
        </p:grpSpPr>
        <p:pic>
          <p:nvPicPr>
            <p:cNvPr id="5" name="Picture 4">
              <a:extLst>
                <a:ext uri="{FF2B5EF4-FFF2-40B4-BE49-F238E27FC236}">
                  <a16:creationId xmlns:a16="http://schemas.microsoft.com/office/drawing/2014/main" id="{0FDD645C-8187-4A8E-896D-9419D5F998EC}"/>
                </a:ext>
              </a:extLst>
            </p:cNvPr>
            <p:cNvPicPr>
              <a:picLocks noChangeAspect="1"/>
            </p:cNvPicPr>
            <p:nvPr/>
          </p:nvPicPr>
          <p:blipFill rotWithShape="1">
            <a:blip r:embed="rId3">
              <a:extLst>
                <a:ext uri="{28A0092B-C50C-407E-A947-70E740481C1C}">
                  <a14:useLocalDpi xmlns:a14="http://schemas.microsoft.com/office/drawing/2010/main" val="0"/>
                </a:ext>
              </a:extLst>
            </a:blip>
            <a:srcRect l="11413" t="21801" r="63263" b="17565"/>
            <a:stretch/>
          </p:blipFill>
          <p:spPr>
            <a:xfrm>
              <a:off x="252673" y="609601"/>
              <a:ext cx="4827327" cy="4419599"/>
            </a:xfrm>
            <a:prstGeom prst="rect">
              <a:avLst/>
            </a:prstGeom>
          </p:spPr>
        </p:pic>
        <p:pic>
          <p:nvPicPr>
            <p:cNvPr id="7" name="Picture 6">
              <a:extLst>
                <a:ext uri="{FF2B5EF4-FFF2-40B4-BE49-F238E27FC236}">
                  <a16:creationId xmlns:a16="http://schemas.microsoft.com/office/drawing/2014/main" id="{8C3127EF-4FF3-4E99-97C4-80C1C9C2EA7C}"/>
                </a:ext>
              </a:extLst>
            </p:cNvPr>
            <p:cNvPicPr>
              <a:picLocks noChangeAspect="1"/>
            </p:cNvPicPr>
            <p:nvPr/>
          </p:nvPicPr>
          <p:blipFill rotWithShape="1">
            <a:blip r:embed="rId4">
              <a:extLst>
                <a:ext uri="{28A0092B-C50C-407E-A947-70E740481C1C}">
                  <a14:useLocalDpi xmlns:a14="http://schemas.microsoft.com/office/drawing/2010/main" val="0"/>
                </a:ext>
              </a:extLst>
            </a:blip>
            <a:srcRect l="11446" t="53882" r="63248" b="17541"/>
            <a:stretch/>
          </p:blipFill>
          <p:spPr>
            <a:xfrm>
              <a:off x="252672" y="5029200"/>
              <a:ext cx="4827327" cy="1809512"/>
            </a:xfrm>
            <a:prstGeom prst="rect">
              <a:avLst/>
            </a:prstGeom>
          </p:spPr>
        </p:pic>
      </p:grpSp>
      <p:sp>
        <p:nvSpPr>
          <p:cNvPr id="8" name="TextBox 7">
            <a:extLst>
              <a:ext uri="{FF2B5EF4-FFF2-40B4-BE49-F238E27FC236}">
                <a16:creationId xmlns:a16="http://schemas.microsoft.com/office/drawing/2014/main" id="{BD716D85-1EE5-40BF-917F-252CC58419A2}"/>
              </a:ext>
            </a:extLst>
          </p:cNvPr>
          <p:cNvSpPr txBox="1"/>
          <p:nvPr/>
        </p:nvSpPr>
        <p:spPr>
          <a:xfrm>
            <a:off x="6096000" y="2690336"/>
            <a:ext cx="5901267" cy="1200329"/>
          </a:xfrm>
          <a:prstGeom prst="rect">
            <a:avLst/>
          </a:prstGeom>
          <a:noFill/>
        </p:spPr>
        <p:txBody>
          <a:bodyPr wrap="square" rtlCol="0">
            <a:spAutoFit/>
          </a:bodyPr>
          <a:lstStyle/>
          <a:p>
            <a:pPr algn="ctr"/>
            <a:r>
              <a:rPr lang="en-US"/>
              <a:t>This table contains Customer ID, Customer Name, Email, Phone Number, City, as customer-related attributes.</a:t>
            </a:r>
          </a:p>
          <a:p>
            <a:pPr algn="ctr"/>
            <a:endParaRPr lang="en-US"/>
          </a:p>
          <a:p>
            <a:pPr algn="ctr"/>
            <a:r>
              <a:rPr lang="en-US" b="1" u="sng"/>
              <a:t>Syntax</a:t>
            </a:r>
            <a:r>
              <a:rPr lang="en-US" b="1"/>
              <a:t>: select * from Customers;</a:t>
            </a:r>
            <a:endParaRPr lang="en-IN" b="1"/>
          </a:p>
        </p:txBody>
      </p:sp>
    </p:spTree>
    <p:extLst>
      <p:ext uri="{BB962C8B-B14F-4D97-AF65-F5344CB8AC3E}">
        <p14:creationId xmlns:p14="http://schemas.microsoft.com/office/powerpoint/2010/main" val="38021639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2">
            <a:alphaModFix amt="60000"/>
          </a:blip>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F4490A-9DB3-49A3-BC53-7FA74CBC7D37}"/>
              </a:ext>
            </a:extLst>
          </p:cNvPr>
          <p:cNvSpPr>
            <a:spLocks noGrp="1"/>
          </p:cNvSpPr>
          <p:nvPr>
            <p:ph type="title"/>
          </p:nvPr>
        </p:nvSpPr>
        <p:spPr>
          <a:xfrm>
            <a:off x="0" y="0"/>
            <a:ext cx="12192000" cy="685800"/>
          </a:xfrm>
        </p:spPr>
        <p:txBody>
          <a:bodyPr>
            <a:normAutofit/>
          </a:bodyPr>
          <a:lstStyle/>
          <a:p>
            <a:pPr algn="ctr"/>
            <a:r>
              <a:rPr lang="en-IN" sz="3000">
                <a:effectLst>
                  <a:outerShdw blurRad="38100" dist="38100" dir="2700000" algn="tl">
                    <a:srgbClr val="000000">
                      <a:alpha val="43137"/>
                    </a:srgbClr>
                  </a:outerShdw>
                </a:effectLst>
                <a:latin typeface="Century Gothic" panose="020B0502020202020204" pitchFamily="34" charset="0"/>
              </a:rPr>
              <a:t>Contents of </a:t>
            </a:r>
            <a:r>
              <a:rPr lang="en-IN" sz="3000" u="sng">
                <a:effectLst>
                  <a:outerShdw blurRad="38100" dist="38100" dir="2700000" algn="tl">
                    <a:srgbClr val="000000">
                      <a:alpha val="43137"/>
                    </a:srgbClr>
                  </a:outerShdw>
                </a:effectLst>
                <a:latin typeface="Century Gothic" panose="020B0502020202020204" pitchFamily="34" charset="0"/>
              </a:rPr>
              <a:t>Destinations</a:t>
            </a:r>
            <a:r>
              <a:rPr lang="en-IN" sz="3000">
                <a:effectLst>
                  <a:outerShdw blurRad="38100" dist="38100" dir="2700000" algn="tl">
                    <a:srgbClr val="000000">
                      <a:alpha val="43137"/>
                    </a:srgbClr>
                  </a:outerShdw>
                </a:effectLst>
                <a:latin typeface="Century Gothic" panose="020B0502020202020204" pitchFamily="34" charset="0"/>
              </a:rPr>
              <a:t> Table</a:t>
            </a:r>
          </a:p>
        </p:txBody>
      </p:sp>
      <p:pic>
        <p:nvPicPr>
          <p:cNvPr id="5" name="Picture 4">
            <a:extLst>
              <a:ext uri="{FF2B5EF4-FFF2-40B4-BE49-F238E27FC236}">
                <a16:creationId xmlns:a16="http://schemas.microsoft.com/office/drawing/2014/main" id="{9D6975EA-5ECA-4B4B-B9B4-73BD191F30F6}"/>
              </a:ext>
            </a:extLst>
          </p:cNvPr>
          <p:cNvPicPr>
            <a:picLocks noChangeAspect="1"/>
          </p:cNvPicPr>
          <p:nvPr/>
        </p:nvPicPr>
        <p:blipFill rotWithShape="1">
          <a:blip r:embed="rId3">
            <a:extLst>
              <a:ext uri="{28A0092B-C50C-407E-A947-70E740481C1C}">
                <a14:useLocalDpi xmlns:a14="http://schemas.microsoft.com/office/drawing/2010/main" val="0"/>
              </a:ext>
            </a:extLst>
          </a:blip>
          <a:srcRect l="13078" t="8895" r="17436" b="8524"/>
          <a:stretch/>
        </p:blipFill>
        <p:spPr>
          <a:xfrm>
            <a:off x="447674" y="995451"/>
            <a:ext cx="3810001" cy="4943475"/>
          </a:xfrm>
          <a:prstGeom prst="rect">
            <a:avLst/>
          </a:prstGeom>
          <a:ln w="22225">
            <a:solidFill>
              <a:schemeClr val="tx1"/>
            </a:solidFill>
          </a:ln>
        </p:spPr>
      </p:pic>
      <p:sp>
        <p:nvSpPr>
          <p:cNvPr id="6" name="TextBox 5">
            <a:extLst>
              <a:ext uri="{FF2B5EF4-FFF2-40B4-BE49-F238E27FC236}">
                <a16:creationId xmlns:a16="http://schemas.microsoft.com/office/drawing/2014/main" id="{876F032C-C79D-4D0C-9DD7-7CBD3AE56679}"/>
              </a:ext>
            </a:extLst>
          </p:cNvPr>
          <p:cNvSpPr txBox="1"/>
          <p:nvPr/>
        </p:nvSpPr>
        <p:spPr>
          <a:xfrm>
            <a:off x="5276850" y="2867025"/>
            <a:ext cx="6334125" cy="1200329"/>
          </a:xfrm>
          <a:prstGeom prst="rect">
            <a:avLst/>
          </a:prstGeom>
          <a:noFill/>
        </p:spPr>
        <p:txBody>
          <a:bodyPr wrap="square" rtlCol="0">
            <a:spAutoFit/>
          </a:bodyPr>
          <a:lstStyle/>
          <a:p>
            <a:pPr algn="ctr"/>
            <a:r>
              <a:rPr lang="en-US"/>
              <a:t>The table contains Destination ID, Destination Name, Country, and other destination-related details.</a:t>
            </a:r>
          </a:p>
          <a:p>
            <a:pPr algn="ctr"/>
            <a:endParaRPr lang="en-US"/>
          </a:p>
          <a:p>
            <a:pPr algn="ctr"/>
            <a:r>
              <a:rPr lang="en-US" b="1" u="sng"/>
              <a:t>Syntax</a:t>
            </a:r>
            <a:r>
              <a:rPr lang="en-US" b="1"/>
              <a:t>: select * from Destinations;</a:t>
            </a:r>
            <a:endParaRPr lang="en-IN" b="1"/>
          </a:p>
        </p:txBody>
      </p:sp>
    </p:spTree>
    <p:extLst>
      <p:ext uri="{BB962C8B-B14F-4D97-AF65-F5344CB8AC3E}">
        <p14:creationId xmlns:p14="http://schemas.microsoft.com/office/powerpoint/2010/main" val="38506400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2">
            <a:alphaModFix amt="60000"/>
          </a:blip>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FEECA-9C2F-4112-AE04-0E058A6997C0}"/>
              </a:ext>
            </a:extLst>
          </p:cNvPr>
          <p:cNvSpPr>
            <a:spLocks noGrp="1"/>
          </p:cNvSpPr>
          <p:nvPr>
            <p:ph type="title"/>
          </p:nvPr>
        </p:nvSpPr>
        <p:spPr>
          <a:xfrm>
            <a:off x="0" y="0"/>
            <a:ext cx="12192000" cy="771525"/>
          </a:xfrm>
        </p:spPr>
        <p:txBody>
          <a:bodyPr>
            <a:normAutofit/>
          </a:bodyPr>
          <a:lstStyle/>
          <a:p>
            <a:pPr algn="ctr"/>
            <a:r>
              <a:rPr lang="en-IN" sz="3000">
                <a:effectLst>
                  <a:outerShdw blurRad="38100" dist="38100" dir="2700000" algn="tl">
                    <a:srgbClr val="000000">
                      <a:alpha val="43137"/>
                    </a:srgbClr>
                  </a:outerShdw>
                </a:effectLst>
                <a:latin typeface="Century Gothic" panose="020B0502020202020204" pitchFamily="34" charset="0"/>
              </a:rPr>
              <a:t>Contents of </a:t>
            </a:r>
            <a:r>
              <a:rPr lang="en-IN" sz="3000" u="sng">
                <a:effectLst>
                  <a:outerShdw blurRad="38100" dist="38100" dir="2700000" algn="tl">
                    <a:srgbClr val="000000">
                      <a:alpha val="43137"/>
                    </a:srgbClr>
                  </a:outerShdw>
                </a:effectLst>
                <a:latin typeface="Century Gothic" panose="020B0502020202020204" pitchFamily="34" charset="0"/>
              </a:rPr>
              <a:t>Hotels</a:t>
            </a:r>
            <a:r>
              <a:rPr lang="en-IN" sz="3000">
                <a:effectLst>
                  <a:outerShdw blurRad="38100" dist="38100" dir="2700000" algn="tl">
                    <a:srgbClr val="000000">
                      <a:alpha val="43137"/>
                    </a:srgbClr>
                  </a:outerShdw>
                </a:effectLst>
                <a:latin typeface="Century Gothic" panose="020B0502020202020204" pitchFamily="34" charset="0"/>
              </a:rPr>
              <a:t> table</a:t>
            </a:r>
          </a:p>
        </p:txBody>
      </p:sp>
      <p:pic>
        <p:nvPicPr>
          <p:cNvPr id="5" name="Picture 4">
            <a:extLst>
              <a:ext uri="{FF2B5EF4-FFF2-40B4-BE49-F238E27FC236}">
                <a16:creationId xmlns:a16="http://schemas.microsoft.com/office/drawing/2014/main" id="{338B30B9-E888-4AE2-9CE4-4F64D62EE346}"/>
              </a:ext>
            </a:extLst>
          </p:cNvPr>
          <p:cNvPicPr>
            <a:picLocks noChangeAspect="1"/>
          </p:cNvPicPr>
          <p:nvPr/>
        </p:nvPicPr>
        <p:blipFill rotWithShape="1">
          <a:blip r:embed="rId3">
            <a:extLst>
              <a:ext uri="{28A0092B-C50C-407E-A947-70E740481C1C}">
                <a14:useLocalDpi xmlns:a14="http://schemas.microsoft.com/office/drawing/2010/main" val="0"/>
              </a:ext>
            </a:extLst>
          </a:blip>
          <a:srcRect l="14928" t="5383" r="12968" b="4803"/>
          <a:stretch/>
        </p:blipFill>
        <p:spPr>
          <a:xfrm>
            <a:off x="447675" y="885825"/>
            <a:ext cx="3448049" cy="5448300"/>
          </a:xfrm>
          <a:prstGeom prst="rect">
            <a:avLst/>
          </a:prstGeom>
          <a:ln w="22225">
            <a:solidFill>
              <a:schemeClr val="tx1"/>
            </a:solidFill>
          </a:ln>
        </p:spPr>
      </p:pic>
      <p:sp>
        <p:nvSpPr>
          <p:cNvPr id="6" name="TextBox 5">
            <a:extLst>
              <a:ext uri="{FF2B5EF4-FFF2-40B4-BE49-F238E27FC236}">
                <a16:creationId xmlns:a16="http://schemas.microsoft.com/office/drawing/2014/main" id="{B7DDCAA3-541B-4B87-886B-8D7A5E6E82FB}"/>
              </a:ext>
            </a:extLst>
          </p:cNvPr>
          <p:cNvSpPr txBox="1"/>
          <p:nvPr/>
        </p:nvSpPr>
        <p:spPr>
          <a:xfrm>
            <a:off x="5057775" y="2690336"/>
            <a:ext cx="6591300" cy="1477328"/>
          </a:xfrm>
          <a:prstGeom prst="rect">
            <a:avLst/>
          </a:prstGeom>
          <a:noFill/>
        </p:spPr>
        <p:txBody>
          <a:bodyPr wrap="square" rtlCol="0">
            <a:spAutoFit/>
          </a:bodyPr>
          <a:lstStyle/>
          <a:p>
            <a:pPr algn="ctr"/>
            <a:r>
              <a:rPr lang="en-US"/>
              <a:t>This table contains Hotel ID, Hotel Name, Destination ID, and Rating, allowing customers to compare accommodation options while planning their tours.</a:t>
            </a:r>
          </a:p>
          <a:p>
            <a:pPr algn="ctr"/>
            <a:endParaRPr lang="en-US"/>
          </a:p>
          <a:p>
            <a:pPr algn="ctr"/>
            <a:r>
              <a:rPr lang="en-US" b="1" u="sng"/>
              <a:t>Syntax</a:t>
            </a:r>
            <a:r>
              <a:rPr lang="en-US" b="1"/>
              <a:t>: select * from Hotels;</a:t>
            </a:r>
            <a:endParaRPr lang="en-IN" b="1"/>
          </a:p>
        </p:txBody>
      </p:sp>
    </p:spTree>
    <p:extLst>
      <p:ext uri="{BB962C8B-B14F-4D97-AF65-F5344CB8AC3E}">
        <p14:creationId xmlns:p14="http://schemas.microsoft.com/office/powerpoint/2010/main" val="21635569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2">
            <a:alphaModFix amt="60000"/>
          </a:blip>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2038E2-0090-4D9E-AB13-583E5F0DB6EF}"/>
              </a:ext>
            </a:extLst>
          </p:cNvPr>
          <p:cNvSpPr>
            <a:spLocks noGrp="1"/>
          </p:cNvSpPr>
          <p:nvPr>
            <p:ph type="title"/>
          </p:nvPr>
        </p:nvSpPr>
        <p:spPr>
          <a:xfrm>
            <a:off x="0" y="0"/>
            <a:ext cx="12192000" cy="752476"/>
          </a:xfrm>
        </p:spPr>
        <p:txBody>
          <a:bodyPr>
            <a:normAutofit/>
          </a:bodyPr>
          <a:lstStyle/>
          <a:p>
            <a:pPr algn="ctr"/>
            <a:r>
              <a:rPr lang="en-IN" sz="3000">
                <a:effectLst>
                  <a:outerShdw blurRad="38100" dist="38100" dir="2700000" algn="tl">
                    <a:srgbClr val="000000">
                      <a:alpha val="43137"/>
                    </a:srgbClr>
                  </a:outerShdw>
                </a:effectLst>
                <a:latin typeface="Century Gothic" panose="020B0502020202020204" pitchFamily="34" charset="0"/>
              </a:rPr>
              <a:t>Contents of </a:t>
            </a:r>
            <a:r>
              <a:rPr lang="en-IN" sz="3000" u="sng">
                <a:effectLst>
                  <a:outerShdw blurRad="38100" dist="38100" dir="2700000" algn="tl">
                    <a:srgbClr val="000000">
                      <a:alpha val="43137"/>
                    </a:srgbClr>
                  </a:outerShdw>
                </a:effectLst>
                <a:latin typeface="Century Gothic" panose="020B0502020202020204" pitchFamily="34" charset="0"/>
              </a:rPr>
              <a:t>TourPackages</a:t>
            </a:r>
            <a:r>
              <a:rPr lang="en-IN" sz="3000">
                <a:effectLst>
                  <a:outerShdw blurRad="38100" dist="38100" dir="2700000" algn="tl">
                    <a:srgbClr val="000000">
                      <a:alpha val="43137"/>
                    </a:srgbClr>
                  </a:outerShdw>
                </a:effectLst>
                <a:latin typeface="Century Gothic" panose="020B0502020202020204" pitchFamily="34" charset="0"/>
              </a:rPr>
              <a:t> Table</a:t>
            </a:r>
          </a:p>
        </p:txBody>
      </p:sp>
      <p:pic>
        <p:nvPicPr>
          <p:cNvPr id="5" name="Picture 4">
            <a:extLst>
              <a:ext uri="{FF2B5EF4-FFF2-40B4-BE49-F238E27FC236}">
                <a16:creationId xmlns:a16="http://schemas.microsoft.com/office/drawing/2014/main" id="{84C2588E-E68C-4B1A-A82F-136BB18031E3}"/>
              </a:ext>
            </a:extLst>
          </p:cNvPr>
          <p:cNvPicPr>
            <a:picLocks noChangeAspect="1"/>
          </p:cNvPicPr>
          <p:nvPr/>
        </p:nvPicPr>
        <p:blipFill rotWithShape="1">
          <a:blip r:embed="rId3">
            <a:extLst>
              <a:ext uri="{28A0092B-C50C-407E-A947-70E740481C1C}">
                <a14:useLocalDpi xmlns:a14="http://schemas.microsoft.com/office/drawing/2010/main" val="0"/>
              </a:ext>
            </a:extLst>
          </a:blip>
          <a:srcRect l="4231" t="7361" r="8524" b="8750"/>
          <a:stretch/>
        </p:blipFill>
        <p:spPr>
          <a:xfrm>
            <a:off x="457200" y="1019174"/>
            <a:ext cx="4419600" cy="5314951"/>
          </a:xfrm>
          <a:prstGeom prst="rect">
            <a:avLst/>
          </a:prstGeom>
          <a:ln w="22225">
            <a:solidFill>
              <a:schemeClr val="tx1"/>
            </a:solidFill>
          </a:ln>
        </p:spPr>
      </p:pic>
      <p:sp>
        <p:nvSpPr>
          <p:cNvPr id="6" name="TextBox 5">
            <a:extLst>
              <a:ext uri="{FF2B5EF4-FFF2-40B4-BE49-F238E27FC236}">
                <a16:creationId xmlns:a16="http://schemas.microsoft.com/office/drawing/2014/main" id="{F1A07AA4-D179-421A-A7FB-EAF12A8B5639}"/>
              </a:ext>
            </a:extLst>
          </p:cNvPr>
          <p:cNvSpPr txBox="1"/>
          <p:nvPr/>
        </p:nvSpPr>
        <p:spPr>
          <a:xfrm>
            <a:off x="5600699" y="2690336"/>
            <a:ext cx="6219825" cy="1477328"/>
          </a:xfrm>
          <a:prstGeom prst="rect">
            <a:avLst/>
          </a:prstGeom>
          <a:noFill/>
        </p:spPr>
        <p:txBody>
          <a:bodyPr wrap="square" rtlCol="0">
            <a:spAutoFit/>
          </a:bodyPr>
          <a:lstStyle/>
          <a:p>
            <a:pPr algn="ctr"/>
            <a:r>
              <a:rPr lang="en-US"/>
              <a:t>This table contains Package ID, Package Name, Destination ID, Duration, and Package Price, allowing customers to choose suitable travel packages based on their preferences and budget.</a:t>
            </a:r>
          </a:p>
          <a:p>
            <a:pPr algn="ctr"/>
            <a:endParaRPr lang="en-US"/>
          </a:p>
          <a:p>
            <a:pPr algn="ctr"/>
            <a:r>
              <a:rPr lang="en-US" b="1" u="sng"/>
              <a:t>Syntax</a:t>
            </a:r>
            <a:r>
              <a:rPr lang="en-US" b="1"/>
              <a:t>: select * from TourPackages;</a:t>
            </a:r>
            <a:endParaRPr lang="en-IN" b="1"/>
          </a:p>
        </p:txBody>
      </p:sp>
    </p:spTree>
    <p:extLst>
      <p:ext uri="{BB962C8B-B14F-4D97-AF65-F5344CB8AC3E}">
        <p14:creationId xmlns:p14="http://schemas.microsoft.com/office/powerpoint/2010/main" val="14842966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2">
            <a:alphaModFix amt="60000"/>
          </a:blip>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5F5AF-D198-41A9-9846-D18D33EBA768}"/>
              </a:ext>
            </a:extLst>
          </p:cNvPr>
          <p:cNvSpPr>
            <a:spLocks noGrp="1"/>
          </p:cNvSpPr>
          <p:nvPr>
            <p:ph type="title"/>
          </p:nvPr>
        </p:nvSpPr>
        <p:spPr>
          <a:xfrm>
            <a:off x="0" y="1"/>
            <a:ext cx="12192000" cy="723899"/>
          </a:xfrm>
        </p:spPr>
        <p:txBody>
          <a:bodyPr>
            <a:normAutofit/>
          </a:bodyPr>
          <a:lstStyle/>
          <a:p>
            <a:pPr algn="ctr"/>
            <a:r>
              <a:rPr lang="en-IN" sz="3000">
                <a:effectLst>
                  <a:outerShdw blurRad="38100" dist="38100" dir="2700000" algn="tl">
                    <a:srgbClr val="000000">
                      <a:alpha val="43137"/>
                    </a:srgbClr>
                  </a:outerShdw>
                </a:effectLst>
                <a:latin typeface="Century Gothic" panose="020B0502020202020204" pitchFamily="34" charset="0"/>
              </a:rPr>
              <a:t>Contents of </a:t>
            </a:r>
            <a:r>
              <a:rPr lang="en-IN" sz="3000" u="sng">
                <a:effectLst>
                  <a:outerShdw blurRad="38100" dist="38100" dir="2700000" algn="tl">
                    <a:srgbClr val="000000">
                      <a:alpha val="43137"/>
                    </a:srgbClr>
                  </a:outerShdw>
                </a:effectLst>
                <a:latin typeface="Century Gothic" panose="020B0502020202020204" pitchFamily="34" charset="0"/>
              </a:rPr>
              <a:t>Bookings</a:t>
            </a:r>
            <a:r>
              <a:rPr lang="en-IN" sz="3000">
                <a:effectLst>
                  <a:outerShdw blurRad="38100" dist="38100" dir="2700000" algn="tl">
                    <a:srgbClr val="000000">
                      <a:alpha val="43137"/>
                    </a:srgbClr>
                  </a:outerShdw>
                </a:effectLst>
                <a:latin typeface="Century Gothic" panose="020B0502020202020204" pitchFamily="34" charset="0"/>
              </a:rPr>
              <a:t> Table</a:t>
            </a:r>
          </a:p>
        </p:txBody>
      </p:sp>
      <p:grpSp>
        <p:nvGrpSpPr>
          <p:cNvPr id="12" name="Group 11">
            <a:extLst>
              <a:ext uri="{FF2B5EF4-FFF2-40B4-BE49-F238E27FC236}">
                <a16:creationId xmlns:a16="http://schemas.microsoft.com/office/drawing/2014/main" id="{2C659AA1-9121-4347-9166-7A0C11535DDF}"/>
              </a:ext>
            </a:extLst>
          </p:cNvPr>
          <p:cNvGrpSpPr/>
          <p:nvPr/>
        </p:nvGrpSpPr>
        <p:grpSpPr>
          <a:xfrm>
            <a:off x="400049" y="723900"/>
            <a:ext cx="3476626" cy="5919786"/>
            <a:chOff x="504824" y="652463"/>
            <a:chExt cx="3609976" cy="6110287"/>
          </a:xfrm>
        </p:grpSpPr>
        <p:pic>
          <p:nvPicPr>
            <p:cNvPr id="9" name="Picture 8">
              <a:extLst>
                <a:ext uri="{FF2B5EF4-FFF2-40B4-BE49-F238E27FC236}">
                  <a16:creationId xmlns:a16="http://schemas.microsoft.com/office/drawing/2014/main" id="{87903B7B-A14B-4745-9585-FAC14E14379F}"/>
                </a:ext>
              </a:extLst>
            </p:cNvPr>
            <p:cNvPicPr>
              <a:picLocks noChangeAspect="1"/>
            </p:cNvPicPr>
            <p:nvPr/>
          </p:nvPicPr>
          <p:blipFill rotWithShape="1">
            <a:blip r:embed="rId3">
              <a:extLst>
                <a:ext uri="{28A0092B-C50C-407E-A947-70E740481C1C}">
                  <a14:useLocalDpi xmlns:a14="http://schemas.microsoft.com/office/drawing/2010/main" val="0"/>
                </a:ext>
              </a:extLst>
            </a:blip>
            <a:srcRect l="7117" t="2454" r="6665" b="6648"/>
            <a:stretch/>
          </p:blipFill>
          <p:spPr>
            <a:xfrm>
              <a:off x="504824" y="652463"/>
              <a:ext cx="3609976" cy="4014787"/>
            </a:xfrm>
            <a:prstGeom prst="rect">
              <a:avLst/>
            </a:prstGeom>
          </p:spPr>
        </p:pic>
        <p:pic>
          <p:nvPicPr>
            <p:cNvPr id="11" name="Picture 10">
              <a:extLst>
                <a:ext uri="{FF2B5EF4-FFF2-40B4-BE49-F238E27FC236}">
                  <a16:creationId xmlns:a16="http://schemas.microsoft.com/office/drawing/2014/main" id="{00E5DD46-F208-4B2D-8FCC-D4C8CE85B5B4}"/>
                </a:ext>
              </a:extLst>
            </p:cNvPr>
            <p:cNvPicPr>
              <a:picLocks noChangeAspect="1"/>
            </p:cNvPicPr>
            <p:nvPr/>
          </p:nvPicPr>
          <p:blipFill rotWithShape="1">
            <a:blip r:embed="rId4">
              <a:extLst>
                <a:ext uri="{28A0092B-C50C-407E-A947-70E740481C1C}">
                  <a14:useLocalDpi xmlns:a14="http://schemas.microsoft.com/office/drawing/2010/main" val="0"/>
                </a:ext>
              </a:extLst>
            </a:blip>
            <a:srcRect l="387" t="26541" r="3677" b="3538"/>
            <a:stretch/>
          </p:blipFill>
          <p:spPr>
            <a:xfrm>
              <a:off x="504824" y="4667250"/>
              <a:ext cx="3609976" cy="2095500"/>
            </a:xfrm>
            <a:prstGeom prst="rect">
              <a:avLst/>
            </a:prstGeom>
          </p:spPr>
        </p:pic>
      </p:grpSp>
      <p:sp>
        <p:nvSpPr>
          <p:cNvPr id="13" name="TextBox 12">
            <a:extLst>
              <a:ext uri="{FF2B5EF4-FFF2-40B4-BE49-F238E27FC236}">
                <a16:creationId xmlns:a16="http://schemas.microsoft.com/office/drawing/2014/main" id="{B51147FE-C826-4BFA-9A8B-65E7B8B5860E}"/>
              </a:ext>
            </a:extLst>
          </p:cNvPr>
          <p:cNvSpPr txBox="1"/>
          <p:nvPr/>
        </p:nvSpPr>
        <p:spPr>
          <a:xfrm>
            <a:off x="4800600" y="2688193"/>
            <a:ext cx="6896100" cy="1481614"/>
          </a:xfrm>
          <a:prstGeom prst="rect">
            <a:avLst/>
          </a:prstGeom>
          <a:noFill/>
        </p:spPr>
        <p:txBody>
          <a:bodyPr wrap="square" rtlCol="0">
            <a:spAutoFit/>
          </a:bodyPr>
          <a:lstStyle/>
          <a:p>
            <a:pPr algn="ctr"/>
            <a:r>
              <a:rPr lang="en-US"/>
              <a:t>This table contains Booking ID, Customer ID, Package ID, Booking Date, and Number of Travelers, allowing the system to track customer reservations and travel details.</a:t>
            </a:r>
          </a:p>
          <a:p>
            <a:pPr algn="ctr"/>
            <a:endParaRPr lang="en-US"/>
          </a:p>
          <a:p>
            <a:pPr algn="ctr"/>
            <a:r>
              <a:rPr lang="en-US" b="1" u="sng"/>
              <a:t>Syntax</a:t>
            </a:r>
            <a:r>
              <a:rPr lang="en-US" b="1"/>
              <a:t>: select * from Bookings;</a:t>
            </a:r>
            <a:endParaRPr lang="en-IN" b="1"/>
          </a:p>
        </p:txBody>
      </p:sp>
    </p:spTree>
    <p:extLst>
      <p:ext uri="{BB962C8B-B14F-4D97-AF65-F5344CB8AC3E}">
        <p14:creationId xmlns:p14="http://schemas.microsoft.com/office/powerpoint/2010/main" val="21475727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2">
            <a:alphaModFix amt="60000"/>
          </a:blip>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F0B82C-1B01-4401-8422-278B6528B819}"/>
              </a:ext>
            </a:extLst>
          </p:cNvPr>
          <p:cNvSpPr>
            <a:spLocks noGrp="1"/>
          </p:cNvSpPr>
          <p:nvPr>
            <p:ph type="title"/>
          </p:nvPr>
        </p:nvSpPr>
        <p:spPr>
          <a:xfrm>
            <a:off x="0" y="12701"/>
            <a:ext cx="12192000" cy="730249"/>
          </a:xfrm>
        </p:spPr>
        <p:txBody>
          <a:bodyPr>
            <a:normAutofit/>
          </a:bodyPr>
          <a:lstStyle/>
          <a:p>
            <a:pPr algn="ctr"/>
            <a:r>
              <a:rPr lang="en-IN" sz="3000">
                <a:effectLst>
                  <a:outerShdw blurRad="38100" dist="38100" dir="2700000" algn="tl">
                    <a:srgbClr val="000000">
                      <a:alpha val="43137"/>
                    </a:srgbClr>
                  </a:outerShdw>
                </a:effectLst>
                <a:latin typeface="Century Gothic" panose="020B0502020202020204" pitchFamily="34" charset="0"/>
              </a:rPr>
              <a:t>Contents of </a:t>
            </a:r>
            <a:r>
              <a:rPr lang="en-IN" sz="3000" u="sng">
                <a:effectLst>
                  <a:outerShdw blurRad="38100" dist="38100" dir="2700000" algn="tl">
                    <a:srgbClr val="000000">
                      <a:alpha val="43137"/>
                    </a:srgbClr>
                  </a:outerShdw>
                </a:effectLst>
                <a:latin typeface="Century Gothic" panose="020B0502020202020204" pitchFamily="34" charset="0"/>
              </a:rPr>
              <a:t>Payments</a:t>
            </a:r>
            <a:r>
              <a:rPr lang="en-IN" sz="3000">
                <a:effectLst>
                  <a:outerShdw blurRad="38100" dist="38100" dir="2700000" algn="tl">
                    <a:srgbClr val="000000">
                      <a:alpha val="43137"/>
                    </a:srgbClr>
                  </a:outerShdw>
                </a:effectLst>
                <a:latin typeface="Century Gothic" panose="020B0502020202020204" pitchFamily="34" charset="0"/>
              </a:rPr>
              <a:t> table</a:t>
            </a:r>
          </a:p>
        </p:txBody>
      </p:sp>
      <p:grpSp>
        <p:nvGrpSpPr>
          <p:cNvPr id="8" name="Group 7">
            <a:extLst>
              <a:ext uri="{FF2B5EF4-FFF2-40B4-BE49-F238E27FC236}">
                <a16:creationId xmlns:a16="http://schemas.microsoft.com/office/drawing/2014/main" id="{C20AD3C2-D699-454F-B10B-15DB857A6F33}"/>
              </a:ext>
            </a:extLst>
          </p:cNvPr>
          <p:cNvGrpSpPr/>
          <p:nvPr/>
        </p:nvGrpSpPr>
        <p:grpSpPr>
          <a:xfrm>
            <a:off x="342898" y="684213"/>
            <a:ext cx="3609977" cy="6065838"/>
            <a:chOff x="552449" y="442913"/>
            <a:chExt cx="3270802" cy="6234112"/>
          </a:xfrm>
        </p:grpSpPr>
        <p:pic>
          <p:nvPicPr>
            <p:cNvPr id="5" name="Picture 4">
              <a:extLst>
                <a:ext uri="{FF2B5EF4-FFF2-40B4-BE49-F238E27FC236}">
                  <a16:creationId xmlns:a16="http://schemas.microsoft.com/office/drawing/2014/main" id="{245D32E3-E10E-4264-842B-D40938FBCD5F}"/>
                </a:ext>
              </a:extLst>
            </p:cNvPr>
            <p:cNvPicPr>
              <a:picLocks noChangeAspect="1"/>
            </p:cNvPicPr>
            <p:nvPr/>
          </p:nvPicPr>
          <p:blipFill rotWithShape="1">
            <a:blip r:embed="rId3">
              <a:extLst>
                <a:ext uri="{28A0092B-C50C-407E-A947-70E740481C1C}">
                  <a14:useLocalDpi xmlns:a14="http://schemas.microsoft.com/office/drawing/2010/main" val="0"/>
                </a:ext>
              </a:extLst>
            </a:blip>
            <a:srcRect l="6223" t="5138" r="8798" b="8611"/>
            <a:stretch/>
          </p:blipFill>
          <p:spPr>
            <a:xfrm>
              <a:off x="552449" y="442913"/>
              <a:ext cx="3270801" cy="4052887"/>
            </a:xfrm>
            <a:prstGeom prst="rect">
              <a:avLst/>
            </a:prstGeom>
          </p:spPr>
        </p:pic>
        <p:pic>
          <p:nvPicPr>
            <p:cNvPr id="7" name="Picture 6">
              <a:extLst>
                <a:ext uri="{FF2B5EF4-FFF2-40B4-BE49-F238E27FC236}">
                  <a16:creationId xmlns:a16="http://schemas.microsoft.com/office/drawing/2014/main" id="{EB48F8F4-F383-414F-BD36-408460B84EFB}"/>
                </a:ext>
              </a:extLst>
            </p:cNvPr>
            <p:cNvPicPr>
              <a:picLocks noChangeAspect="1"/>
            </p:cNvPicPr>
            <p:nvPr/>
          </p:nvPicPr>
          <p:blipFill rotWithShape="1">
            <a:blip r:embed="rId4">
              <a:extLst>
                <a:ext uri="{28A0092B-C50C-407E-A947-70E740481C1C}">
                  <a14:useLocalDpi xmlns:a14="http://schemas.microsoft.com/office/drawing/2010/main" val="0"/>
                </a:ext>
              </a:extLst>
            </a:blip>
            <a:srcRect l="6072" t="51110" r="9629" b="8033"/>
            <a:stretch/>
          </p:blipFill>
          <p:spPr>
            <a:xfrm>
              <a:off x="552449" y="4495800"/>
              <a:ext cx="3270802" cy="2181225"/>
            </a:xfrm>
            <a:prstGeom prst="rect">
              <a:avLst/>
            </a:prstGeom>
          </p:spPr>
        </p:pic>
      </p:grpSp>
      <p:sp>
        <p:nvSpPr>
          <p:cNvPr id="9" name="TextBox 8">
            <a:extLst>
              <a:ext uri="{FF2B5EF4-FFF2-40B4-BE49-F238E27FC236}">
                <a16:creationId xmlns:a16="http://schemas.microsoft.com/office/drawing/2014/main" id="{A44C020D-2D1A-4ACE-BBA9-A21625E07FB6}"/>
              </a:ext>
            </a:extLst>
          </p:cNvPr>
          <p:cNvSpPr txBox="1"/>
          <p:nvPr/>
        </p:nvSpPr>
        <p:spPr>
          <a:xfrm>
            <a:off x="4848229" y="2690336"/>
            <a:ext cx="6915150" cy="1477328"/>
          </a:xfrm>
          <a:prstGeom prst="rect">
            <a:avLst/>
          </a:prstGeom>
          <a:noFill/>
        </p:spPr>
        <p:txBody>
          <a:bodyPr wrap="square" rtlCol="0">
            <a:spAutoFit/>
          </a:bodyPr>
          <a:lstStyle/>
          <a:p>
            <a:pPr algn="ctr"/>
            <a:r>
              <a:rPr lang="en-US"/>
              <a:t>This table contains Payment ID, Booking ID, Amount, Payment Method, and Payment Date, allowing the system to track booking transactions and payment history.</a:t>
            </a:r>
          </a:p>
          <a:p>
            <a:pPr algn="ctr"/>
            <a:endParaRPr lang="en-US"/>
          </a:p>
          <a:p>
            <a:pPr algn="ctr"/>
            <a:r>
              <a:rPr lang="en-US" b="1" u="sng"/>
              <a:t>Syntax</a:t>
            </a:r>
            <a:r>
              <a:rPr lang="en-US" b="1"/>
              <a:t>: select * from payments;</a:t>
            </a:r>
            <a:endParaRPr lang="en-IN" b="1"/>
          </a:p>
        </p:txBody>
      </p:sp>
    </p:spTree>
    <p:extLst>
      <p:ext uri="{BB962C8B-B14F-4D97-AF65-F5344CB8AC3E}">
        <p14:creationId xmlns:p14="http://schemas.microsoft.com/office/powerpoint/2010/main" val="22770346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2">
            <a:alphaModFix amt="60000"/>
          </a:blip>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DE04C-D8ED-4F1B-85A0-5399FF8A8757}"/>
              </a:ext>
            </a:extLst>
          </p:cNvPr>
          <p:cNvSpPr>
            <a:spLocks noGrp="1"/>
          </p:cNvSpPr>
          <p:nvPr>
            <p:ph type="title"/>
          </p:nvPr>
        </p:nvSpPr>
        <p:spPr>
          <a:xfrm>
            <a:off x="0" y="1"/>
            <a:ext cx="12192000" cy="643811"/>
          </a:xfrm>
        </p:spPr>
        <p:txBody>
          <a:bodyPr>
            <a:normAutofit/>
          </a:bodyPr>
          <a:lstStyle/>
          <a:p>
            <a:pPr algn="ctr"/>
            <a:r>
              <a:rPr lang="en-IN" sz="3000">
                <a:latin typeface="Century Gothic" panose="020B0502020202020204" pitchFamily="34" charset="0"/>
              </a:rPr>
              <a:t>Contents of </a:t>
            </a:r>
            <a:r>
              <a:rPr lang="en-IN" sz="3000" u="sng">
                <a:latin typeface="Century Gothic" panose="020B0502020202020204" pitchFamily="34" charset="0"/>
              </a:rPr>
              <a:t>Reviews</a:t>
            </a:r>
            <a:r>
              <a:rPr lang="en-IN" sz="3000">
                <a:latin typeface="Century Gothic" panose="020B0502020202020204" pitchFamily="34" charset="0"/>
              </a:rPr>
              <a:t> Table</a:t>
            </a:r>
          </a:p>
        </p:txBody>
      </p:sp>
      <p:pic>
        <p:nvPicPr>
          <p:cNvPr id="5" name="Picture 4">
            <a:extLst>
              <a:ext uri="{FF2B5EF4-FFF2-40B4-BE49-F238E27FC236}">
                <a16:creationId xmlns:a16="http://schemas.microsoft.com/office/drawing/2014/main" id="{42A2FB6A-FF5B-4E3C-AB21-D2F09AC98AE3}"/>
              </a:ext>
            </a:extLst>
          </p:cNvPr>
          <p:cNvPicPr>
            <a:picLocks noChangeAspect="1"/>
          </p:cNvPicPr>
          <p:nvPr/>
        </p:nvPicPr>
        <p:blipFill rotWithShape="1">
          <a:blip r:embed="rId3">
            <a:extLst>
              <a:ext uri="{28A0092B-C50C-407E-A947-70E740481C1C}">
                <a14:useLocalDpi xmlns:a14="http://schemas.microsoft.com/office/drawing/2010/main" val="0"/>
              </a:ext>
            </a:extLst>
          </a:blip>
          <a:srcRect l="9157" t="6477" r="6617" b="7741"/>
          <a:stretch/>
        </p:blipFill>
        <p:spPr>
          <a:xfrm>
            <a:off x="401218" y="970385"/>
            <a:ext cx="4292080" cy="5272851"/>
          </a:xfrm>
          <a:prstGeom prst="rect">
            <a:avLst/>
          </a:prstGeom>
          <a:ln w="22225">
            <a:solidFill>
              <a:schemeClr val="tx1"/>
            </a:solidFill>
          </a:ln>
        </p:spPr>
      </p:pic>
      <p:sp>
        <p:nvSpPr>
          <p:cNvPr id="6" name="TextBox 5">
            <a:extLst>
              <a:ext uri="{FF2B5EF4-FFF2-40B4-BE49-F238E27FC236}">
                <a16:creationId xmlns:a16="http://schemas.microsoft.com/office/drawing/2014/main" id="{3920E7E6-FB6E-4DE7-B426-4192DAEF95E2}"/>
              </a:ext>
            </a:extLst>
          </p:cNvPr>
          <p:cNvSpPr txBox="1"/>
          <p:nvPr/>
        </p:nvSpPr>
        <p:spPr>
          <a:xfrm>
            <a:off x="5505061" y="2690336"/>
            <a:ext cx="6120882" cy="1477328"/>
          </a:xfrm>
          <a:prstGeom prst="rect">
            <a:avLst/>
          </a:prstGeom>
          <a:noFill/>
        </p:spPr>
        <p:txBody>
          <a:bodyPr wrap="square" rtlCol="0">
            <a:spAutoFit/>
          </a:bodyPr>
          <a:lstStyle/>
          <a:p>
            <a:pPr algn="ctr"/>
            <a:r>
              <a:rPr lang="en-US"/>
              <a:t>This table contains Review ID, Customer ID, Package ID, Rating, and Review Comment, allowing the system to evaluate customer satisfaction and package performance.</a:t>
            </a:r>
          </a:p>
          <a:p>
            <a:pPr algn="ctr"/>
            <a:endParaRPr lang="en-US"/>
          </a:p>
          <a:p>
            <a:pPr algn="ctr"/>
            <a:r>
              <a:rPr lang="en-US" b="1" u="sng"/>
              <a:t>Syntax</a:t>
            </a:r>
            <a:r>
              <a:rPr lang="en-US" b="1"/>
              <a:t>: select * from Reviews;</a:t>
            </a:r>
            <a:endParaRPr lang="en-IN" b="1"/>
          </a:p>
        </p:txBody>
      </p:sp>
    </p:spTree>
    <p:extLst>
      <p:ext uri="{BB962C8B-B14F-4D97-AF65-F5344CB8AC3E}">
        <p14:creationId xmlns:p14="http://schemas.microsoft.com/office/powerpoint/2010/main" val="41450568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8B6D6-62F9-4346-B435-4CEF2576B521}"/>
              </a:ext>
            </a:extLst>
          </p:cNvPr>
          <p:cNvSpPr>
            <a:spLocks noGrp="1"/>
          </p:cNvSpPr>
          <p:nvPr>
            <p:ph type="title"/>
          </p:nvPr>
        </p:nvSpPr>
        <p:spPr>
          <a:xfrm>
            <a:off x="0" y="2766218"/>
            <a:ext cx="12192000" cy="1325563"/>
          </a:xfrm>
        </p:spPr>
        <p:txBody>
          <a:bodyPr>
            <a:normAutofit/>
          </a:bodyPr>
          <a:lstStyle/>
          <a:p>
            <a:pPr algn="ctr"/>
            <a:r>
              <a:rPr lang="en-IN" sz="3500" i="1" u="sng">
                <a:solidFill>
                  <a:schemeClr val="bg1"/>
                </a:solidFill>
                <a:effectLst>
                  <a:outerShdw blurRad="38100" dist="38100" dir="2700000" algn="tl">
                    <a:srgbClr val="000000">
                      <a:alpha val="43137"/>
                    </a:srgbClr>
                  </a:outerShdw>
                </a:effectLst>
                <a:latin typeface="Century Gothic" panose="020B0502020202020204" pitchFamily="34" charset="0"/>
              </a:rPr>
              <a:t>JOINS</a:t>
            </a:r>
          </a:p>
        </p:txBody>
      </p:sp>
      <p:pic>
        <p:nvPicPr>
          <p:cNvPr id="7" name="Picture 6">
            <a:extLst>
              <a:ext uri="{FF2B5EF4-FFF2-40B4-BE49-F238E27FC236}">
                <a16:creationId xmlns:a16="http://schemas.microsoft.com/office/drawing/2014/main" id="{C6BEBB1A-FD81-4468-B8C2-88E18F3E51FE}"/>
              </a:ext>
            </a:extLst>
          </p:cNvPr>
          <p:cNvPicPr>
            <a:picLocks noChangeAspect="1"/>
          </p:cNvPicPr>
          <p:nvPr/>
        </p:nvPicPr>
        <p:blipFill rotWithShape="1">
          <a:blip r:embed="rId2">
            <a:extLst>
              <a:ext uri="{28A0092B-C50C-407E-A947-70E740481C1C}">
                <a14:useLocalDpi xmlns:a14="http://schemas.microsoft.com/office/drawing/2010/main" val="0"/>
              </a:ext>
            </a:extLst>
          </a:blip>
          <a:srcRect b="5850"/>
          <a:stretch/>
        </p:blipFill>
        <p:spPr>
          <a:xfrm rot="203413" flipH="1">
            <a:off x="-98694" y="962344"/>
            <a:ext cx="5779156" cy="5892735"/>
          </a:xfrm>
          <a:prstGeom prst="rect">
            <a:avLst/>
          </a:prstGeom>
        </p:spPr>
      </p:pic>
    </p:spTree>
    <p:extLst>
      <p:ext uri="{BB962C8B-B14F-4D97-AF65-F5344CB8AC3E}">
        <p14:creationId xmlns:p14="http://schemas.microsoft.com/office/powerpoint/2010/main" val="34245011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2">
            <a:alphaModFix amt="60000"/>
          </a:blip>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0AA065-788F-440D-B2E0-30E5E73BD545}"/>
              </a:ext>
            </a:extLst>
          </p:cNvPr>
          <p:cNvSpPr>
            <a:spLocks noGrp="1"/>
          </p:cNvSpPr>
          <p:nvPr>
            <p:ph type="title"/>
          </p:nvPr>
        </p:nvSpPr>
        <p:spPr>
          <a:xfrm>
            <a:off x="0" y="0"/>
            <a:ext cx="12192000" cy="951721"/>
          </a:xfrm>
        </p:spPr>
        <p:txBody>
          <a:bodyPr>
            <a:normAutofit/>
          </a:bodyPr>
          <a:lstStyle/>
          <a:p>
            <a:pPr algn="ctr"/>
            <a:r>
              <a:rPr lang="en-IN" sz="3000">
                <a:effectLst>
                  <a:outerShdw blurRad="38100" dist="38100" dir="2700000" algn="tl">
                    <a:srgbClr val="000000">
                      <a:alpha val="43137"/>
                    </a:srgbClr>
                  </a:outerShdw>
                </a:effectLst>
                <a:latin typeface="Century Gothic" panose="020B0502020202020204" pitchFamily="34" charset="0"/>
              </a:rPr>
              <a:t>Joins</a:t>
            </a:r>
          </a:p>
        </p:txBody>
      </p:sp>
      <p:sp>
        <p:nvSpPr>
          <p:cNvPr id="4" name="TextBox 3">
            <a:extLst>
              <a:ext uri="{FF2B5EF4-FFF2-40B4-BE49-F238E27FC236}">
                <a16:creationId xmlns:a16="http://schemas.microsoft.com/office/drawing/2014/main" id="{58BC53A4-CC93-4991-8150-2C2A62C0F5A8}"/>
              </a:ext>
            </a:extLst>
          </p:cNvPr>
          <p:cNvSpPr txBox="1"/>
          <p:nvPr/>
        </p:nvSpPr>
        <p:spPr>
          <a:xfrm>
            <a:off x="7259217" y="1070676"/>
            <a:ext cx="4478694" cy="5078313"/>
          </a:xfrm>
          <a:prstGeom prst="rect">
            <a:avLst/>
          </a:prstGeom>
          <a:noFill/>
          <a:ln w="12700">
            <a:solidFill>
              <a:schemeClr val="tx1"/>
            </a:solidFill>
          </a:ln>
        </p:spPr>
        <p:txBody>
          <a:bodyPr wrap="square" rtlCol="0">
            <a:spAutoFit/>
          </a:bodyPr>
          <a:lstStyle/>
          <a:p>
            <a:pPr algn="ctr"/>
            <a:r>
              <a:rPr lang="en-US" b="1"/>
              <a:t>which destination generated the highest total revenue (INNER JOIN)</a:t>
            </a:r>
          </a:p>
          <a:p>
            <a:pPr algn="ctr"/>
            <a:endParaRPr lang="en-US"/>
          </a:p>
          <a:p>
            <a:r>
              <a:rPr lang="en-US" b="1" u="sng"/>
              <a:t>Syntax:</a:t>
            </a:r>
          </a:p>
          <a:p>
            <a:r>
              <a:rPr lang="en-IN"/>
              <a:t>select  </a:t>
            </a:r>
          </a:p>
          <a:p>
            <a:r>
              <a:rPr lang="en-IN"/>
              <a:t>     d.destination_name,</a:t>
            </a:r>
          </a:p>
          <a:p>
            <a:r>
              <a:rPr lang="en-IN"/>
              <a:t>     d.country,</a:t>
            </a:r>
          </a:p>
          <a:p>
            <a:r>
              <a:rPr lang="en-IN"/>
              <a:t>     sum(p.amount) as total_revenue</a:t>
            </a:r>
          </a:p>
          <a:p>
            <a:r>
              <a:rPr lang="en-IN"/>
              <a:t>From destinations d</a:t>
            </a:r>
          </a:p>
          <a:p>
            <a:r>
              <a:rPr lang="en-IN"/>
              <a:t>INNER JOIN TourPackages tp</a:t>
            </a:r>
          </a:p>
          <a:p>
            <a:r>
              <a:rPr lang="en-IN"/>
              <a:t>ON d.destination_id = tp.destination_id</a:t>
            </a:r>
          </a:p>
          <a:p>
            <a:r>
              <a:rPr lang="en-IN"/>
              <a:t>INNER JOIN Bookings b </a:t>
            </a:r>
          </a:p>
          <a:p>
            <a:r>
              <a:rPr lang="en-IN"/>
              <a:t>ON tp.package_id = b.package_id</a:t>
            </a:r>
          </a:p>
          <a:p>
            <a:r>
              <a:rPr lang="en-IN"/>
              <a:t>INNER JOIN Payments p</a:t>
            </a:r>
          </a:p>
          <a:p>
            <a:r>
              <a:rPr lang="en-IN"/>
              <a:t>ON b.booking_id = p.booking_id</a:t>
            </a:r>
          </a:p>
          <a:p>
            <a:r>
              <a:rPr lang="en-IN"/>
              <a:t>Group By d.destination_name, d.country</a:t>
            </a:r>
          </a:p>
          <a:p>
            <a:r>
              <a:rPr lang="en-IN"/>
              <a:t>Order By total_revenue DESC</a:t>
            </a:r>
          </a:p>
          <a:p>
            <a:r>
              <a:rPr lang="en-IN"/>
              <a:t>Limit 5;</a:t>
            </a:r>
          </a:p>
        </p:txBody>
      </p:sp>
      <p:pic>
        <p:nvPicPr>
          <p:cNvPr id="6" name="Picture 5">
            <a:extLst>
              <a:ext uri="{FF2B5EF4-FFF2-40B4-BE49-F238E27FC236}">
                <a16:creationId xmlns:a16="http://schemas.microsoft.com/office/drawing/2014/main" id="{7C84868C-B125-4A3F-821D-5B369E9115FB}"/>
              </a:ext>
            </a:extLst>
          </p:cNvPr>
          <p:cNvPicPr>
            <a:picLocks noChangeAspect="1"/>
          </p:cNvPicPr>
          <p:nvPr/>
        </p:nvPicPr>
        <p:blipFill rotWithShape="1">
          <a:blip r:embed="rId3">
            <a:extLst>
              <a:ext uri="{28A0092B-C50C-407E-A947-70E740481C1C}">
                <a14:useLocalDpi xmlns:a14="http://schemas.microsoft.com/office/drawing/2010/main" val="0"/>
              </a:ext>
            </a:extLst>
          </a:blip>
          <a:srcRect l="9324" t="16777" r="9505" b="17762"/>
          <a:stretch/>
        </p:blipFill>
        <p:spPr>
          <a:xfrm>
            <a:off x="302555" y="2402632"/>
            <a:ext cx="4630230" cy="2052735"/>
          </a:xfrm>
          <a:prstGeom prst="rect">
            <a:avLst/>
          </a:prstGeom>
          <a:ln w="22225">
            <a:solidFill>
              <a:schemeClr val="tx1"/>
            </a:solidFill>
          </a:ln>
        </p:spPr>
      </p:pic>
    </p:spTree>
    <p:extLst>
      <p:ext uri="{BB962C8B-B14F-4D97-AF65-F5344CB8AC3E}">
        <p14:creationId xmlns:p14="http://schemas.microsoft.com/office/powerpoint/2010/main" val="34705563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2">
            <a:alphaModFix amt="60000"/>
          </a:blip>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BAAA7-7566-4F78-A9E6-479C51F71441}"/>
              </a:ext>
            </a:extLst>
          </p:cNvPr>
          <p:cNvSpPr>
            <a:spLocks noGrp="1"/>
          </p:cNvSpPr>
          <p:nvPr>
            <p:ph type="title"/>
          </p:nvPr>
        </p:nvSpPr>
        <p:spPr>
          <a:xfrm>
            <a:off x="0" y="-18660"/>
            <a:ext cx="12192000" cy="699793"/>
          </a:xfrm>
        </p:spPr>
        <p:txBody>
          <a:bodyPr>
            <a:normAutofit/>
          </a:bodyPr>
          <a:lstStyle/>
          <a:p>
            <a:pPr algn="ctr"/>
            <a:r>
              <a:rPr lang="en-IN" sz="3000">
                <a:effectLst>
                  <a:outerShdw blurRad="38100" dist="38100" dir="2700000" algn="tl">
                    <a:srgbClr val="000000">
                      <a:alpha val="43137"/>
                    </a:srgbClr>
                  </a:outerShdw>
                </a:effectLst>
                <a:latin typeface="Century Gothic" panose="020B0502020202020204" pitchFamily="34" charset="0"/>
              </a:rPr>
              <a:t>Joins</a:t>
            </a:r>
          </a:p>
        </p:txBody>
      </p:sp>
      <p:sp>
        <p:nvSpPr>
          <p:cNvPr id="4" name="TextBox 3">
            <a:extLst>
              <a:ext uri="{FF2B5EF4-FFF2-40B4-BE49-F238E27FC236}">
                <a16:creationId xmlns:a16="http://schemas.microsoft.com/office/drawing/2014/main" id="{BF9622A8-E026-4162-AECB-EA8B28258E9E}"/>
              </a:ext>
            </a:extLst>
          </p:cNvPr>
          <p:cNvSpPr txBox="1"/>
          <p:nvPr/>
        </p:nvSpPr>
        <p:spPr>
          <a:xfrm>
            <a:off x="6811348" y="1330742"/>
            <a:ext cx="4898572" cy="4247317"/>
          </a:xfrm>
          <a:prstGeom prst="rect">
            <a:avLst/>
          </a:prstGeom>
          <a:noFill/>
          <a:ln>
            <a:solidFill>
              <a:schemeClr val="tx1"/>
            </a:solidFill>
          </a:ln>
        </p:spPr>
        <p:txBody>
          <a:bodyPr wrap="square" rtlCol="0">
            <a:spAutoFit/>
          </a:bodyPr>
          <a:lstStyle/>
          <a:p>
            <a:pPr algn="ctr"/>
            <a:r>
              <a:rPr lang="en-US" b="1"/>
              <a:t>who are the top most customers based on total spending (INNER JOIN)</a:t>
            </a:r>
          </a:p>
          <a:p>
            <a:endParaRPr lang="en-US"/>
          </a:p>
          <a:p>
            <a:r>
              <a:rPr lang="en-US" b="1" u="sng"/>
              <a:t>Syntax:</a:t>
            </a:r>
          </a:p>
          <a:p>
            <a:r>
              <a:rPr lang="en-IN"/>
              <a:t>select  </a:t>
            </a:r>
          </a:p>
          <a:p>
            <a:r>
              <a:rPr lang="en-IN"/>
              <a:t>     c.customer_id, </a:t>
            </a:r>
          </a:p>
          <a:p>
            <a:r>
              <a:rPr lang="en-IN"/>
              <a:t>     c.customer_name,</a:t>
            </a:r>
          </a:p>
          <a:p>
            <a:r>
              <a:rPr lang="en-IN"/>
              <a:t>     SUM(p.amount) as total_spend</a:t>
            </a:r>
          </a:p>
          <a:p>
            <a:r>
              <a:rPr lang="en-IN"/>
              <a:t>From customers c </a:t>
            </a:r>
          </a:p>
          <a:p>
            <a:r>
              <a:rPr lang="en-IN"/>
              <a:t>INNER JOIN Bookings b </a:t>
            </a:r>
          </a:p>
          <a:p>
            <a:r>
              <a:rPr lang="en-IN"/>
              <a:t>ON c.customer_id = b.customer_id</a:t>
            </a:r>
          </a:p>
          <a:p>
            <a:r>
              <a:rPr lang="en-IN"/>
              <a:t>INNER JOIN Payments p </a:t>
            </a:r>
          </a:p>
          <a:p>
            <a:r>
              <a:rPr lang="en-IN"/>
              <a:t>ON p.booking_id = b.booking_id </a:t>
            </a:r>
          </a:p>
          <a:p>
            <a:r>
              <a:rPr lang="en-IN"/>
              <a:t>Group By c.customer_id, c.customer_name</a:t>
            </a:r>
          </a:p>
          <a:p>
            <a:r>
              <a:rPr lang="en-IN"/>
              <a:t>Order By total_spend DESC;</a:t>
            </a:r>
          </a:p>
        </p:txBody>
      </p:sp>
      <p:grpSp>
        <p:nvGrpSpPr>
          <p:cNvPr id="9" name="Group 8">
            <a:extLst>
              <a:ext uri="{FF2B5EF4-FFF2-40B4-BE49-F238E27FC236}">
                <a16:creationId xmlns:a16="http://schemas.microsoft.com/office/drawing/2014/main" id="{95CB8C4C-B941-45F7-B489-005855FDF371}"/>
              </a:ext>
            </a:extLst>
          </p:cNvPr>
          <p:cNvGrpSpPr/>
          <p:nvPr/>
        </p:nvGrpSpPr>
        <p:grpSpPr>
          <a:xfrm>
            <a:off x="482080" y="503853"/>
            <a:ext cx="3209731" cy="6223519"/>
            <a:chOff x="1324947" y="569167"/>
            <a:chExt cx="2351444" cy="6223520"/>
          </a:xfrm>
        </p:grpSpPr>
        <p:pic>
          <p:nvPicPr>
            <p:cNvPr id="6" name="Picture 5">
              <a:extLst>
                <a:ext uri="{FF2B5EF4-FFF2-40B4-BE49-F238E27FC236}">
                  <a16:creationId xmlns:a16="http://schemas.microsoft.com/office/drawing/2014/main" id="{4BE81DE9-AAF3-44F5-BA8E-545871AFDF42}"/>
                </a:ext>
              </a:extLst>
            </p:cNvPr>
            <p:cNvPicPr>
              <a:picLocks noChangeAspect="1"/>
            </p:cNvPicPr>
            <p:nvPr/>
          </p:nvPicPr>
          <p:blipFill rotWithShape="1">
            <a:blip r:embed="rId3">
              <a:extLst>
                <a:ext uri="{28A0092B-C50C-407E-A947-70E740481C1C}">
                  <a14:useLocalDpi xmlns:a14="http://schemas.microsoft.com/office/drawing/2010/main" val="0"/>
                </a:ext>
              </a:extLst>
            </a:blip>
            <a:srcRect l="15806" t="5808" r="7257" b="9633"/>
            <a:stretch/>
          </p:blipFill>
          <p:spPr>
            <a:xfrm>
              <a:off x="1324947" y="569167"/>
              <a:ext cx="2351444" cy="4189445"/>
            </a:xfrm>
            <a:prstGeom prst="rect">
              <a:avLst/>
            </a:prstGeom>
          </p:spPr>
        </p:pic>
        <p:pic>
          <p:nvPicPr>
            <p:cNvPr id="8" name="Picture 7">
              <a:extLst>
                <a:ext uri="{FF2B5EF4-FFF2-40B4-BE49-F238E27FC236}">
                  <a16:creationId xmlns:a16="http://schemas.microsoft.com/office/drawing/2014/main" id="{A70ECEAC-A36A-4C88-B4E5-CBB32D7A4E83}"/>
                </a:ext>
              </a:extLst>
            </p:cNvPr>
            <p:cNvPicPr>
              <a:picLocks noChangeAspect="1"/>
            </p:cNvPicPr>
            <p:nvPr/>
          </p:nvPicPr>
          <p:blipFill rotWithShape="1">
            <a:blip r:embed="rId4">
              <a:extLst>
                <a:ext uri="{28A0092B-C50C-407E-A947-70E740481C1C}">
                  <a14:useLocalDpi xmlns:a14="http://schemas.microsoft.com/office/drawing/2010/main" val="0"/>
                </a:ext>
              </a:extLst>
            </a:blip>
            <a:srcRect l="6404" t="47110" r="12646" b="6808"/>
            <a:stretch/>
          </p:blipFill>
          <p:spPr>
            <a:xfrm>
              <a:off x="1324947" y="4758613"/>
              <a:ext cx="2351444" cy="2034074"/>
            </a:xfrm>
            <a:prstGeom prst="rect">
              <a:avLst/>
            </a:prstGeom>
          </p:spPr>
        </p:pic>
      </p:grpSp>
    </p:spTree>
    <p:extLst>
      <p:ext uri="{BB962C8B-B14F-4D97-AF65-F5344CB8AC3E}">
        <p14:creationId xmlns:p14="http://schemas.microsoft.com/office/powerpoint/2010/main" val="19176834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2">
            <a:alphaModFix amt="60000"/>
          </a:blip>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BAAA7-7566-4F78-A9E6-479C51F71441}"/>
              </a:ext>
            </a:extLst>
          </p:cNvPr>
          <p:cNvSpPr>
            <a:spLocks noGrp="1"/>
          </p:cNvSpPr>
          <p:nvPr>
            <p:ph type="title"/>
          </p:nvPr>
        </p:nvSpPr>
        <p:spPr>
          <a:xfrm>
            <a:off x="0" y="-18660"/>
            <a:ext cx="12192000" cy="699793"/>
          </a:xfrm>
        </p:spPr>
        <p:txBody>
          <a:bodyPr>
            <a:normAutofit/>
          </a:bodyPr>
          <a:lstStyle/>
          <a:p>
            <a:pPr algn="ctr"/>
            <a:r>
              <a:rPr lang="en-IN" sz="3000">
                <a:effectLst>
                  <a:outerShdw blurRad="38100" dist="38100" dir="2700000" algn="tl">
                    <a:srgbClr val="000000">
                      <a:alpha val="43137"/>
                    </a:srgbClr>
                  </a:outerShdw>
                </a:effectLst>
                <a:latin typeface="Century Gothic" panose="020B0502020202020204" pitchFamily="34" charset="0"/>
              </a:rPr>
              <a:t>Joins</a:t>
            </a:r>
          </a:p>
        </p:txBody>
      </p:sp>
      <p:sp>
        <p:nvSpPr>
          <p:cNvPr id="4" name="TextBox 3">
            <a:extLst>
              <a:ext uri="{FF2B5EF4-FFF2-40B4-BE49-F238E27FC236}">
                <a16:creationId xmlns:a16="http://schemas.microsoft.com/office/drawing/2014/main" id="{BF9622A8-E026-4162-AECB-EA8B28258E9E}"/>
              </a:ext>
            </a:extLst>
          </p:cNvPr>
          <p:cNvSpPr txBox="1"/>
          <p:nvPr/>
        </p:nvSpPr>
        <p:spPr>
          <a:xfrm>
            <a:off x="6811348" y="1582339"/>
            <a:ext cx="4898572" cy="3693319"/>
          </a:xfrm>
          <a:prstGeom prst="rect">
            <a:avLst/>
          </a:prstGeom>
          <a:noFill/>
          <a:ln>
            <a:solidFill>
              <a:schemeClr val="tx1"/>
            </a:solidFill>
          </a:ln>
        </p:spPr>
        <p:txBody>
          <a:bodyPr wrap="square" rtlCol="0">
            <a:spAutoFit/>
          </a:bodyPr>
          <a:lstStyle/>
          <a:p>
            <a:pPr algn="ctr"/>
            <a:r>
              <a:rPr lang="en-US" b="1"/>
              <a:t>which tourpackages have never been booked (LEFT JOIN)</a:t>
            </a:r>
          </a:p>
          <a:p>
            <a:endParaRPr lang="en-US"/>
          </a:p>
          <a:p>
            <a:r>
              <a:rPr lang="en-US" b="1" u="sng"/>
              <a:t>Syntax:</a:t>
            </a:r>
          </a:p>
          <a:p>
            <a:r>
              <a:rPr lang="en-US"/>
              <a:t>select </a:t>
            </a:r>
          </a:p>
          <a:p>
            <a:r>
              <a:rPr lang="en-US"/>
              <a:t>     tp.package_name,</a:t>
            </a:r>
          </a:p>
          <a:p>
            <a:r>
              <a:rPr lang="en-US"/>
              <a:t>     tp.package_price,</a:t>
            </a:r>
          </a:p>
          <a:p>
            <a:r>
              <a:rPr lang="en-US"/>
              <a:t>     COUNT(b.booking_id) as total_bookings</a:t>
            </a:r>
          </a:p>
          <a:p>
            <a:r>
              <a:rPr lang="en-US"/>
              <a:t>FROM TourPackages tp</a:t>
            </a:r>
          </a:p>
          <a:p>
            <a:r>
              <a:rPr lang="en-US"/>
              <a:t>LEFT JOIN Bookings b </a:t>
            </a:r>
          </a:p>
          <a:p>
            <a:r>
              <a:rPr lang="en-US"/>
              <a:t>ON tp.package_id = b.package_id</a:t>
            </a:r>
          </a:p>
          <a:p>
            <a:r>
              <a:rPr lang="en-US"/>
              <a:t>Group By tp.package_name, tp.package_price</a:t>
            </a:r>
          </a:p>
          <a:p>
            <a:r>
              <a:rPr lang="en-US"/>
              <a:t>Order By total_bookings DESC;</a:t>
            </a:r>
          </a:p>
        </p:txBody>
      </p:sp>
      <p:pic>
        <p:nvPicPr>
          <p:cNvPr id="5" name="Picture 4">
            <a:extLst>
              <a:ext uri="{FF2B5EF4-FFF2-40B4-BE49-F238E27FC236}">
                <a16:creationId xmlns:a16="http://schemas.microsoft.com/office/drawing/2014/main" id="{8C4F338D-DE40-4D2D-9322-CFD97FD487D3}"/>
              </a:ext>
            </a:extLst>
          </p:cNvPr>
          <p:cNvPicPr>
            <a:picLocks noChangeAspect="1"/>
          </p:cNvPicPr>
          <p:nvPr/>
        </p:nvPicPr>
        <p:blipFill rotWithShape="1">
          <a:blip r:embed="rId3">
            <a:extLst>
              <a:ext uri="{28A0092B-C50C-407E-A947-70E740481C1C}">
                <a14:useLocalDpi xmlns:a14="http://schemas.microsoft.com/office/drawing/2010/main" val="0"/>
              </a:ext>
            </a:extLst>
          </a:blip>
          <a:srcRect l="5878" t="2085" r="5540" b="5827"/>
          <a:stretch/>
        </p:blipFill>
        <p:spPr>
          <a:xfrm>
            <a:off x="653143" y="712992"/>
            <a:ext cx="3359020" cy="5432015"/>
          </a:xfrm>
          <a:prstGeom prst="rect">
            <a:avLst/>
          </a:prstGeom>
          <a:ln w="22225">
            <a:solidFill>
              <a:schemeClr val="tx1"/>
            </a:solidFill>
          </a:ln>
        </p:spPr>
      </p:pic>
    </p:spTree>
    <p:extLst>
      <p:ext uri="{BB962C8B-B14F-4D97-AF65-F5344CB8AC3E}">
        <p14:creationId xmlns:p14="http://schemas.microsoft.com/office/powerpoint/2010/main" val="26379436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a:blip r:embed="rId2">
            <a:alphaModFix amt="60000"/>
          </a:blip>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BAAA7-7566-4F78-A9E6-479C51F71441}"/>
              </a:ext>
            </a:extLst>
          </p:cNvPr>
          <p:cNvSpPr>
            <a:spLocks noGrp="1"/>
          </p:cNvSpPr>
          <p:nvPr>
            <p:ph type="title"/>
          </p:nvPr>
        </p:nvSpPr>
        <p:spPr>
          <a:xfrm>
            <a:off x="0" y="-18660"/>
            <a:ext cx="12192000" cy="699793"/>
          </a:xfrm>
        </p:spPr>
        <p:txBody>
          <a:bodyPr>
            <a:normAutofit/>
          </a:bodyPr>
          <a:lstStyle/>
          <a:p>
            <a:pPr algn="ctr"/>
            <a:r>
              <a:rPr lang="en-IN" sz="3000">
                <a:effectLst>
                  <a:outerShdw blurRad="38100" dist="38100" dir="2700000" algn="tl">
                    <a:srgbClr val="000000">
                      <a:alpha val="43137"/>
                    </a:srgbClr>
                  </a:outerShdw>
                </a:effectLst>
                <a:latin typeface="Century Gothic" panose="020B0502020202020204" pitchFamily="34" charset="0"/>
              </a:rPr>
              <a:t>Joins</a:t>
            </a:r>
          </a:p>
        </p:txBody>
      </p:sp>
      <p:sp>
        <p:nvSpPr>
          <p:cNvPr id="4" name="TextBox 3">
            <a:extLst>
              <a:ext uri="{FF2B5EF4-FFF2-40B4-BE49-F238E27FC236}">
                <a16:creationId xmlns:a16="http://schemas.microsoft.com/office/drawing/2014/main" id="{BF9622A8-E026-4162-AECB-EA8B28258E9E}"/>
              </a:ext>
            </a:extLst>
          </p:cNvPr>
          <p:cNvSpPr txBox="1"/>
          <p:nvPr/>
        </p:nvSpPr>
        <p:spPr>
          <a:xfrm>
            <a:off x="6785948" y="1166841"/>
            <a:ext cx="4898572" cy="5078313"/>
          </a:xfrm>
          <a:prstGeom prst="rect">
            <a:avLst/>
          </a:prstGeom>
          <a:noFill/>
          <a:ln>
            <a:solidFill>
              <a:schemeClr val="tx1"/>
            </a:solidFill>
          </a:ln>
        </p:spPr>
        <p:txBody>
          <a:bodyPr wrap="square" rtlCol="0">
            <a:spAutoFit/>
          </a:bodyPr>
          <a:lstStyle/>
          <a:p>
            <a:pPr algn="ctr"/>
            <a:r>
              <a:rPr lang="en-US" b="1"/>
              <a:t>Which TourPackages are underperforming compared to others (LEFT JOIN)</a:t>
            </a:r>
          </a:p>
          <a:p>
            <a:pPr algn="ctr"/>
            <a:endParaRPr lang="en-US" b="1"/>
          </a:p>
          <a:p>
            <a:r>
              <a:rPr lang="en-US" b="1" u="sng"/>
              <a:t>Syntax:</a:t>
            </a:r>
          </a:p>
          <a:p>
            <a:r>
              <a:rPr lang="en-US"/>
              <a:t>select </a:t>
            </a:r>
          </a:p>
          <a:p>
            <a:r>
              <a:rPr lang="en-US"/>
              <a:t>     tp.package_name,</a:t>
            </a:r>
          </a:p>
          <a:p>
            <a:r>
              <a:rPr lang="en-US"/>
              <a:t>     d.destination_name,</a:t>
            </a:r>
          </a:p>
          <a:p>
            <a:r>
              <a:rPr lang="en-US"/>
              <a:t>     tp.package_price,</a:t>
            </a:r>
          </a:p>
          <a:p>
            <a:r>
              <a:rPr lang="en-US"/>
              <a:t>     COUNT(b.booking_id) as total_bookings,        </a:t>
            </a:r>
          </a:p>
          <a:p>
            <a:r>
              <a:rPr lang="en-US"/>
              <a:t>     IFNULL(sum(b.travelers),0) as total_travelers</a:t>
            </a:r>
          </a:p>
          <a:p>
            <a:r>
              <a:rPr lang="en-US"/>
              <a:t>FROM TourPackages tp</a:t>
            </a:r>
          </a:p>
          <a:p>
            <a:r>
              <a:rPr lang="en-US"/>
              <a:t>LEFT JOIN Destinations d </a:t>
            </a:r>
          </a:p>
          <a:p>
            <a:r>
              <a:rPr lang="en-US"/>
              <a:t>ON tp.destination_id = d.destination_id</a:t>
            </a:r>
          </a:p>
          <a:p>
            <a:r>
              <a:rPr lang="en-US"/>
              <a:t>LEFT JOIN Bookings b </a:t>
            </a:r>
          </a:p>
          <a:p>
            <a:r>
              <a:rPr lang="en-US"/>
              <a:t>ON tp.package_id = b.package_id </a:t>
            </a:r>
          </a:p>
          <a:p>
            <a:r>
              <a:rPr lang="en-US"/>
              <a:t>Group By tp.package_name, d.destination_name, tp.package_price</a:t>
            </a:r>
          </a:p>
          <a:p>
            <a:r>
              <a:rPr lang="en-US"/>
              <a:t>Order By total_bookings DESC;</a:t>
            </a:r>
          </a:p>
        </p:txBody>
      </p:sp>
      <p:pic>
        <p:nvPicPr>
          <p:cNvPr id="6" name="Picture 5">
            <a:extLst>
              <a:ext uri="{FF2B5EF4-FFF2-40B4-BE49-F238E27FC236}">
                <a16:creationId xmlns:a16="http://schemas.microsoft.com/office/drawing/2014/main" id="{F0F23F33-ECC2-4D0C-838E-9157707334DA}"/>
              </a:ext>
            </a:extLst>
          </p:cNvPr>
          <p:cNvPicPr>
            <a:picLocks noChangeAspect="1"/>
          </p:cNvPicPr>
          <p:nvPr/>
        </p:nvPicPr>
        <p:blipFill rotWithShape="1">
          <a:blip r:embed="rId3">
            <a:extLst>
              <a:ext uri="{28A0092B-C50C-407E-A947-70E740481C1C}">
                <a14:useLocalDpi xmlns:a14="http://schemas.microsoft.com/office/drawing/2010/main" val="0"/>
              </a:ext>
            </a:extLst>
          </a:blip>
          <a:srcRect l="1233" t="3146" r="3108" b="5651"/>
          <a:stretch/>
        </p:blipFill>
        <p:spPr>
          <a:xfrm>
            <a:off x="426094" y="1053170"/>
            <a:ext cx="5157456" cy="5305656"/>
          </a:xfrm>
          <a:prstGeom prst="rect">
            <a:avLst/>
          </a:prstGeom>
          <a:ln w="22225">
            <a:solidFill>
              <a:schemeClr val="tx1"/>
            </a:solidFill>
          </a:ln>
        </p:spPr>
      </p:pic>
    </p:spTree>
    <p:extLst>
      <p:ext uri="{BB962C8B-B14F-4D97-AF65-F5344CB8AC3E}">
        <p14:creationId xmlns:p14="http://schemas.microsoft.com/office/powerpoint/2010/main" val="15883846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2">
            <a:alphaModFix amt="60000"/>
          </a:blip>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BAAA7-7566-4F78-A9E6-479C51F71441}"/>
              </a:ext>
            </a:extLst>
          </p:cNvPr>
          <p:cNvSpPr>
            <a:spLocks noGrp="1"/>
          </p:cNvSpPr>
          <p:nvPr>
            <p:ph type="title"/>
          </p:nvPr>
        </p:nvSpPr>
        <p:spPr>
          <a:xfrm>
            <a:off x="0" y="-18660"/>
            <a:ext cx="12192000" cy="699793"/>
          </a:xfrm>
        </p:spPr>
        <p:txBody>
          <a:bodyPr>
            <a:normAutofit/>
          </a:bodyPr>
          <a:lstStyle/>
          <a:p>
            <a:pPr algn="ctr"/>
            <a:r>
              <a:rPr lang="en-IN" sz="3000">
                <a:effectLst>
                  <a:outerShdw blurRad="38100" dist="38100" dir="2700000" algn="tl">
                    <a:srgbClr val="000000">
                      <a:alpha val="43137"/>
                    </a:srgbClr>
                  </a:outerShdw>
                </a:effectLst>
                <a:latin typeface="Century Gothic" panose="020B0502020202020204" pitchFamily="34" charset="0"/>
              </a:rPr>
              <a:t>Joins</a:t>
            </a:r>
          </a:p>
        </p:txBody>
      </p:sp>
      <p:sp>
        <p:nvSpPr>
          <p:cNvPr id="4" name="TextBox 3">
            <a:extLst>
              <a:ext uri="{FF2B5EF4-FFF2-40B4-BE49-F238E27FC236}">
                <a16:creationId xmlns:a16="http://schemas.microsoft.com/office/drawing/2014/main" id="{BF9622A8-E026-4162-AECB-EA8B28258E9E}"/>
              </a:ext>
            </a:extLst>
          </p:cNvPr>
          <p:cNvSpPr txBox="1"/>
          <p:nvPr/>
        </p:nvSpPr>
        <p:spPr>
          <a:xfrm>
            <a:off x="6830009" y="1940108"/>
            <a:ext cx="4898572" cy="3416320"/>
          </a:xfrm>
          <a:prstGeom prst="rect">
            <a:avLst/>
          </a:prstGeom>
          <a:noFill/>
          <a:ln>
            <a:solidFill>
              <a:schemeClr val="tx1"/>
            </a:solidFill>
          </a:ln>
        </p:spPr>
        <p:txBody>
          <a:bodyPr wrap="square" rtlCol="0">
            <a:spAutoFit/>
          </a:bodyPr>
          <a:lstStyle/>
          <a:p>
            <a:pPr algn="ctr"/>
            <a:r>
              <a:rPr lang="en-US" b="1"/>
              <a:t>List all hotel along with their destination and rating (RIGHT JOIN)</a:t>
            </a:r>
          </a:p>
          <a:p>
            <a:pPr algn="ctr"/>
            <a:endParaRPr lang="en-US" b="1"/>
          </a:p>
          <a:p>
            <a:r>
              <a:rPr lang="en-US" b="1" u="sng"/>
              <a:t>Syntax:</a:t>
            </a:r>
          </a:p>
          <a:p>
            <a:r>
              <a:rPr lang="en-US"/>
              <a:t>Select</a:t>
            </a:r>
          </a:p>
          <a:p>
            <a:r>
              <a:rPr lang="en-US"/>
              <a:t>     h.hotel_name,</a:t>
            </a:r>
          </a:p>
          <a:p>
            <a:r>
              <a:rPr lang="en-US"/>
              <a:t>     d.destination_name,</a:t>
            </a:r>
          </a:p>
          <a:p>
            <a:r>
              <a:rPr lang="en-US"/>
              <a:t>     h.ratingFROM Destinations d </a:t>
            </a:r>
          </a:p>
          <a:p>
            <a:r>
              <a:rPr lang="en-US"/>
              <a:t>RIGHT JOIN Hotels h </a:t>
            </a:r>
          </a:p>
          <a:p>
            <a:r>
              <a:rPr lang="en-US"/>
              <a:t>ON d.destination_id= h.destination_id</a:t>
            </a:r>
          </a:p>
          <a:p>
            <a:r>
              <a:rPr lang="en-US"/>
              <a:t>where h.rating &gt;=4.0</a:t>
            </a:r>
          </a:p>
          <a:p>
            <a:r>
              <a:rPr lang="en-US"/>
              <a:t>Order By h.rating DESC;</a:t>
            </a:r>
          </a:p>
        </p:txBody>
      </p:sp>
      <p:pic>
        <p:nvPicPr>
          <p:cNvPr id="5" name="Picture 4">
            <a:extLst>
              <a:ext uri="{FF2B5EF4-FFF2-40B4-BE49-F238E27FC236}">
                <a16:creationId xmlns:a16="http://schemas.microsoft.com/office/drawing/2014/main" id="{47A2824B-181A-4D95-B462-B2683BA37827}"/>
              </a:ext>
            </a:extLst>
          </p:cNvPr>
          <p:cNvPicPr>
            <a:picLocks noChangeAspect="1"/>
          </p:cNvPicPr>
          <p:nvPr/>
        </p:nvPicPr>
        <p:blipFill rotWithShape="1">
          <a:blip r:embed="rId3">
            <a:extLst>
              <a:ext uri="{28A0092B-C50C-407E-A947-70E740481C1C}">
                <a14:useLocalDpi xmlns:a14="http://schemas.microsoft.com/office/drawing/2010/main" val="0"/>
              </a:ext>
            </a:extLst>
          </a:blip>
          <a:srcRect l="6500" t="1365" r="3835" b="3226"/>
          <a:stretch/>
        </p:blipFill>
        <p:spPr>
          <a:xfrm>
            <a:off x="463419" y="839754"/>
            <a:ext cx="3387014" cy="5617028"/>
          </a:xfrm>
          <a:prstGeom prst="rect">
            <a:avLst/>
          </a:prstGeom>
          <a:ln w="22225">
            <a:solidFill>
              <a:schemeClr val="tx1"/>
            </a:solidFill>
          </a:ln>
        </p:spPr>
      </p:pic>
    </p:spTree>
    <p:extLst>
      <p:ext uri="{BB962C8B-B14F-4D97-AF65-F5344CB8AC3E}">
        <p14:creationId xmlns:p14="http://schemas.microsoft.com/office/powerpoint/2010/main" val="4541097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D5707-C7F7-4BC1-BE15-B1209E9FA401}"/>
              </a:ext>
            </a:extLst>
          </p:cNvPr>
          <p:cNvSpPr>
            <a:spLocks noGrp="1"/>
          </p:cNvSpPr>
          <p:nvPr>
            <p:ph type="title"/>
          </p:nvPr>
        </p:nvSpPr>
        <p:spPr>
          <a:xfrm>
            <a:off x="0" y="2766218"/>
            <a:ext cx="12204441" cy="1325563"/>
          </a:xfrm>
        </p:spPr>
        <p:txBody>
          <a:bodyPr/>
          <a:lstStyle/>
          <a:p>
            <a:pPr algn="ctr"/>
            <a:r>
              <a:rPr lang="en-IN" i="1" u="sng">
                <a:solidFill>
                  <a:schemeClr val="bg1"/>
                </a:solidFill>
                <a:effectLst>
                  <a:outerShdw blurRad="38100" dist="38100" dir="2700000" algn="tl">
                    <a:srgbClr val="000000">
                      <a:alpha val="43137"/>
                    </a:srgbClr>
                  </a:outerShdw>
                </a:effectLst>
              </a:rPr>
              <a:t>SUBQUERIES</a:t>
            </a:r>
          </a:p>
        </p:txBody>
      </p:sp>
      <p:pic>
        <p:nvPicPr>
          <p:cNvPr id="5" name="Picture 4">
            <a:extLst>
              <a:ext uri="{FF2B5EF4-FFF2-40B4-BE49-F238E27FC236}">
                <a16:creationId xmlns:a16="http://schemas.microsoft.com/office/drawing/2014/main" id="{0F92EC37-1C64-4849-94C0-4EB3FFF581D5}"/>
              </a:ext>
            </a:extLst>
          </p:cNvPr>
          <p:cNvPicPr>
            <a:picLocks noChangeAspect="1"/>
          </p:cNvPicPr>
          <p:nvPr/>
        </p:nvPicPr>
        <p:blipFill rotWithShape="1">
          <a:blip r:embed="rId2">
            <a:extLst>
              <a:ext uri="{28A0092B-C50C-407E-A947-70E740481C1C}">
                <a14:useLocalDpi xmlns:a14="http://schemas.microsoft.com/office/drawing/2010/main" val="0"/>
              </a:ext>
            </a:extLst>
          </a:blip>
          <a:srcRect b="5850"/>
          <a:stretch/>
        </p:blipFill>
        <p:spPr>
          <a:xfrm rot="256886" flipH="1">
            <a:off x="-149114" y="1078067"/>
            <a:ext cx="5776229" cy="5787483"/>
          </a:xfrm>
          <a:prstGeom prst="rect">
            <a:avLst/>
          </a:prstGeom>
        </p:spPr>
      </p:pic>
    </p:spTree>
    <p:extLst>
      <p:ext uri="{BB962C8B-B14F-4D97-AF65-F5344CB8AC3E}">
        <p14:creationId xmlns:p14="http://schemas.microsoft.com/office/powerpoint/2010/main" val="20144074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a:blip r:embed="rId2">
            <a:alphaModFix amt="60000"/>
          </a:blip>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BAAA7-7566-4F78-A9E6-479C51F71441}"/>
              </a:ext>
            </a:extLst>
          </p:cNvPr>
          <p:cNvSpPr>
            <a:spLocks noGrp="1"/>
          </p:cNvSpPr>
          <p:nvPr>
            <p:ph type="title"/>
          </p:nvPr>
        </p:nvSpPr>
        <p:spPr>
          <a:xfrm>
            <a:off x="0" y="-18660"/>
            <a:ext cx="12192000" cy="699793"/>
          </a:xfrm>
        </p:spPr>
        <p:txBody>
          <a:bodyPr>
            <a:normAutofit/>
          </a:bodyPr>
          <a:lstStyle/>
          <a:p>
            <a:pPr algn="ctr"/>
            <a:r>
              <a:rPr lang="en-IN" sz="3000">
                <a:effectLst>
                  <a:outerShdw blurRad="38100" dist="38100" dir="2700000" algn="tl">
                    <a:srgbClr val="000000">
                      <a:alpha val="43137"/>
                    </a:srgbClr>
                  </a:outerShdw>
                </a:effectLst>
                <a:latin typeface="Century Gothic" panose="020B0502020202020204" pitchFamily="34" charset="0"/>
              </a:rPr>
              <a:t>Subqueries</a:t>
            </a:r>
          </a:p>
        </p:txBody>
      </p:sp>
      <p:sp>
        <p:nvSpPr>
          <p:cNvPr id="4" name="TextBox 3">
            <a:extLst>
              <a:ext uri="{FF2B5EF4-FFF2-40B4-BE49-F238E27FC236}">
                <a16:creationId xmlns:a16="http://schemas.microsoft.com/office/drawing/2014/main" id="{BF9622A8-E026-4162-AECB-EA8B28258E9E}"/>
              </a:ext>
            </a:extLst>
          </p:cNvPr>
          <p:cNvSpPr txBox="1"/>
          <p:nvPr/>
        </p:nvSpPr>
        <p:spPr>
          <a:xfrm>
            <a:off x="7352524" y="1859339"/>
            <a:ext cx="4133460" cy="3416320"/>
          </a:xfrm>
          <a:prstGeom prst="rect">
            <a:avLst/>
          </a:prstGeom>
          <a:noFill/>
          <a:ln>
            <a:solidFill>
              <a:schemeClr val="tx1"/>
            </a:solidFill>
          </a:ln>
        </p:spPr>
        <p:txBody>
          <a:bodyPr wrap="square" rtlCol="0">
            <a:spAutoFit/>
          </a:bodyPr>
          <a:lstStyle/>
          <a:p>
            <a:pPr algn="ctr"/>
            <a:r>
              <a:rPr lang="en-US" b="1"/>
              <a:t>Which packages are rated better than the overall averages rating?</a:t>
            </a:r>
          </a:p>
          <a:p>
            <a:pPr algn="ctr"/>
            <a:endParaRPr lang="en-US" b="1"/>
          </a:p>
          <a:p>
            <a:r>
              <a:rPr lang="en-US" b="1" u="sng"/>
              <a:t>Syntax:</a:t>
            </a:r>
          </a:p>
          <a:p>
            <a:r>
              <a:rPr lang="en-US"/>
              <a:t>select package_name from TourPackages</a:t>
            </a:r>
          </a:p>
          <a:p>
            <a:r>
              <a:rPr lang="en-US"/>
              <a:t>Where package_id IN </a:t>
            </a:r>
          </a:p>
          <a:p>
            <a:r>
              <a:rPr lang="en-US"/>
              <a:t> </a:t>
            </a:r>
          </a:p>
          <a:p>
            <a:r>
              <a:rPr lang="en-US"/>
              <a:t>(select package_id from Reviews </a:t>
            </a:r>
          </a:p>
          <a:p>
            <a:r>
              <a:rPr lang="en-US"/>
              <a:t>Group By package_id </a:t>
            </a:r>
          </a:p>
          <a:p>
            <a:r>
              <a:rPr lang="en-US"/>
              <a:t>Having avg(rating) &gt;</a:t>
            </a:r>
          </a:p>
          <a:p>
            <a:endParaRPr lang="en-US"/>
          </a:p>
          <a:p>
            <a:r>
              <a:rPr lang="en-US"/>
              <a:t>(select avg(rating) from reviews));</a:t>
            </a:r>
          </a:p>
        </p:txBody>
      </p:sp>
      <p:pic>
        <p:nvPicPr>
          <p:cNvPr id="6" name="Picture 5">
            <a:extLst>
              <a:ext uri="{FF2B5EF4-FFF2-40B4-BE49-F238E27FC236}">
                <a16:creationId xmlns:a16="http://schemas.microsoft.com/office/drawing/2014/main" id="{238FB7C0-A419-4852-83DC-4C85E5CDBF22}"/>
              </a:ext>
            </a:extLst>
          </p:cNvPr>
          <p:cNvPicPr>
            <a:picLocks noChangeAspect="1"/>
          </p:cNvPicPr>
          <p:nvPr/>
        </p:nvPicPr>
        <p:blipFill rotWithShape="1">
          <a:blip r:embed="rId3">
            <a:extLst>
              <a:ext uri="{28A0092B-C50C-407E-A947-70E740481C1C}">
                <a14:useLocalDpi xmlns:a14="http://schemas.microsoft.com/office/drawing/2010/main" val="0"/>
              </a:ext>
            </a:extLst>
          </a:blip>
          <a:srcRect l="11887" t="7561" r="13468" b="10051"/>
          <a:stretch/>
        </p:blipFill>
        <p:spPr>
          <a:xfrm>
            <a:off x="584718" y="1396113"/>
            <a:ext cx="3018793" cy="4065772"/>
          </a:xfrm>
          <a:prstGeom prst="rect">
            <a:avLst/>
          </a:prstGeom>
          <a:ln w="22225">
            <a:solidFill>
              <a:schemeClr val="tx1"/>
            </a:solidFill>
          </a:ln>
        </p:spPr>
      </p:pic>
    </p:spTree>
    <p:extLst>
      <p:ext uri="{BB962C8B-B14F-4D97-AF65-F5344CB8AC3E}">
        <p14:creationId xmlns:p14="http://schemas.microsoft.com/office/powerpoint/2010/main" val="21821265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a:blip r:embed="rId2">
            <a:alphaModFix amt="60000"/>
          </a:blip>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BAAA7-7566-4F78-A9E6-479C51F71441}"/>
              </a:ext>
            </a:extLst>
          </p:cNvPr>
          <p:cNvSpPr>
            <a:spLocks noGrp="1"/>
          </p:cNvSpPr>
          <p:nvPr>
            <p:ph type="title"/>
          </p:nvPr>
        </p:nvSpPr>
        <p:spPr>
          <a:xfrm>
            <a:off x="0" y="-18660"/>
            <a:ext cx="12192000" cy="699793"/>
          </a:xfrm>
        </p:spPr>
        <p:txBody>
          <a:bodyPr>
            <a:normAutofit/>
          </a:bodyPr>
          <a:lstStyle/>
          <a:p>
            <a:pPr algn="ctr"/>
            <a:r>
              <a:rPr lang="en-IN" sz="3000">
                <a:effectLst>
                  <a:outerShdw blurRad="38100" dist="38100" dir="2700000" algn="tl">
                    <a:srgbClr val="000000">
                      <a:alpha val="43137"/>
                    </a:srgbClr>
                  </a:outerShdw>
                </a:effectLst>
                <a:latin typeface="Century Gothic" panose="020B0502020202020204" pitchFamily="34" charset="0"/>
              </a:rPr>
              <a:t>Subqueries</a:t>
            </a:r>
          </a:p>
        </p:txBody>
      </p:sp>
      <p:sp>
        <p:nvSpPr>
          <p:cNvPr id="4" name="TextBox 3">
            <a:extLst>
              <a:ext uri="{FF2B5EF4-FFF2-40B4-BE49-F238E27FC236}">
                <a16:creationId xmlns:a16="http://schemas.microsoft.com/office/drawing/2014/main" id="{BF9622A8-E026-4162-AECB-EA8B28258E9E}"/>
              </a:ext>
            </a:extLst>
          </p:cNvPr>
          <p:cNvSpPr txBox="1"/>
          <p:nvPr/>
        </p:nvSpPr>
        <p:spPr>
          <a:xfrm>
            <a:off x="6901544" y="1860664"/>
            <a:ext cx="4749280" cy="3693319"/>
          </a:xfrm>
          <a:prstGeom prst="rect">
            <a:avLst/>
          </a:prstGeom>
          <a:noFill/>
          <a:ln>
            <a:solidFill>
              <a:schemeClr val="tx1"/>
            </a:solidFill>
          </a:ln>
        </p:spPr>
        <p:txBody>
          <a:bodyPr wrap="square" rtlCol="0">
            <a:spAutoFit/>
          </a:bodyPr>
          <a:lstStyle/>
          <a:p>
            <a:pPr algn="ctr"/>
            <a:r>
              <a:rPr lang="en-US" b="1"/>
              <a:t>Which destination have more hotel options than the average destination</a:t>
            </a:r>
          </a:p>
          <a:p>
            <a:endParaRPr lang="en-US"/>
          </a:p>
          <a:p>
            <a:r>
              <a:rPr lang="en-US" b="1" u="sng"/>
              <a:t>Syntax:</a:t>
            </a:r>
          </a:p>
          <a:p>
            <a:r>
              <a:rPr lang="en-US"/>
              <a:t>select destination_id , COUNT(*) as hotel_count</a:t>
            </a:r>
          </a:p>
          <a:p>
            <a:r>
              <a:rPr lang="en-US"/>
              <a:t>From Hotels</a:t>
            </a:r>
          </a:p>
          <a:p>
            <a:r>
              <a:rPr lang="en-US"/>
              <a:t>Group By destination_id </a:t>
            </a:r>
          </a:p>
          <a:p>
            <a:r>
              <a:rPr lang="en-US"/>
              <a:t>Having COUNT(*) &gt;</a:t>
            </a:r>
          </a:p>
          <a:p>
            <a:r>
              <a:rPr lang="en-US"/>
              <a:t>(select AVG(hotel_count)</a:t>
            </a:r>
          </a:p>
          <a:p>
            <a:r>
              <a:rPr lang="en-US"/>
              <a:t>From</a:t>
            </a:r>
          </a:p>
          <a:p>
            <a:r>
              <a:rPr lang="en-US"/>
              <a:t>(select COUNT(*) AS hotel_count</a:t>
            </a:r>
          </a:p>
          <a:p>
            <a:r>
              <a:rPr lang="en-US"/>
              <a:t>From Hotels</a:t>
            </a:r>
          </a:p>
          <a:p>
            <a:r>
              <a:rPr lang="en-US"/>
              <a:t>Group By destination_id) t);</a:t>
            </a:r>
          </a:p>
        </p:txBody>
      </p:sp>
      <p:pic>
        <p:nvPicPr>
          <p:cNvPr id="5" name="Picture 4">
            <a:extLst>
              <a:ext uri="{FF2B5EF4-FFF2-40B4-BE49-F238E27FC236}">
                <a16:creationId xmlns:a16="http://schemas.microsoft.com/office/drawing/2014/main" id="{D67D2C10-2F52-4042-BF54-B19E824438F5}"/>
              </a:ext>
            </a:extLst>
          </p:cNvPr>
          <p:cNvPicPr>
            <a:picLocks noChangeAspect="1"/>
          </p:cNvPicPr>
          <p:nvPr/>
        </p:nvPicPr>
        <p:blipFill rotWithShape="1">
          <a:blip r:embed="rId3">
            <a:extLst>
              <a:ext uri="{28A0092B-C50C-407E-A947-70E740481C1C}">
                <a14:useLocalDpi xmlns:a14="http://schemas.microsoft.com/office/drawing/2010/main" val="0"/>
              </a:ext>
            </a:extLst>
          </a:blip>
          <a:srcRect l="14003" t="1571" r="19743" b="19347"/>
          <a:stretch/>
        </p:blipFill>
        <p:spPr>
          <a:xfrm>
            <a:off x="615820" y="1933120"/>
            <a:ext cx="2771192" cy="3271408"/>
          </a:xfrm>
          <a:prstGeom prst="rect">
            <a:avLst/>
          </a:prstGeom>
          <a:ln w="22225">
            <a:solidFill>
              <a:schemeClr val="tx1"/>
            </a:solidFill>
          </a:ln>
        </p:spPr>
      </p:pic>
    </p:spTree>
    <p:extLst>
      <p:ext uri="{BB962C8B-B14F-4D97-AF65-F5344CB8AC3E}">
        <p14:creationId xmlns:p14="http://schemas.microsoft.com/office/powerpoint/2010/main" val="18550740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a:blip r:embed="rId2">
            <a:alphaModFix amt="60000"/>
          </a:blip>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BAAA7-7566-4F78-A9E6-479C51F71441}"/>
              </a:ext>
            </a:extLst>
          </p:cNvPr>
          <p:cNvSpPr>
            <a:spLocks noGrp="1"/>
          </p:cNvSpPr>
          <p:nvPr>
            <p:ph type="title"/>
          </p:nvPr>
        </p:nvSpPr>
        <p:spPr>
          <a:xfrm>
            <a:off x="0" y="-18660"/>
            <a:ext cx="12192000" cy="699793"/>
          </a:xfrm>
        </p:spPr>
        <p:txBody>
          <a:bodyPr>
            <a:normAutofit/>
          </a:bodyPr>
          <a:lstStyle/>
          <a:p>
            <a:pPr algn="ctr"/>
            <a:r>
              <a:rPr lang="en-IN" sz="3000">
                <a:effectLst>
                  <a:outerShdw blurRad="38100" dist="38100" dir="2700000" algn="tl">
                    <a:srgbClr val="000000">
                      <a:alpha val="43137"/>
                    </a:srgbClr>
                  </a:outerShdw>
                </a:effectLst>
                <a:latin typeface="Century Gothic" panose="020B0502020202020204" pitchFamily="34" charset="0"/>
              </a:rPr>
              <a:t>Subqueries</a:t>
            </a:r>
          </a:p>
        </p:txBody>
      </p:sp>
      <p:sp>
        <p:nvSpPr>
          <p:cNvPr id="4" name="TextBox 3">
            <a:extLst>
              <a:ext uri="{FF2B5EF4-FFF2-40B4-BE49-F238E27FC236}">
                <a16:creationId xmlns:a16="http://schemas.microsoft.com/office/drawing/2014/main" id="{BF9622A8-E026-4162-AECB-EA8B28258E9E}"/>
              </a:ext>
            </a:extLst>
          </p:cNvPr>
          <p:cNvSpPr txBox="1"/>
          <p:nvPr/>
        </p:nvSpPr>
        <p:spPr>
          <a:xfrm>
            <a:off x="7155544" y="2274838"/>
            <a:ext cx="4418389" cy="2585323"/>
          </a:xfrm>
          <a:prstGeom prst="rect">
            <a:avLst/>
          </a:prstGeom>
          <a:noFill/>
          <a:ln>
            <a:solidFill>
              <a:schemeClr val="tx1"/>
            </a:solidFill>
          </a:ln>
        </p:spPr>
        <p:txBody>
          <a:bodyPr wrap="square" rtlCol="0">
            <a:spAutoFit/>
          </a:bodyPr>
          <a:lstStyle/>
          <a:p>
            <a:pPr algn="ctr"/>
            <a:r>
              <a:rPr lang="en-US" b="1"/>
              <a:t>Which packages have a price higher than the average package price</a:t>
            </a:r>
          </a:p>
          <a:p>
            <a:pPr algn="ctr"/>
            <a:endParaRPr lang="en-US" b="1"/>
          </a:p>
          <a:p>
            <a:r>
              <a:rPr lang="en-US" b="1" u="sng"/>
              <a:t>Syntax:</a:t>
            </a:r>
          </a:p>
          <a:p>
            <a:r>
              <a:rPr lang="en-US"/>
              <a:t>select package_name, package_price</a:t>
            </a:r>
          </a:p>
          <a:p>
            <a:r>
              <a:rPr lang="en-US"/>
              <a:t>From TourPackages </a:t>
            </a:r>
          </a:p>
          <a:p>
            <a:r>
              <a:rPr lang="en-US"/>
              <a:t>Where package_price &gt;</a:t>
            </a:r>
          </a:p>
          <a:p>
            <a:r>
              <a:rPr lang="en-US"/>
              <a:t>(select ROUND(AVG(package_price),2)</a:t>
            </a:r>
          </a:p>
          <a:p>
            <a:r>
              <a:rPr lang="en-US"/>
              <a:t>From TourPackages);</a:t>
            </a:r>
          </a:p>
        </p:txBody>
      </p:sp>
      <p:pic>
        <p:nvPicPr>
          <p:cNvPr id="5" name="Picture 4">
            <a:extLst>
              <a:ext uri="{FF2B5EF4-FFF2-40B4-BE49-F238E27FC236}">
                <a16:creationId xmlns:a16="http://schemas.microsoft.com/office/drawing/2014/main" id="{4C47E289-9F8C-4819-BE0A-E83DC1875E3A}"/>
              </a:ext>
            </a:extLst>
          </p:cNvPr>
          <p:cNvPicPr>
            <a:picLocks noChangeAspect="1"/>
          </p:cNvPicPr>
          <p:nvPr/>
        </p:nvPicPr>
        <p:blipFill rotWithShape="1">
          <a:blip r:embed="rId3">
            <a:extLst>
              <a:ext uri="{28A0092B-C50C-407E-A947-70E740481C1C}">
                <a14:useLocalDpi xmlns:a14="http://schemas.microsoft.com/office/drawing/2010/main" val="0"/>
              </a:ext>
            </a:extLst>
          </a:blip>
          <a:srcRect l="7776" t="2776" r="6891" b="8612"/>
          <a:stretch/>
        </p:blipFill>
        <p:spPr>
          <a:xfrm>
            <a:off x="523382" y="1585527"/>
            <a:ext cx="3292837" cy="3686946"/>
          </a:xfrm>
          <a:prstGeom prst="rect">
            <a:avLst/>
          </a:prstGeom>
          <a:ln w="22225">
            <a:solidFill>
              <a:schemeClr val="tx1"/>
            </a:solidFill>
          </a:ln>
        </p:spPr>
      </p:pic>
    </p:spTree>
    <p:extLst>
      <p:ext uri="{BB962C8B-B14F-4D97-AF65-F5344CB8AC3E}">
        <p14:creationId xmlns:p14="http://schemas.microsoft.com/office/powerpoint/2010/main" val="36350114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a:blip r:embed="rId2">
            <a:alphaModFix amt="60000"/>
          </a:blip>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BAAA7-7566-4F78-A9E6-479C51F71441}"/>
              </a:ext>
            </a:extLst>
          </p:cNvPr>
          <p:cNvSpPr>
            <a:spLocks noGrp="1"/>
          </p:cNvSpPr>
          <p:nvPr>
            <p:ph type="title"/>
          </p:nvPr>
        </p:nvSpPr>
        <p:spPr>
          <a:xfrm>
            <a:off x="0" y="-18660"/>
            <a:ext cx="12192000" cy="699793"/>
          </a:xfrm>
        </p:spPr>
        <p:txBody>
          <a:bodyPr>
            <a:normAutofit/>
          </a:bodyPr>
          <a:lstStyle/>
          <a:p>
            <a:pPr algn="ctr"/>
            <a:r>
              <a:rPr lang="en-IN" sz="3000">
                <a:effectLst>
                  <a:outerShdw blurRad="38100" dist="38100" dir="2700000" algn="tl">
                    <a:srgbClr val="000000">
                      <a:alpha val="43137"/>
                    </a:srgbClr>
                  </a:outerShdw>
                </a:effectLst>
                <a:latin typeface="Century Gothic" panose="020B0502020202020204" pitchFamily="34" charset="0"/>
              </a:rPr>
              <a:t>Subqueries</a:t>
            </a:r>
          </a:p>
        </p:txBody>
      </p:sp>
      <p:sp>
        <p:nvSpPr>
          <p:cNvPr id="4" name="TextBox 3">
            <a:extLst>
              <a:ext uri="{FF2B5EF4-FFF2-40B4-BE49-F238E27FC236}">
                <a16:creationId xmlns:a16="http://schemas.microsoft.com/office/drawing/2014/main" id="{BF9622A8-E026-4162-AECB-EA8B28258E9E}"/>
              </a:ext>
            </a:extLst>
          </p:cNvPr>
          <p:cNvSpPr txBox="1"/>
          <p:nvPr/>
        </p:nvSpPr>
        <p:spPr>
          <a:xfrm>
            <a:off x="6371771" y="1443841"/>
            <a:ext cx="5319485" cy="4247317"/>
          </a:xfrm>
          <a:prstGeom prst="rect">
            <a:avLst/>
          </a:prstGeom>
          <a:noFill/>
          <a:ln>
            <a:solidFill>
              <a:schemeClr val="tx1"/>
            </a:solidFill>
          </a:ln>
        </p:spPr>
        <p:txBody>
          <a:bodyPr wrap="square" rtlCol="0">
            <a:spAutoFit/>
          </a:bodyPr>
          <a:lstStyle/>
          <a:p>
            <a:pPr algn="ctr"/>
            <a:r>
              <a:rPr lang="en-US" b="1"/>
              <a:t>Which customers have spent more than the average customer spending</a:t>
            </a:r>
          </a:p>
          <a:p>
            <a:pPr algn="ctr"/>
            <a:endParaRPr lang="en-US" b="1"/>
          </a:p>
          <a:p>
            <a:r>
              <a:rPr lang="en-US" b="1" u="sng"/>
              <a:t>Syntax:</a:t>
            </a:r>
          </a:p>
          <a:p>
            <a:r>
              <a:rPr lang="en-US"/>
              <a:t>select b.customer_id, SUM(p.amount) AS total_spent</a:t>
            </a:r>
          </a:p>
          <a:p>
            <a:r>
              <a:rPr lang="en-US"/>
              <a:t>From Bookings b, Payments p </a:t>
            </a:r>
          </a:p>
          <a:p>
            <a:r>
              <a:rPr lang="en-US"/>
              <a:t>Where b.booking_id = p.booking_id </a:t>
            </a:r>
          </a:p>
          <a:p>
            <a:r>
              <a:rPr lang="en-US"/>
              <a:t>Group By b.customer_id</a:t>
            </a:r>
          </a:p>
          <a:p>
            <a:r>
              <a:rPr lang="en-US"/>
              <a:t>Having SUM(p.amount) &gt;</a:t>
            </a:r>
          </a:p>
          <a:p>
            <a:r>
              <a:rPr lang="en-US"/>
              <a:t>(select AVG(customer_total) </a:t>
            </a:r>
          </a:p>
          <a:p>
            <a:r>
              <a:rPr lang="en-US"/>
              <a:t>From </a:t>
            </a:r>
          </a:p>
          <a:p>
            <a:r>
              <a:rPr lang="en-US"/>
              <a:t>(select SUM(p2.amount) AS customer_total</a:t>
            </a:r>
          </a:p>
          <a:p>
            <a:r>
              <a:rPr lang="en-US"/>
              <a:t>From Bookings b2, Payments p2</a:t>
            </a:r>
          </a:p>
          <a:p>
            <a:r>
              <a:rPr lang="en-US"/>
              <a:t>Where b2.booking_id = p2.booking_id</a:t>
            </a:r>
          </a:p>
          <a:p>
            <a:r>
              <a:rPr lang="en-US"/>
              <a:t>Group By b2.customer_id)t);</a:t>
            </a:r>
          </a:p>
        </p:txBody>
      </p:sp>
      <p:pic>
        <p:nvPicPr>
          <p:cNvPr id="6" name="Picture 5">
            <a:extLst>
              <a:ext uri="{FF2B5EF4-FFF2-40B4-BE49-F238E27FC236}">
                <a16:creationId xmlns:a16="http://schemas.microsoft.com/office/drawing/2014/main" id="{AB320FCF-6081-4058-B823-4CE25B6E781D}"/>
              </a:ext>
            </a:extLst>
          </p:cNvPr>
          <p:cNvPicPr>
            <a:picLocks noChangeAspect="1"/>
          </p:cNvPicPr>
          <p:nvPr/>
        </p:nvPicPr>
        <p:blipFill rotWithShape="1">
          <a:blip r:embed="rId3">
            <a:extLst>
              <a:ext uri="{28A0092B-C50C-407E-A947-70E740481C1C}">
                <a14:useLocalDpi xmlns:a14="http://schemas.microsoft.com/office/drawing/2010/main" val="0"/>
              </a:ext>
            </a:extLst>
          </a:blip>
          <a:srcRect l="10683" r="16379" b="3855"/>
          <a:stretch/>
        </p:blipFill>
        <p:spPr>
          <a:xfrm>
            <a:off x="587828" y="985498"/>
            <a:ext cx="2444621" cy="5160770"/>
          </a:xfrm>
          <a:prstGeom prst="rect">
            <a:avLst/>
          </a:prstGeom>
          <a:ln w="22225">
            <a:solidFill>
              <a:schemeClr val="tx1"/>
            </a:solidFill>
          </a:ln>
        </p:spPr>
      </p:pic>
    </p:spTree>
    <p:extLst>
      <p:ext uri="{BB962C8B-B14F-4D97-AF65-F5344CB8AC3E}">
        <p14:creationId xmlns:p14="http://schemas.microsoft.com/office/powerpoint/2010/main" val="21806475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a:blip r:embed="rId2">
            <a:alphaModFix amt="60000"/>
          </a:blip>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BAAA7-7566-4F78-A9E6-479C51F71441}"/>
              </a:ext>
            </a:extLst>
          </p:cNvPr>
          <p:cNvSpPr>
            <a:spLocks noGrp="1"/>
          </p:cNvSpPr>
          <p:nvPr>
            <p:ph type="title"/>
          </p:nvPr>
        </p:nvSpPr>
        <p:spPr>
          <a:xfrm>
            <a:off x="0" y="-18660"/>
            <a:ext cx="12192000" cy="699793"/>
          </a:xfrm>
        </p:spPr>
        <p:txBody>
          <a:bodyPr>
            <a:normAutofit/>
          </a:bodyPr>
          <a:lstStyle/>
          <a:p>
            <a:pPr algn="ctr"/>
            <a:r>
              <a:rPr lang="en-IN" sz="3000">
                <a:effectLst>
                  <a:outerShdw blurRad="38100" dist="38100" dir="2700000" algn="tl">
                    <a:srgbClr val="000000">
                      <a:alpha val="43137"/>
                    </a:srgbClr>
                  </a:outerShdw>
                </a:effectLst>
                <a:latin typeface="Century Gothic" panose="020B0502020202020204" pitchFamily="34" charset="0"/>
              </a:rPr>
              <a:t>Subqueries</a:t>
            </a:r>
          </a:p>
        </p:txBody>
      </p:sp>
      <p:sp>
        <p:nvSpPr>
          <p:cNvPr id="4" name="TextBox 3">
            <a:extLst>
              <a:ext uri="{FF2B5EF4-FFF2-40B4-BE49-F238E27FC236}">
                <a16:creationId xmlns:a16="http://schemas.microsoft.com/office/drawing/2014/main" id="{BF9622A8-E026-4162-AECB-EA8B28258E9E}"/>
              </a:ext>
            </a:extLst>
          </p:cNvPr>
          <p:cNvSpPr txBox="1"/>
          <p:nvPr/>
        </p:nvSpPr>
        <p:spPr>
          <a:xfrm>
            <a:off x="5466697" y="1322544"/>
            <a:ext cx="6271209" cy="4801314"/>
          </a:xfrm>
          <a:prstGeom prst="rect">
            <a:avLst/>
          </a:prstGeom>
          <a:noFill/>
          <a:ln>
            <a:solidFill>
              <a:schemeClr val="tx1"/>
            </a:solidFill>
          </a:ln>
        </p:spPr>
        <p:txBody>
          <a:bodyPr wrap="square" rtlCol="0">
            <a:spAutoFit/>
          </a:bodyPr>
          <a:lstStyle/>
          <a:p>
            <a:pPr algn="ctr"/>
            <a:r>
              <a:rPr lang="en-US" b="1"/>
              <a:t>which destination generates more revenue than the average destination</a:t>
            </a:r>
          </a:p>
          <a:p>
            <a:pPr algn="ctr"/>
            <a:endParaRPr lang="en-US" b="1"/>
          </a:p>
          <a:p>
            <a:r>
              <a:rPr lang="en-US" b="1" u="sng"/>
              <a:t>Syntax:</a:t>
            </a:r>
          </a:p>
          <a:p>
            <a:r>
              <a:rPr lang="en-US"/>
              <a:t>Select tp.destination_id, SUM(p.amount) as destination_revenue From TourPackages tp, Bookings b, Payments p </a:t>
            </a:r>
          </a:p>
          <a:p>
            <a:r>
              <a:rPr lang="en-US"/>
              <a:t>Where tp.package_id = b.package_id </a:t>
            </a:r>
          </a:p>
          <a:p>
            <a:r>
              <a:rPr lang="en-US"/>
              <a:t>AND b.booking_id = p.booking_id</a:t>
            </a:r>
          </a:p>
          <a:p>
            <a:r>
              <a:rPr lang="en-US"/>
              <a:t>Group By tp.destination_id </a:t>
            </a:r>
          </a:p>
          <a:p>
            <a:r>
              <a:rPr lang="en-US"/>
              <a:t>Having SUM(p.amount) &gt;</a:t>
            </a:r>
          </a:p>
          <a:p>
            <a:r>
              <a:rPr lang="en-US"/>
              <a:t>(select AVG(destination_revenue) </a:t>
            </a:r>
          </a:p>
          <a:p>
            <a:r>
              <a:rPr lang="en-US"/>
              <a:t>From </a:t>
            </a:r>
          </a:p>
          <a:p>
            <a:r>
              <a:rPr lang="en-US"/>
              <a:t>(select SUM(p2.amount) AS destination_revenue</a:t>
            </a:r>
          </a:p>
          <a:p>
            <a:r>
              <a:rPr lang="en-US"/>
              <a:t>From TourPackages tp2, Bookings b2, Payments p2</a:t>
            </a:r>
          </a:p>
          <a:p>
            <a:r>
              <a:rPr lang="en-US"/>
              <a:t>Where tp2.package_id = b2.package_id</a:t>
            </a:r>
          </a:p>
          <a:p>
            <a:r>
              <a:rPr lang="en-US"/>
              <a:t>AND b2.booking_id = p2.booking_id </a:t>
            </a:r>
          </a:p>
          <a:p>
            <a:r>
              <a:rPr lang="en-US"/>
              <a:t>Group By tp2.destination_id) t);</a:t>
            </a:r>
          </a:p>
        </p:txBody>
      </p:sp>
      <p:pic>
        <p:nvPicPr>
          <p:cNvPr id="5" name="Picture 4">
            <a:extLst>
              <a:ext uri="{FF2B5EF4-FFF2-40B4-BE49-F238E27FC236}">
                <a16:creationId xmlns:a16="http://schemas.microsoft.com/office/drawing/2014/main" id="{C668FA9A-EAA5-4DB3-82DB-FCB9E8780594}"/>
              </a:ext>
            </a:extLst>
          </p:cNvPr>
          <p:cNvPicPr>
            <a:picLocks noChangeAspect="1"/>
          </p:cNvPicPr>
          <p:nvPr/>
        </p:nvPicPr>
        <p:blipFill rotWithShape="1">
          <a:blip r:embed="rId3">
            <a:extLst>
              <a:ext uri="{28A0092B-C50C-407E-A947-70E740481C1C}">
                <a14:useLocalDpi xmlns:a14="http://schemas.microsoft.com/office/drawing/2010/main" val="0"/>
              </a:ext>
            </a:extLst>
          </a:blip>
          <a:srcRect l="8737" t="9228" r="18202" b="15149"/>
          <a:stretch/>
        </p:blipFill>
        <p:spPr>
          <a:xfrm>
            <a:off x="513183" y="2134377"/>
            <a:ext cx="3571909" cy="2589245"/>
          </a:xfrm>
          <a:prstGeom prst="rect">
            <a:avLst/>
          </a:prstGeom>
          <a:ln w="22225">
            <a:solidFill>
              <a:schemeClr val="tx1"/>
            </a:solidFill>
          </a:ln>
        </p:spPr>
      </p:pic>
    </p:spTree>
    <p:extLst>
      <p:ext uri="{BB962C8B-B14F-4D97-AF65-F5344CB8AC3E}">
        <p14:creationId xmlns:p14="http://schemas.microsoft.com/office/powerpoint/2010/main" val="32023820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D5707-C7F7-4BC1-BE15-B1209E9FA401}"/>
              </a:ext>
            </a:extLst>
          </p:cNvPr>
          <p:cNvSpPr>
            <a:spLocks noGrp="1"/>
          </p:cNvSpPr>
          <p:nvPr>
            <p:ph type="title"/>
          </p:nvPr>
        </p:nvSpPr>
        <p:spPr>
          <a:xfrm>
            <a:off x="0" y="2766218"/>
            <a:ext cx="12204441" cy="1325563"/>
          </a:xfrm>
        </p:spPr>
        <p:txBody>
          <a:bodyPr/>
          <a:lstStyle/>
          <a:p>
            <a:pPr algn="ctr"/>
            <a:r>
              <a:rPr lang="en-IN" i="1" u="sng">
                <a:solidFill>
                  <a:schemeClr val="bg1"/>
                </a:solidFill>
                <a:effectLst>
                  <a:outerShdw blurRad="38100" dist="38100" dir="2700000" algn="tl">
                    <a:srgbClr val="000000">
                      <a:alpha val="43137"/>
                    </a:srgbClr>
                  </a:outerShdw>
                </a:effectLst>
              </a:rPr>
              <a:t>VIEWS</a:t>
            </a:r>
          </a:p>
        </p:txBody>
      </p:sp>
      <p:pic>
        <p:nvPicPr>
          <p:cNvPr id="5" name="Picture 4">
            <a:extLst>
              <a:ext uri="{FF2B5EF4-FFF2-40B4-BE49-F238E27FC236}">
                <a16:creationId xmlns:a16="http://schemas.microsoft.com/office/drawing/2014/main" id="{0F92EC37-1C64-4849-94C0-4EB3FFF581D5}"/>
              </a:ext>
            </a:extLst>
          </p:cNvPr>
          <p:cNvPicPr>
            <a:picLocks noChangeAspect="1"/>
          </p:cNvPicPr>
          <p:nvPr/>
        </p:nvPicPr>
        <p:blipFill rotWithShape="1">
          <a:blip r:embed="rId2">
            <a:extLst>
              <a:ext uri="{28A0092B-C50C-407E-A947-70E740481C1C}">
                <a14:useLocalDpi xmlns:a14="http://schemas.microsoft.com/office/drawing/2010/main" val="0"/>
              </a:ext>
            </a:extLst>
          </a:blip>
          <a:srcRect b="5850"/>
          <a:stretch/>
        </p:blipFill>
        <p:spPr>
          <a:xfrm rot="256886" flipH="1">
            <a:off x="-149114" y="1078067"/>
            <a:ext cx="5776229" cy="5787483"/>
          </a:xfrm>
          <a:prstGeom prst="rect">
            <a:avLst/>
          </a:prstGeom>
        </p:spPr>
      </p:pic>
    </p:spTree>
    <p:extLst>
      <p:ext uri="{BB962C8B-B14F-4D97-AF65-F5344CB8AC3E}">
        <p14:creationId xmlns:p14="http://schemas.microsoft.com/office/powerpoint/2010/main" val="2405795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a:blip r:embed="rId2">
            <a:alphaModFix amt="60000"/>
          </a:blip>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BAAA7-7566-4F78-A9E6-479C51F71441}"/>
              </a:ext>
            </a:extLst>
          </p:cNvPr>
          <p:cNvSpPr>
            <a:spLocks noGrp="1"/>
          </p:cNvSpPr>
          <p:nvPr>
            <p:ph type="title"/>
          </p:nvPr>
        </p:nvSpPr>
        <p:spPr>
          <a:xfrm>
            <a:off x="0" y="-18660"/>
            <a:ext cx="12192000" cy="699793"/>
          </a:xfrm>
        </p:spPr>
        <p:txBody>
          <a:bodyPr>
            <a:normAutofit/>
          </a:bodyPr>
          <a:lstStyle/>
          <a:p>
            <a:pPr algn="ctr"/>
            <a:r>
              <a:rPr lang="en-IN" sz="3000">
                <a:effectLst>
                  <a:outerShdw blurRad="38100" dist="38100" dir="2700000" algn="tl">
                    <a:srgbClr val="000000">
                      <a:alpha val="43137"/>
                    </a:srgbClr>
                  </a:outerShdw>
                </a:effectLst>
                <a:latin typeface="Century Gothic" panose="020B0502020202020204" pitchFamily="34" charset="0"/>
              </a:rPr>
              <a:t>Views</a:t>
            </a:r>
          </a:p>
        </p:txBody>
      </p:sp>
      <p:sp>
        <p:nvSpPr>
          <p:cNvPr id="4" name="TextBox 3">
            <a:extLst>
              <a:ext uri="{FF2B5EF4-FFF2-40B4-BE49-F238E27FC236}">
                <a16:creationId xmlns:a16="http://schemas.microsoft.com/office/drawing/2014/main" id="{BF9622A8-E026-4162-AECB-EA8B28258E9E}"/>
              </a:ext>
            </a:extLst>
          </p:cNvPr>
          <p:cNvSpPr txBox="1"/>
          <p:nvPr/>
        </p:nvSpPr>
        <p:spPr>
          <a:xfrm>
            <a:off x="5578670" y="1305341"/>
            <a:ext cx="6168571" cy="4247317"/>
          </a:xfrm>
          <a:prstGeom prst="rect">
            <a:avLst/>
          </a:prstGeom>
          <a:noFill/>
          <a:ln>
            <a:solidFill>
              <a:schemeClr val="tx1"/>
            </a:solidFill>
          </a:ln>
        </p:spPr>
        <p:txBody>
          <a:bodyPr wrap="square" rtlCol="0">
            <a:spAutoFit/>
          </a:bodyPr>
          <a:lstStyle/>
          <a:p>
            <a:pPr algn="ctr"/>
            <a:r>
              <a:rPr lang="en-US" b="1"/>
              <a:t>CUSTOMER BOOKING</a:t>
            </a:r>
          </a:p>
          <a:p>
            <a:pPr algn="ctr"/>
            <a:endParaRPr lang="en-US" b="1"/>
          </a:p>
          <a:p>
            <a:r>
              <a:rPr lang="en-US" b="1" u="sng"/>
              <a:t>Syntax:</a:t>
            </a:r>
          </a:p>
          <a:p>
            <a:r>
              <a:rPr lang="en-US"/>
              <a:t>Create View customer_bookings AS </a:t>
            </a:r>
          </a:p>
          <a:p>
            <a:r>
              <a:rPr lang="en-US"/>
              <a:t>select </a:t>
            </a:r>
          </a:p>
          <a:p>
            <a:r>
              <a:rPr lang="en-US"/>
              <a:t>      c.customer_id, c.customer_name,</a:t>
            </a:r>
          </a:p>
          <a:p>
            <a:r>
              <a:rPr lang="en-US"/>
              <a:t>      c.city, b.booking_id,</a:t>
            </a:r>
          </a:p>
          <a:p>
            <a:r>
              <a:rPr lang="en-US"/>
              <a:t>      COUNT(b.customer_id) AS total_booking,</a:t>
            </a:r>
          </a:p>
          <a:p>
            <a:r>
              <a:rPr lang="en-US"/>
              <a:t>      SUM(p.amount) AS total_spent</a:t>
            </a:r>
          </a:p>
          <a:p>
            <a:r>
              <a:rPr lang="en-US"/>
              <a:t>FROM Customers c</a:t>
            </a:r>
          </a:p>
          <a:p>
            <a:r>
              <a:rPr lang="en-US"/>
              <a:t>JOIN Bookings b </a:t>
            </a:r>
          </a:p>
          <a:p>
            <a:r>
              <a:rPr lang="en-US"/>
              <a:t>ON c.customer_id = b.customer_id </a:t>
            </a:r>
          </a:p>
          <a:p>
            <a:r>
              <a:rPr lang="en-US"/>
              <a:t>JOIN Payments p </a:t>
            </a:r>
          </a:p>
          <a:p>
            <a:r>
              <a:rPr lang="en-US"/>
              <a:t>ON b.booking_id = p.booking_id </a:t>
            </a:r>
          </a:p>
          <a:p>
            <a:r>
              <a:rPr lang="en-US"/>
              <a:t>Group By c.customer_id, c.customer_name, c.city, b.booking_id;</a:t>
            </a:r>
          </a:p>
        </p:txBody>
      </p:sp>
      <p:grpSp>
        <p:nvGrpSpPr>
          <p:cNvPr id="9" name="Group 8">
            <a:extLst>
              <a:ext uri="{FF2B5EF4-FFF2-40B4-BE49-F238E27FC236}">
                <a16:creationId xmlns:a16="http://schemas.microsoft.com/office/drawing/2014/main" id="{DD0C5BDC-6451-461F-8D8F-8962D30039C9}"/>
              </a:ext>
            </a:extLst>
          </p:cNvPr>
          <p:cNvGrpSpPr/>
          <p:nvPr/>
        </p:nvGrpSpPr>
        <p:grpSpPr>
          <a:xfrm>
            <a:off x="444759" y="422283"/>
            <a:ext cx="3921967" cy="6389065"/>
            <a:chOff x="444760" y="394290"/>
            <a:chExt cx="3828660" cy="6278003"/>
          </a:xfrm>
        </p:grpSpPr>
        <p:pic>
          <p:nvPicPr>
            <p:cNvPr id="6" name="Picture 5">
              <a:extLst>
                <a:ext uri="{FF2B5EF4-FFF2-40B4-BE49-F238E27FC236}">
                  <a16:creationId xmlns:a16="http://schemas.microsoft.com/office/drawing/2014/main" id="{51547C66-E295-47B8-ADDF-5D92A79CF644}"/>
                </a:ext>
              </a:extLst>
            </p:cNvPr>
            <p:cNvPicPr>
              <a:picLocks noChangeAspect="1"/>
            </p:cNvPicPr>
            <p:nvPr/>
          </p:nvPicPr>
          <p:blipFill rotWithShape="1">
            <a:blip r:embed="rId3">
              <a:extLst>
                <a:ext uri="{28A0092B-C50C-407E-A947-70E740481C1C}">
                  <a14:useLocalDpi xmlns:a14="http://schemas.microsoft.com/office/drawing/2010/main" val="0"/>
                </a:ext>
              </a:extLst>
            </a:blip>
            <a:srcRect l="4038" t="6923" r="4521" b="7062"/>
            <a:stretch/>
          </p:blipFill>
          <p:spPr>
            <a:xfrm>
              <a:off x="444760" y="394290"/>
              <a:ext cx="3828660" cy="4168379"/>
            </a:xfrm>
            <a:prstGeom prst="rect">
              <a:avLst/>
            </a:prstGeom>
          </p:spPr>
        </p:pic>
        <p:pic>
          <p:nvPicPr>
            <p:cNvPr id="8" name="Picture 7">
              <a:extLst>
                <a:ext uri="{FF2B5EF4-FFF2-40B4-BE49-F238E27FC236}">
                  <a16:creationId xmlns:a16="http://schemas.microsoft.com/office/drawing/2014/main" id="{E93D6164-7BD8-442F-888B-9C622CD74044}"/>
                </a:ext>
              </a:extLst>
            </p:cNvPr>
            <p:cNvPicPr>
              <a:picLocks noChangeAspect="1"/>
            </p:cNvPicPr>
            <p:nvPr/>
          </p:nvPicPr>
          <p:blipFill rotWithShape="1">
            <a:blip r:embed="rId4">
              <a:extLst>
                <a:ext uri="{28A0092B-C50C-407E-A947-70E740481C1C}">
                  <a14:useLocalDpi xmlns:a14="http://schemas.microsoft.com/office/drawing/2010/main" val="0"/>
                </a:ext>
              </a:extLst>
            </a:blip>
            <a:srcRect l="4220" t="44858" r="4521" b="4356"/>
            <a:stretch/>
          </p:blipFill>
          <p:spPr>
            <a:xfrm>
              <a:off x="444760" y="4562669"/>
              <a:ext cx="3828660" cy="2109624"/>
            </a:xfrm>
            <a:prstGeom prst="rect">
              <a:avLst/>
            </a:prstGeom>
          </p:spPr>
        </p:pic>
      </p:grpSp>
    </p:spTree>
    <p:extLst>
      <p:ext uri="{BB962C8B-B14F-4D97-AF65-F5344CB8AC3E}">
        <p14:creationId xmlns:p14="http://schemas.microsoft.com/office/powerpoint/2010/main" val="422327284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a:blip r:embed="rId2">
            <a:alphaModFix amt="60000"/>
          </a:blip>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BAAA7-7566-4F78-A9E6-479C51F71441}"/>
              </a:ext>
            </a:extLst>
          </p:cNvPr>
          <p:cNvSpPr>
            <a:spLocks noGrp="1"/>
          </p:cNvSpPr>
          <p:nvPr>
            <p:ph type="title"/>
          </p:nvPr>
        </p:nvSpPr>
        <p:spPr>
          <a:xfrm>
            <a:off x="0" y="-18660"/>
            <a:ext cx="12192000" cy="699793"/>
          </a:xfrm>
        </p:spPr>
        <p:txBody>
          <a:bodyPr>
            <a:normAutofit/>
          </a:bodyPr>
          <a:lstStyle/>
          <a:p>
            <a:pPr algn="ctr"/>
            <a:r>
              <a:rPr lang="en-IN" sz="3000">
                <a:effectLst>
                  <a:outerShdw blurRad="38100" dist="38100" dir="2700000" algn="tl">
                    <a:srgbClr val="000000">
                      <a:alpha val="43137"/>
                    </a:srgbClr>
                  </a:outerShdw>
                </a:effectLst>
                <a:latin typeface="Century Gothic" panose="020B0502020202020204" pitchFamily="34" charset="0"/>
              </a:rPr>
              <a:t>Views</a:t>
            </a:r>
          </a:p>
        </p:txBody>
      </p:sp>
      <p:sp>
        <p:nvSpPr>
          <p:cNvPr id="4" name="TextBox 3">
            <a:extLst>
              <a:ext uri="{FF2B5EF4-FFF2-40B4-BE49-F238E27FC236}">
                <a16:creationId xmlns:a16="http://schemas.microsoft.com/office/drawing/2014/main" id="{BF9622A8-E026-4162-AECB-EA8B28258E9E}"/>
              </a:ext>
            </a:extLst>
          </p:cNvPr>
          <p:cNvSpPr txBox="1"/>
          <p:nvPr/>
        </p:nvSpPr>
        <p:spPr>
          <a:xfrm>
            <a:off x="5811933" y="1201755"/>
            <a:ext cx="5972629" cy="4524315"/>
          </a:xfrm>
          <a:prstGeom prst="rect">
            <a:avLst/>
          </a:prstGeom>
          <a:noFill/>
          <a:ln>
            <a:solidFill>
              <a:schemeClr val="tx1"/>
            </a:solidFill>
          </a:ln>
        </p:spPr>
        <p:txBody>
          <a:bodyPr wrap="square" rtlCol="0">
            <a:spAutoFit/>
          </a:bodyPr>
          <a:lstStyle/>
          <a:p>
            <a:pPr algn="ctr"/>
            <a:r>
              <a:rPr lang="en-US" b="1"/>
              <a:t>Package Performance</a:t>
            </a:r>
          </a:p>
          <a:p>
            <a:pPr algn="ctr"/>
            <a:endParaRPr lang="en-US" b="1"/>
          </a:p>
          <a:p>
            <a:r>
              <a:rPr lang="en-US" b="1" u="sng"/>
              <a:t>Syntax:</a:t>
            </a:r>
          </a:p>
          <a:p>
            <a:r>
              <a:rPr lang="en-US"/>
              <a:t>Create View package_performance AS </a:t>
            </a:r>
          </a:p>
          <a:p>
            <a:r>
              <a:rPr lang="en-US"/>
              <a:t>Select</a:t>
            </a:r>
          </a:p>
          <a:p>
            <a:r>
              <a:rPr lang="en-US"/>
              <a:t>       tp.package_id,</a:t>
            </a:r>
          </a:p>
          <a:p>
            <a:r>
              <a:rPr lang="en-US"/>
              <a:t>       tp.package_name,</a:t>
            </a:r>
          </a:p>
          <a:p>
            <a:r>
              <a:rPr lang="en-US"/>
              <a:t>       tp.package_price,</a:t>
            </a:r>
          </a:p>
          <a:p>
            <a:r>
              <a:rPr lang="en-US"/>
              <a:t>       COUNT(b.booking_id) AS total_booking,</a:t>
            </a:r>
          </a:p>
          <a:p>
            <a:r>
              <a:rPr lang="en-US"/>
              <a:t>       SUM(p.amount) AS total_revenue </a:t>
            </a:r>
          </a:p>
          <a:p>
            <a:r>
              <a:rPr lang="en-US"/>
              <a:t>From TourPackages tp</a:t>
            </a:r>
          </a:p>
          <a:p>
            <a:r>
              <a:rPr lang="en-US"/>
              <a:t>JOIN Bookings b </a:t>
            </a:r>
          </a:p>
          <a:p>
            <a:r>
              <a:rPr lang="en-US"/>
              <a:t>ON tp.package_id = b.package_id</a:t>
            </a:r>
          </a:p>
          <a:p>
            <a:r>
              <a:rPr lang="en-US"/>
              <a:t>JOIN Payments p </a:t>
            </a:r>
          </a:p>
          <a:p>
            <a:r>
              <a:rPr lang="en-US"/>
              <a:t>ON b.booking_id = p.booking_id </a:t>
            </a:r>
          </a:p>
          <a:p>
            <a:r>
              <a:rPr lang="en-US"/>
              <a:t>Group By tp.package_id, tp.package_name, tp.package_price;</a:t>
            </a:r>
          </a:p>
        </p:txBody>
      </p:sp>
      <p:pic>
        <p:nvPicPr>
          <p:cNvPr id="5" name="Picture 4">
            <a:extLst>
              <a:ext uri="{FF2B5EF4-FFF2-40B4-BE49-F238E27FC236}">
                <a16:creationId xmlns:a16="http://schemas.microsoft.com/office/drawing/2014/main" id="{9482EA02-0E0A-4DF9-87C1-D9ED0C8A048B}"/>
              </a:ext>
            </a:extLst>
          </p:cNvPr>
          <p:cNvPicPr>
            <a:picLocks noChangeAspect="1"/>
          </p:cNvPicPr>
          <p:nvPr/>
        </p:nvPicPr>
        <p:blipFill rotWithShape="1">
          <a:blip r:embed="rId3">
            <a:extLst>
              <a:ext uri="{28A0092B-C50C-407E-A947-70E740481C1C}">
                <a14:useLocalDpi xmlns:a14="http://schemas.microsoft.com/office/drawing/2010/main" val="0"/>
              </a:ext>
            </a:extLst>
          </a:blip>
          <a:srcRect l="5225" t="1535" r="5345" b="3226"/>
          <a:stretch/>
        </p:blipFill>
        <p:spPr>
          <a:xfrm>
            <a:off x="407438" y="802433"/>
            <a:ext cx="4702629" cy="5253134"/>
          </a:xfrm>
          <a:prstGeom prst="rect">
            <a:avLst/>
          </a:prstGeom>
          <a:ln w="22225">
            <a:solidFill>
              <a:schemeClr val="tx1"/>
            </a:solidFill>
          </a:ln>
        </p:spPr>
      </p:pic>
    </p:spTree>
    <p:extLst>
      <p:ext uri="{BB962C8B-B14F-4D97-AF65-F5344CB8AC3E}">
        <p14:creationId xmlns:p14="http://schemas.microsoft.com/office/powerpoint/2010/main" val="247391028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a:blip r:embed="rId2">
            <a:alphaModFix amt="60000"/>
          </a:blip>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BAAA7-7566-4F78-A9E6-479C51F71441}"/>
              </a:ext>
            </a:extLst>
          </p:cNvPr>
          <p:cNvSpPr>
            <a:spLocks noGrp="1"/>
          </p:cNvSpPr>
          <p:nvPr>
            <p:ph type="title"/>
          </p:nvPr>
        </p:nvSpPr>
        <p:spPr>
          <a:xfrm>
            <a:off x="0" y="-18660"/>
            <a:ext cx="12192000" cy="699793"/>
          </a:xfrm>
        </p:spPr>
        <p:txBody>
          <a:bodyPr>
            <a:normAutofit/>
          </a:bodyPr>
          <a:lstStyle/>
          <a:p>
            <a:pPr algn="ctr"/>
            <a:r>
              <a:rPr lang="en-IN" sz="3000">
                <a:effectLst>
                  <a:outerShdw blurRad="38100" dist="38100" dir="2700000" algn="tl">
                    <a:srgbClr val="000000">
                      <a:alpha val="43137"/>
                    </a:srgbClr>
                  </a:outerShdw>
                </a:effectLst>
                <a:latin typeface="Century Gothic" panose="020B0502020202020204" pitchFamily="34" charset="0"/>
              </a:rPr>
              <a:t>Views</a:t>
            </a:r>
          </a:p>
        </p:txBody>
      </p:sp>
      <p:sp>
        <p:nvSpPr>
          <p:cNvPr id="4" name="TextBox 3">
            <a:extLst>
              <a:ext uri="{FF2B5EF4-FFF2-40B4-BE49-F238E27FC236}">
                <a16:creationId xmlns:a16="http://schemas.microsoft.com/office/drawing/2014/main" id="{BF9622A8-E026-4162-AECB-EA8B28258E9E}"/>
              </a:ext>
            </a:extLst>
          </p:cNvPr>
          <p:cNvSpPr txBox="1"/>
          <p:nvPr/>
        </p:nvSpPr>
        <p:spPr>
          <a:xfrm>
            <a:off x="6483737" y="1409974"/>
            <a:ext cx="5244843" cy="4247317"/>
          </a:xfrm>
          <a:prstGeom prst="rect">
            <a:avLst/>
          </a:prstGeom>
          <a:noFill/>
          <a:ln>
            <a:solidFill>
              <a:schemeClr val="tx1"/>
            </a:solidFill>
          </a:ln>
        </p:spPr>
        <p:txBody>
          <a:bodyPr wrap="square" rtlCol="0">
            <a:spAutoFit/>
          </a:bodyPr>
          <a:lstStyle/>
          <a:p>
            <a:pPr algn="ctr"/>
            <a:r>
              <a:rPr lang="en-US" b="1"/>
              <a:t>High rated packages</a:t>
            </a:r>
          </a:p>
          <a:p>
            <a:pPr algn="ctr"/>
            <a:endParaRPr lang="en-US" b="1"/>
          </a:p>
          <a:p>
            <a:r>
              <a:rPr lang="en-US" b="1" u="sng"/>
              <a:t>Syntax:</a:t>
            </a:r>
          </a:p>
          <a:p>
            <a:r>
              <a:rPr lang="en-US"/>
              <a:t>Create View high_rated_packages AS </a:t>
            </a:r>
          </a:p>
          <a:p>
            <a:r>
              <a:rPr lang="en-US"/>
              <a:t>Select</a:t>
            </a:r>
          </a:p>
          <a:p>
            <a:r>
              <a:rPr lang="en-US"/>
              <a:t>      tp.package_name, tp.package_price,</a:t>
            </a:r>
          </a:p>
          <a:p>
            <a:r>
              <a:rPr lang="en-US"/>
              <a:t>      COUNT(DISTINCT b.booking_id) AS total_booking,</a:t>
            </a:r>
          </a:p>
          <a:p>
            <a:r>
              <a:rPr lang="en-US"/>
              <a:t>      ROUND(AVG(r.rating),0) AS avg_rating</a:t>
            </a:r>
          </a:p>
          <a:p>
            <a:r>
              <a:rPr lang="en-US"/>
              <a:t>From TourPackages tp</a:t>
            </a:r>
          </a:p>
          <a:p>
            <a:r>
              <a:rPr lang="en-US"/>
              <a:t>JOIN Reviews r </a:t>
            </a:r>
          </a:p>
          <a:p>
            <a:r>
              <a:rPr lang="en-US"/>
              <a:t>ON tp.package_id = r.package_id </a:t>
            </a:r>
          </a:p>
          <a:p>
            <a:r>
              <a:rPr lang="en-US"/>
              <a:t>JOIN Bookings b </a:t>
            </a:r>
          </a:p>
          <a:p>
            <a:r>
              <a:rPr lang="en-US"/>
              <a:t>ON tp.package_id = b.package_id</a:t>
            </a:r>
          </a:p>
          <a:p>
            <a:r>
              <a:rPr lang="en-US"/>
              <a:t>Group By tp.package_name, tp.package_price</a:t>
            </a:r>
          </a:p>
          <a:p>
            <a:r>
              <a:rPr lang="en-US"/>
              <a:t>Having AVG(r.rating) &gt; 4.0;</a:t>
            </a:r>
          </a:p>
        </p:txBody>
      </p:sp>
      <p:pic>
        <p:nvPicPr>
          <p:cNvPr id="6" name="Picture 5">
            <a:extLst>
              <a:ext uri="{FF2B5EF4-FFF2-40B4-BE49-F238E27FC236}">
                <a16:creationId xmlns:a16="http://schemas.microsoft.com/office/drawing/2014/main" id="{5AE8DB55-FE72-430C-B543-CC0CD091A526}"/>
              </a:ext>
            </a:extLst>
          </p:cNvPr>
          <p:cNvPicPr>
            <a:picLocks noChangeAspect="1"/>
          </p:cNvPicPr>
          <p:nvPr/>
        </p:nvPicPr>
        <p:blipFill rotWithShape="1">
          <a:blip r:embed="rId3">
            <a:extLst>
              <a:ext uri="{28A0092B-C50C-407E-A947-70E740481C1C}">
                <a14:useLocalDpi xmlns:a14="http://schemas.microsoft.com/office/drawing/2010/main" val="0"/>
              </a:ext>
            </a:extLst>
          </a:blip>
          <a:srcRect l="5525" t="4780" r="4583" b="10857"/>
          <a:stretch/>
        </p:blipFill>
        <p:spPr>
          <a:xfrm>
            <a:off x="463420" y="2132045"/>
            <a:ext cx="4539345" cy="2593910"/>
          </a:xfrm>
          <a:prstGeom prst="rect">
            <a:avLst/>
          </a:prstGeom>
          <a:ln w="22225">
            <a:solidFill>
              <a:schemeClr val="tx1"/>
            </a:solidFill>
          </a:ln>
        </p:spPr>
      </p:pic>
    </p:spTree>
    <p:extLst>
      <p:ext uri="{BB962C8B-B14F-4D97-AF65-F5344CB8AC3E}">
        <p14:creationId xmlns:p14="http://schemas.microsoft.com/office/powerpoint/2010/main" val="207076577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a:blip r:embed="rId2">
            <a:alphaModFix amt="60000"/>
          </a:blip>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BAAA7-7566-4F78-A9E6-479C51F71441}"/>
              </a:ext>
            </a:extLst>
          </p:cNvPr>
          <p:cNvSpPr>
            <a:spLocks noGrp="1"/>
          </p:cNvSpPr>
          <p:nvPr>
            <p:ph type="title"/>
          </p:nvPr>
        </p:nvSpPr>
        <p:spPr>
          <a:xfrm>
            <a:off x="0" y="-18660"/>
            <a:ext cx="12192000" cy="699793"/>
          </a:xfrm>
        </p:spPr>
        <p:txBody>
          <a:bodyPr>
            <a:normAutofit/>
          </a:bodyPr>
          <a:lstStyle/>
          <a:p>
            <a:pPr algn="ctr"/>
            <a:r>
              <a:rPr lang="en-IN" sz="3000">
                <a:effectLst>
                  <a:outerShdw blurRad="38100" dist="38100" dir="2700000" algn="tl">
                    <a:srgbClr val="000000">
                      <a:alpha val="43137"/>
                    </a:srgbClr>
                  </a:outerShdw>
                </a:effectLst>
                <a:latin typeface="Century Gothic" panose="020B0502020202020204" pitchFamily="34" charset="0"/>
              </a:rPr>
              <a:t>Views</a:t>
            </a:r>
          </a:p>
        </p:txBody>
      </p:sp>
      <p:sp>
        <p:nvSpPr>
          <p:cNvPr id="4" name="TextBox 3">
            <a:extLst>
              <a:ext uri="{FF2B5EF4-FFF2-40B4-BE49-F238E27FC236}">
                <a16:creationId xmlns:a16="http://schemas.microsoft.com/office/drawing/2014/main" id="{BF9622A8-E026-4162-AECB-EA8B28258E9E}"/>
              </a:ext>
            </a:extLst>
          </p:cNvPr>
          <p:cNvSpPr txBox="1"/>
          <p:nvPr/>
        </p:nvSpPr>
        <p:spPr>
          <a:xfrm>
            <a:off x="7090227" y="1921639"/>
            <a:ext cx="4554377" cy="3139321"/>
          </a:xfrm>
          <a:prstGeom prst="rect">
            <a:avLst/>
          </a:prstGeom>
          <a:noFill/>
          <a:ln>
            <a:solidFill>
              <a:schemeClr val="tx1"/>
            </a:solidFill>
          </a:ln>
        </p:spPr>
        <p:txBody>
          <a:bodyPr wrap="square" rtlCol="0">
            <a:spAutoFit/>
          </a:bodyPr>
          <a:lstStyle/>
          <a:p>
            <a:pPr algn="ctr"/>
            <a:r>
              <a:rPr lang="en-US" b="1"/>
              <a:t>payment method</a:t>
            </a:r>
          </a:p>
          <a:p>
            <a:pPr algn="ctr"/>
            <a:endParaRPr lang="en-US" b="1"/>
          </a:p>
          <a:p>
            <a:r>
              <a:rPr lang="en-US" b="1" u="sng"/>
              <a:t>Syntax:</a:t>
            </a:r>
          </a:p>
          <a:p>
            <a:r>
              <a:rPr lang="en-US"/>
              <a:t>Create View payment_method AS</a:t>
            </a:r>
          </a:p>
          <a:p>
            <a:r>
              <a:rPr lang="en-US"/>
              <a:t>Select</a:t>
            </a:r>
          </a:p>
          <a:p>
            <a:r>
              <a:rPr lang="en-US"/>
              <a:t>      payment_method,</a:t>
            </a:r>
          </a:p>
          <a:p>
            <a:r>
              <a:rPr lang="en-US"/>
              <a:t>      COUNT(*) AS total_transaction,</a:t>
            </a:r>
          </a:p>
          <a:p>
            <a:r>
              <a:rPr lang="en-US"/>
              <a:t>      SUM(amount) AS total_amount</a:t>
            </a:r>
          </a:p>
          <a:p>
            <a:r>
              <a:rPr lang="en-US"/>
              <a:t>From Payments</a:t>
            </a:r>
          </a:p>
          <a:p>
            <a:r>
              <a:rPr lang="en-US"/>
              <a:t>Group By payment_method</a:t>
            </a:r>
          </a:p>
          <a:p>
            <a:r>
              <a:rPr lang="en-US"/>
              <a:t>Order By total_amount DESC;</a:t>
            </a:r>
          </a:p>
        </p:txBody>
      </p:sp>
      <p:pic>
        <p:nvPicPr>
          <p:cNvPr id="5" name="Picture 4">
            <a:extLst>
              <a:ext uri="{FF2B5EF4-FFF2-40B4-BE49-F238E27FC236}">
                <a16:creationId xmlns:a16="http://schemas.microsoft.com/office/drawing/2014/main" id="{C79521B8-59E5-42C7-90A1-CC2085E2DB9F}"/>
              </a:ext>
            </a:extLst>
          </p:cNvPr>
          <p:cNvPicPr>
            <a:picLocks noChangeAspect="1"/>
          </p:cNvPicPr>
          <p:nvPr/>
        </p:nvPicPr>
        <p:blipFill rotWithShape="1">
          <a:blip r:embed="rId3">
            <a:extLst>
              <a:ext uri="{28A0092B-C50C-407E-A947-70E740481C1C}">
                <a14:useLocalDpi xmlns:a14="http://schemas.microsoft.com/office/drawing/2010/main" val="0"/>
              </a:ext>
            </a:extLst>
          </a:blip>
          <a:srcRect l="5392" t="4909" r="12638" b="18048"/>
          <a:stretch/>
        </p:blipFill>
        <p:spPr>
          <a:xfrm>
            <a:off x="547396" y="2409630"/>
            <a:ext cx="4799045" cy="2038739"/>
          </a:xfrm>
          <a:prstGeom prst="rect">
            <a:avLst/>
          </a:prstGeom>
          <a:ln w="22225">
            <a:solidFill>
              <a:schemeClr val="tx1"/>
            </a:solidFill>
          </a:ln>
        </p:spPr>
      </p:pic>
    </p:spTree>
    <p:extLst>
      <p:ext uri="{BB962C8B-B14F-4D97-AF65-F5344CB8AC3E}">
        <p14:creationId xmlns:p14="http://schemas.microsoft.com/office/powerpoint/2010/main" val="244092048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a:blip r:embed="rId2">
            <a:alphaModFix amt="60000"/>
          </a:blip>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BAAA7-7566-4F78-A9E6-479C51F71441}"/>
              </a:ext>
            </a:extLst>
          </p:cNvPr>
          <p:cNvSpPr>
            <a:spLocks noGrp="1"/>
          </p:cNvSpPr>
          <p:nvPr>
            <p:ph type="title"/>
          </p:nvPr>
        </p:nvSpPr>
        <p:spPr>
          <a:xfrm>
            <a:off x="0" y="-18660"/>
            <a:ext cx="12192000" cy="699793"/>
          </a:xfrm>
        </p:spPr>
        <p:txBody>
          <a:bodyPr>
            <a:normAutofit/>
          </a:bodyPr>
          <a:lstStyle/>
          <a:p>
            <a:pPr algn="ctr"/>
            <a:r>
              <a:rPr lang="en-IN" sz="3000">
                <a:effectLst>
                  <a:outerShdw blurRad="38100" dist="38100" dir="2700000" algn="tl">
                    <a:srgbClr val="000000">
                      <a:alpha val="43137"/>
                    </a:srgbClr>
                  </a:outerShdw>
                </a:effectLst>
                <a:latin typeface="Century Gothic" panose="020B0502020202020204" pitchFamily="34" charset="0"/>
              </a:rPr>
              <a:t>Views</a:t>
            </a:r>
          </a:p>
        </p:txBody>
      </p:sp>
      <p:sp>
        <p:nvSpPr>
          <p:cNvPr id="4" name="TextBox 3">
            <a:extLst>
              <a:ext uri="{FF2B5EF4-FFF2-40B4-BE49-F238E27FC236}">
                <a16:creationId xmlns:a16="http://schemas.microsoft.com/office/drawing/2014/main" id="{BF9622A8-E026-4162-AECB-EA8B28258E9E}"/>
              </a:ext>
            </a:extLst>
          </p:cNvPr>
          <p:cNvSpPr txBox="1"/>
          <p:nvPr/>
        </p:nvSpPr>
        <p:spPr>
          <a:xfrm>
            <a:off x="7230186" y="2156459"/>
            <a:ext cx="4405087" cy="2862322"/>
          </a:xfrm>
          <a:prstGeom prst="rect">
            <a:avLst/>
          </a:prstGeom>
          <a:noFill/>
          <a:ln>
            <a:solidFill>
              <a:schemeClr val="tx1"/>
            </a:solidFill>
          </a:ln>
        </p:spPr>
        <p:txBody>
          <a:bodyPr wrap="square" rtlCol="0">
            <a:spAutoFit/>
          </a:bodyPr>
          <a:lstStyle/>
          <a:p>
            <a:pPr algn="ctr"/>
            <a:r>
              <a:rPr lang="en-US" b="1"/>
              <a:t>City-wise customer distribution</a:t>
            </a:r>
          </a:p>
          <a:p>
            <a:pPr algn="ctr"/>
            <a:endParaRPr lang="en-US" b="1"/>
          </a:p>
          <a:p>
            <a:r>
              <a:rPr lang="en-US" b="1" u="sng"/>
              <a:t>Syntax:</a:t>
            </a:r>
          </a:p>
          <a:p>
            <a:r>
              <a:rPr lang="en-US"/>
              <a:t>Create View customer_city_distribution AS select</a:t>
            </a:r>
          </a:p>
          <a:p>
            <a:r>
              <a:rPr lang="en-US"/>
              <a:t>      city,</a:t>
            </a:r>
          </a:p>
          <a:p>
            <a:r>
              <a:rPr lang="en-US"/>
              <a:t>      COUNT(*) AS total_customers</a:t>
            </a:r>
          </a:p>
          <a:p>
            <a:r>
              <a:rPr lang="en-US"/>
              <a:t>From Customers</a:t>
            </a:r>
          </a:p>
          <a:p>
            <a:r>
              <a:rPr lang="en-US"/>
              <a:t>Group By city</a:t>
            </a:r>
          </a:p>
          <a:p>
            <a:r>
              <a:rPr lang="en-US"/>
              <a:t>Order By total_customers DESC;</a:t>
            </a:r>
          </a:p>
        </p:txBody>
      </p:sp>
      <p:pic>
        <p:nvPicPr>
          <p:cNvPr id="6" name="Picture 5">
            <a:extLst>
              <a:ext uri="{FF2B5EF4-FFF2-40B4-BE49-F238E27FC236}">
                <a16:creationId xmlns:a16="http://schemas.microsoft.com/office/drawing/2014/main" id="{B4CCB416-B4B3-47DB-81DF-01CC63AAA084}"/>
              </a:ext>
            </a:extLst>
          </p:cNvPr>
          <p:cNvPicPr>
            <a:picLocks noChangeAspect="1"/>
          </p:cNvPicPr>
          <p:nvPr/>
        </p:nvPicPr>
        <p:blipFill rotWithShape="1">
          <a:blip r:embed="rId3">
            <a:extLst>
              <a:ext uri="{28A0092B-C50C-407E-A947-70E740481C1C}">
                <a14:useLocalDpi xmlns:a14="http://schemas.microsoft.com/office/drawing/2010/main" val="0"/>
              </a:ext>
            </a:extLst>
          </a:blip>
          <a:srcRect l="12853" t="6263" r="11953" b="9402"/>
          <a:stretch/>
        </p:blipFill>
        <p:spPr>
          <a:xfrm>
            <a:off x="746448" y="802431"/>
            <a:ext cx="2224442" cy="5570378"/>
          </a:xfrm>
          <a:prstGeom prst="rect">
            <a:avLst/>
          </a:prstGeom>
          <a:ln w="22225">
            <a:solidFill>
              <a:schemeClr val="tx1"/>
            </a:solidFill>
          </a:ln>
        </p:spPr>
      </p:pic>
    </p:spTree>
    <p:extLst>
      <p:ext uri="{BB962C8B-B14F-4D97-AF65-F5344CB8AC3E}">
        <p14:creationId xmlns:p14="http://schemas.microsoft.com/office/powerpoint/2010/main" val="150243653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D5707-C7F7-4BC1-BE15-B1209E9FA401}"/>
              </a:ext>
            </a:extLst>
          </p:cNvPr>
          <p:cNvSpPr>
            <a:spLocks noGrp="1"/>
          </p:cNvSpPr>
          <p:nvPr>
            <p:ph type="title"/>
          </p:nvPr>
        </p:nvSpPr>
        <p:spPr>
          <a:xfrm>
            <a:off x="0" y="2766218"/>
            <a:ext cx="12204441" cy="1325563"/>
          </a:xfrm>
        </p:spPr>
        <p:txBody>
          <a:bodyPr/>
          <a:lstStyle/>
          <a:p>
            <a:pPr algn="ctr"/>
            <a:r>
              <a:rPr lang="en-IN" i="1" u="sng">
                <a:solidFill>
                  <a:schemeClr val="bg1"/>
                </a:solidFill>
                <a:effectLst>
                  <a:outerShdw blurRad="38100" dist="38100" dir="2700000" algn="tl">
                    <a:srgbClr val="000000">
                      <a:alpha val="43137"/>
                    </a:srgbClr>
                  </a:outerShdw>
                </a:effectLst>
              </a:rPr>
              <a:t>WINDOW FUNCTIONS</a:t>
            </a:r>
          </a:p>
        </p:txBody>
      </p:sp>
      <p:pic>
        <p:nvPicPr>
          <p:cNvPr id="5" name="Picture 4">
            <a:extLst>
              <a:ext uri="{FF2B5EF4-FFF2-40B4-BE49-F238E27FC236}">
                <a16:creationId xmlns:a16="http://schemas.microsoft.com/office/drawing/2014/main" id="{0F92EC37-1C64-4849-94C0-4EB3FFF581D5}"/>
              </a:ext>
            </a:extLst>
          </p:cNvPr>
          <p:cNvPicPr>
            <a:picLocks noChangeAspect="1"/>
          </p:cNvPicPr>
          <p:nvPr/>
        </p:nvPicPr>
        <p:blipFill rotWithShape="1">
          <a:blip r:embed="rId2">
            <a:extLst>
              <a:ext uri="{28A0092B-C50C-407E-A947-70E740481C1C}">
                <a14:useLocalDpi xmlns:a14="http://schemas.microsoft.com/office/drawing/2010/main" val="0"/>
              </a:ext>
            </a:extLst>
          </a:blip>
          <a:srcRect b="5850"/>
          <a:stretch/>
        </p:blipFill>
        <p:spPr>
          <a:xfrm rot="256886" flipH="1">
            <a:off x="-149114" y="1078067"/>
            <a:ext cx="5776229" cy="5787483"/>
          </a:xfrm>
          <a:prstGeom prst="rect">
            <a:avLst/>
          </a:prstGeom>
        </p:spPr>
      </p:pic>
    </p:spTree>
    <p:extLst>
      <p:ext uri="{BB962C8B-B14F-4D97-AF65-F5344CB8AC3E}">
        <p14:creationId xmlns:p14="http://schemas.microsoft.com/office/powerpoint/2010/main" val="86586651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a:blip r:embed="rId2">
            <a:alphaModFix amt="60000"/>
          </a:blip>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BAAA7-7566-4F78-A9E6-479C51F71441}"/>
              </a:ext>
            </a:extLst>
          </p:cNvPr>
          <p:cNvSpPr>
            <a:spLocks noGrp="1"/>
          </p:cNvSpPr>
          <p:nvPr>
            <p:ph type="title"/>
          </p:nvPr>
        </p:nvSpPr>
        <p:spPr>
          <a:xfrm>
            <a:off x="0" y="-18660"/>
            <a:ext cx="12192000" cy="699793"/>
          </a:xfrm>
        </p:spPr>
        <p:txBody>
          <a:bodyPr>
            <a:normAutofit/>
          </a:bodyPr>
          <a:lstStyle/>
          <a:p>
            <a:pPr algn="ctr"/>
            <a:r>
              <a:rPr lang="en-IN" sz="3000">
                <a:effectLst>
                  <a:outerShdw blurRad="38100" dist="38100" dir="2700000" algn="tl">
                    <a:srgbClr val="000000">
                      <a:alpha val="43137"/>
                    </a:srgbClr>
                  </a:outerShdw>
                </a:effectLst>
                <a:latin typeface="Century Gothic" panose="020B0502020202020204" pitchFamily="34" charset="0"/>
              </a:rPr>
              <a:t>Window Function</a:t>
            </a:r>
          </a:p>
        </p:txBody>
      </p:sp>
      <p:sp>
        <p:nvSpPr>
          <p:cNvPr id="3" name="TextBox 2">
            <a:extLst>
              <a:ext uri="{FF2B5EF4-FFF2-40B4-BE49-F238E27FC236}">
                <a16:creationId xmlns:a16="http://schemas.microsoft.com/office/drawing/2014/main" id="{6018B2D0-4BA6-45B2-A897-1D64A19503D3}"/>
              </a:ext>
            </a:extLst>
          </p:cNvPr>
          <p:cNvSpPr txBox="1"/>
          <p:nvPr/>
        </p:nvSpPr>
        <p:spPr>
          <a:xfrm>
            <a:off x="6497422" y="1453087"/>
            <a:ext cx="5364378" cy="3951826"/>
          </a:xfrm>
          <a:prstGeom prst="rect">
            <a:avLst/>
          </a:prstGeom>
          <a:noFill/>
          <a:ln>
            <a:solidFill>
              <a:schemeClr val="tx1"/>
            </a:solidFill>
          </a:ln>
        </p:spPr>
        <p:txBody>
          <a:bodyPr wrap="square" rtlCol="0">
            <a:spAutoFit/>
          </a:bodyPr>
          <a:lstStyle/>
          <a:p>
            <a:pPr algn="ctr"/>
            <a:r>
              <a:rPr lang="en-US" b="1"/>
              <a:t>Rank all packages by Total Revenue</a:t>
            </a:r>
          </a:p>
          <a:p>
            <a:pPr algn="ctr"/>
            <a:endParaRPr lang="en-US" b="1"/>
          </a:p>
          <a:p>
            <a:r>
              <a:rPr lang="en-US" b="1" u="sng"/>
              <a:t>Syntax:</a:t>
            </a:r>
          </a:p>
          <a:p>
            <a:r>
              <a:rPr lang="en-US"/>
              <a:t>Select</a:t>
            </a:r>
          </a:p>
          <a:p>
            <a:r>
              <a:rPr lang="en-US"/>
              <a:t>     tp.package_name,</a:t>
            </a:r>
          </a:p>
          <a:p>
            <a:r>
              <a:rPr lang="en-US"/>
              <a:t>     SUM(p.amount) AS total_revenue,</a:t>
            </a:r>
          </a:p>
          <a:p>
            <a:r>
              <a:rPr lang="en-US"/>
              <a:t>     RANK()</a:t>
            </a:r>
          </a:p>
          <a:p>
            <a:r>
              <a:rPr lang="en-US"/>
              <a:t>Over (Order By SUM(p.amount) DESC) AS revenue_rank</a:t>
            </a:r>
          </a:p>
          <a:p>
            <a:r>
              <a:rPr lang="en-US"/>
              <a:t>From TourPackages tp</a:t>
            </a:r>
          </a:p>
          <a:p>
            <a:r>
              <a:rPr lang="en-US"/>
              <a:t>Join Bookings b </a:t>
            </a:r>
          </a:p>
          <a:p>
            <a:r>
              <a:rPr lang="en-US"/>
              <a:t>ON tp.package_id = b.package_id </a:t>
            </a:r>
          </a:p>
          <a:p>
            <a:r>
              <a:rPr lang="en-US"/>
              <a:t>Join Payments p </a:t>
            </a:r>
          </a:p>
          <a:p>
            <a:r>
              <a:rPr lang="en-US"/>
              <a:t>ON b.booking_id = p.booking_id</a:t>
            </a:r>
          </a:p>
          <a:p>
            <a:r>
              <a:rPr lang="en-US"/>
              <a:t>Group By tp.package_name;</a:t>
            </a:r>
          </a:p>
        </p:txBody>
      </p:sp>
      <p:pic>
        <p:nvPicPr>
          <p:cNvPr id="6" name="Picture 5">
            <a:extLst>
              <a:ext uri="{FF2B5EF4-FFF2-40B4-BE49-F238E27FC236}">
                <a16:creationId xmlns:a16="http://schemas.microsoft.com/office/drawing/2014/main" id="{AE44ED96-290D-45D3-A558-DA0AC92E9B1E}"/>
              </a:ext>
            </a:extLst>
          </p:cNvPr>
          <p:cNvPicPr>
            <a:picLocks noChangeAspect="1"/>
          </p:cNvPicPr>
          <p:nvPr/>
        </p:nvPicPr>
        <p:blipFill rotWithShape="1">
          <a:blip r:embed="rId3">
            <a:extLst>
              <a:ext uri="{28A0092B-C50C-407E-A947-70E740481C1C}">
                <a14:useLocalDpi xmlns:a14="http://schemas.microsoft.com/office/drawing/2010/main" val="0"/>
              </a:ext>
            </a:extLst>
          </a:blip>
          <a:srcRect l="8375" t="5205" r="6349" b="5776"/>
          <a:stretch/>
        </p:blipFill>
        <p:spPr>
          <a:xfrm>
            <a:off x="523032" y="795866"/>
            <a:ext cx="3208867" cy="5266267"/>
          </a:xfrm>
          <a:prstGeom prst="rect">
            <a:avLst/>
          </a:prstGeom>
          <a:ln w="22225">
            <a:solidFill>
              <a:schemeClr val="tx1"/>
            </a:solidFill>
          </a:ln>
        </p:spPr>
      </p:pic>
    </p:spTree>
    <p:extLst>
      <p:ext uri="{BB962C8B-B14F-4D97-AF65-F5344CB8AC3E}">
        <p14:creationId xmlns:p14="http://schemas.microsoft.com/office/powerpoint/2010/main" val="179670113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blipFill>
          <a:blip r:embed="rId2">
            <a:alphaModFix amt="60000"/>
          </a:blip>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BAAA7-7566-4F78-A9E6-479C51F71441}"/>
              </a:ext>
            </a:extLst>
          </p:cNvPr>
          <p:cNvSpPr>
            <a:spLocks noGrp="1"/>
          </p:cNvSpPr>
          <p:nvPr>
            <p:ph type="title"/>
          </p:nvPr>
        </p:nvSpPr>
        <p:spPr>
          <a:xfrm>
            <a:off x="0" y="-18660"/>
            <a:ext cx="12192000" cy="699793"/>
          </a:xfrm>
        </p:spPr>
        <p:txBody>
          <a:bodyPr>
            <a:normAutofit/>
          </a:bodyPr>
          <a:lstStyle/>
          <a:p>
            <a:pPr algn="ctr"/>
            <a:r>
              <a:rPr lang="en-IN" sz="3000">
                <a:effectLst>
                  <a:outerShdw blurRad="38100" dist="38100" dir="2700000" algn="tl">
                    <a:srgbClr val="000000">
                      <a:alpha val="43137"/>
                    </a:srgbClr>
                  </a:outerShdw>
                </a:effectLst>
                <a:latin typeface="Century Gothic" panose="020B0502020202020204" pitchFamily="34" charset="0"/>
              </a:rPr>
              <a:t>Window Function</a:t>
            </a:r>
          </a:p>
        </p:txBody>
      </p:sp>
      <p:sp>
        <p:nvSpPr>
          <p:cNvPr id="3" name="TextBox 2">
            <a:extLst>
              <a:ext uri="{FF2B5EF4-FFF2-40B4-BE49-F238E27FC236}">
                <a16:creationId xmlns:a16="http://schemas.microsoft.com/office/drawing/2014/main" id="{6018B2D0-4BA6-45B2-A897-1D64A19503D3}"/>
              </a:ext>
            </a:extLst>
          </p:cNvPr>
          <p:cNvSpPr txBox="1"/>
          <p:nvPr/>
        </p:nvSpPr>
        <p:spPr>
          <a:xfrm>
            <a:off x="6980021" y="1720840"/>
            <a:ext cx="4691520" cy="3416320"/>
          </a:xfrm>
          <a:prstGeom prst="rect">
            <a:avLst/>
          </a:prstGeom>
          <a:noFill/>
          <a:ln>
            <a:solidFill>
              <a:schemeClr val="tx1"/>
            </a:solidFill>
          </a:ln>
        </p:spPr>
        <p:txBody>
          <a:bodyPr wrap="square" rtlCol="0">
            <a:spAutoFit/>
          </a:bodyPr>
          <a:lstStyle/>
          <a:p>
            <a:pPr algn="ctr"/>
            <a:r>
              <a:rPr lang="en-US" b="1"/>
              <a:t>Cumulative Revenue growth over time (Running Total)</a:t>
            </a:r>
          </a:p>
          <a:p>
            <a:pPr algn="ctr"/>
            <a:endParaRPr lang="en-US" b="1"/>
          </a:p>
          <a:p>
            <a:r>
              <a:rPr lang="en-US" b="1" u="sng"/>
              <a:t>Syntax:</a:t>
            </a:r>
          </a:p>
          <a:p>
            <a:r>
              <a:rPr lang="en-US"/>
              <a:t>Select</a:t>
            </a:r>
          </a:p>
          <a:p>
            <a:r>
              <a:rPr lang="en-US"/>
              <a:t>     payment_date,</a:t>
            </a:r>
          </a:p>
          <a:p>
            <a:r>
              <a:rPr lang="en-US"/>
              <a:t>     SUM(amount) AS daily_revenue,                                                                                </a:t>
            </a:r>
          </a:p>
          <a:p>
            <a:r>
              <a:rPr lang="en-US"/>
              <a:t>     SUM(SUM(amount)) </a:t>
            </a:r>
          </a:p>
          <a:p>
            <a:r>
              <a:rPr lang="en-US"/>
              <a:t>Over (Order By payment_date) AS running_total</a:t>
            </a:r>
          </a:p>
          <a:p>
            <a:r>
              <a:rPr lang="en-US"/>
              <a:t>From Payments</a:t>
            </a:r>
          </a:p>
          <a:p>
            <a:r>
              <a:rPr lang="en-US"/>
              <a:t>Group By payment_date</a:t>
            </a:r>
          </a:p>
          <a:p>
            <a:r>
              <a:rPr lang="en-US"/>
              <a:t>Order By payment_date;</a:t>
            </a:r>
          </a:p>
        </p:txBody>
      </p:sp>
      <p:grpSp>
        <p:nvGrpSpPr>
          <p:cNvPr id="8" name="Group 7">
            <a:extLst>
              <a:ext uri="{FF2B5EF4-FFF2-40B4-BE49-F238E27FC236}">
                <a16:creationId xmlns:a16="http://schemas.microsoft.com/office/drawing/2014/main" id="{F35B4DEA-A92C-477C-A28F-D139B7ECF729}"/>
              </a:ext>
            </a:extLst>
          </p:cNvPr>
          <p:cNvGrpSpPr/>
          <p:nvPr/>
        </p:nvGrpSpPr>
        <p:grpSpPr>
          <a:xfrm>
            <a:off x="520459" y="517586"/>
            <a:ext cx="2585050" cy="6280029"/>
            <a:chOff x="520459" y="517586"/>
            <a:chExt cx="2238370" cy="5909093"/>
          </a:xfrm>
        </p:grpSpPr>
        <p:pic>
          <p:nvPicPr>
            <p:cNvPr id="5" name="Picture 4">
              <a:extLst>
                <a:ext uri="{FF2B5EF4-FFF2-40B4-BE49-F238E27FC236}">
                  <a16:creationId xmlns:a16="http://schemas.microsoft.com/office/drawing/2014/main" id="{A4679E6A-C96E-4A76-99CE-53077A2DCB1D}"/>
                </a:ext>
              </a:extLst>
            </p:cNvPr>
            <p:cNvPicPr>
              <a:picLocks noChangeAspect="1"/>
            </p:cNvPicPr>
            <p:nvPr/>
          </p:nvPicPr>
          <p:blipFill rotWithShape="1">
            <a:blip r:embed="rId3">
              <a:extLst>
                <a:ext uri="{28A0092B-C50C-407E-A947-70E740481C1C}">
                  <a14:useLocalDpi xmlns:a14="http://schemas.microsoft.com/office/drawing/2010/main" val="0"/>
                </a:ext>
              </a:extLst>
            </a:blip>
            <a:srcRect l="9859" t="4768" r="7763" b="5277"/>
            <a:stretch/>
          </p:blipFill>
          <p:spPr>
            <a:xfrm>
              <a:off x="520459" y="517586"/>
              <a:ext cx="2238370" cy="4019909"/>
            </a:xfrm>
            <a:prstGeom prst="rect">
              <a:avLst/>
            </a:prstGeom>
          </p:spPr>
        </p:pic>
        <p:pic>
          <p:nvPicPr>
            <p:cNvPr id="7" name="Picture 6">
              <a:extLst>
                <a:ext uri="{FF2B5EF4-FFF2-40B4-BE49-F238E27FC236}">
                  <a16:creationId xmlns:a16="http://schemas.microsoft.com/office/drawing/2014/main" id="{1068F71F-AC8A-454C-9977-43F115676DB3}"/>
                </a:ext>
              </a:extLst>
            </p:cNvPr>
            <p:cNvPicPr>
              <a:picLocks noChangeAspect="1"/>
            </p:cNvPicPr>
            <p:nvPr/>
          </p:nvPicPr>
          <p:blipFill rotWithShape="1">
            <a:blip r:embed="rId4">
              <a:extLst>
                <a:ext uri="{28A0092B-C50C-407E-A947-70E740481C1C}">
                  <a14:useLocalDpi xmlns:a14="http://schemas.microsoft.com/office/drawing/2010/main" val="0"/>
                </a:ext>
              </a:extLst>
            </a:blip>
            <a:srcRect l="8072" t="36183" r="11814" b="11202"/>
            <a:stretch/>
          </p:blipFill>
          <p:spPr>
            <a:xfrm>
              <a:off x="520459" y="4537495"/>
              <a:ext cx="2238370" cy="1889184"/>
            </a:xfrm>
            <a:prstGeom prst="rect">
              <a:avLst/>
            </a:prstGeom>
          </p:spPr>
        </p:pic>
      </p:grpSp>
    </p:spTree>
    <p:extLst>
      <p:ext uri="{BB962C8B-B14F-4D97-AF65-F5344CB8AC3E}">
        <p14:creationId xmlns:p14="http://schemas.microsoft.com/office/powerpoint/2010/main" val="234143342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D5707-C7F7-4BC1-BE15-B1209E9FA401}"/>
              </a:ext>
            </a:extLst>
          </p:cNvPr>
          <p:cNvSpPr>
            <a:spLocks noGrp="1"/>
          </p:cNvSpPr>
          <p:nvPr>
            <p:ph type="title"/>
          </p:nvPr>
        </p:nvSpPr>
        <p:spPr>
          <a:xfrm>
            <a:off x="-12441" y="1"/>
            <a:ext cx="12204441" cy="765110"/>
          </a:xfrm>
        </p:spPr>
        <p:txBody>
          <a:bodyPr>
            <a:normAutofit/>
          </a:bodyPr>
          <a:lstStyle/>
          <a:p>
            <a:pPr algn="ctr"/>
            <a:r>
              <a:rPr lang="en-IN" sz="3000" i="1" u="sng">
                <a:solidFill>
                  <a:schemeClr val="bg1"/>
                </a:solidFill>
                <a:effectLst>
                  <a:outerShdw blurRad="38100" dist="38100" dir="2700000" algn="tl">
                    <a:srgbClr val="000000">
                      <a:alpha val="43137"/>
                    </a:srgbClr>
                  </a:outerShdw>
                </a:effectLst>
              </a:rPr>
              <a:t>Prepared By</a:t>
            </a:r>
          </a:p>
        </p:txBody>
      </p:sp>
      <p:sp>
        <p:nvSpPr>
          <p:cNvPr id="3" name="TextBox 2">
            <a:extLst>
              <a:ext uri="{FF2B5EF4-FFF2-40B4-BE49-F238E27FC236}">
                <a16:creationId xmlns:a16="http://schemas.microsoft.com/office/drawing/2014/main" id="{523BF2CC-4A87-44E9-8081-487A2E9BA9A7}"/>
              </a:ext>
            </a:extLst>
          </p:cNvPr>
          <p:cNvSpPr txBox="1"/>
          <p:nvPr/>
        </p:nvSpPr>
        <p:spPr>
          <a:xfrm>
            <a:off x="3374570" y="2413337"/>
            <a:ext cx="5430417" cy="2862322"/>
          </a:xfrm>
          <a:prstGeom prst="rect">
            <a:avLst/>
          </a:prstGeom>
          <a:noFill/>
        </p:spPr>
        <p:txBody>
          <a:bodyPr wrap="square" rtlCol="0">
            <a:spAutoFit/>
          </a:bodyPr>
          <a:lstStyle/>
          <a:p>
            <a:pPr algn="ctr"/>
            <a:r>
              <a:rPr lang="en-IN" b="1" i="1" u="sng">
                <a:solidFill>
                  <a:schemeClr val="bg2"/>
                </a:solidFill>
              </a:rPr>
              <a:t>Kalpak K Khandbhor</a:t>
            </a:r>
          </a:p>
          <a:p>
            <a:pPr algn="ctr"/>
            <a:endParaRPr lang="en-IN" b="1" i="1" u="sng">
              <a:solidFill>
                <a:schemeClr val="bg2"/>
              </a:solidFill>
            </a:endParaRPr>
          </a:p>
          <a:p>
            <a:pPr algn="ctr"/>
            <a:endParaRPr lang="en-IN">
              <a:solidFill>
                <a:schemeClr val="bg1"/>
              </a:solidFill>
            </a:endParaRPr>
          </a:p>
          <a:p>
            <a:pPr algn="ctr"/>
            <a:r>
              <a:rPr lang="en-IN" b="1">
                <a:solidFill>
                  <a:schemeClr val="accent4">
                    <a:lumMod val="75000"/>
                  </a:schemeClr>
                </a:solidFill>
              </a:rPr>
              <a:t>ITVedant</a:t>
            </a:r>
            <a:r>
              <a:rPr lang="en-IN">
                <a:solidFill>
                  <a:schemeClr val="bg1"/>
                </a:solidFill>
                <a:effectLst>
                  <a:outerShdw blurRad="38100" dist="38100" dir="2700000" algn="tl">
                    <a:srgbClr val="000000">
                      <a:alpha val="43137"/>
                    </a:srgbClr>
                  </a:outerShdw>
                </a:effectLst>
              </a:rPr>
              <a:t> – Data Science &amp; Data Analytics with Artificial Intelligence – T380</a:t>
            </a:r>
          </a:p>
          <a:p>
            <a:pPr algn="ctr"/>
            <a:endParaRPr lang="en-IN">
              <a:solidFill>
                <a:schemeClr val="bg1"/>
              </a:solidFill>
              <a:effectLst>
                <a:outerShdw blurRad="38100" dist="38100" dir="2700000" algn="tl">
                  <a:srgbClr val="000000">
                    <a:alpha val="43137"/>
                  </a:srgbClr>
                </a:outerShdw>
              </a:effectLst>
            </a:endParaRPr>
          </a:p>
          <a:p>
            <a:pPr algn="ctr"/>
            <a:endParaRPr lang="en-IN">
              <a:solidFill>
                <a:schemeClr val="bg1"/>
              </a:solidFill>
              <a:effectLst>
                <a:outerShdw blurRad="38100" dist="38100" dir="2700000" algn="tl">
                  <a:srgbClr val="000000">
                    <a:alpha val="43137"/>
                  </a:srgbClr>
                </a:outerShdw>
              </a:effectLst>
            </a:endParaRPr>
          </a:p>
          <a:p>
            <a:pPr algn="ctr"/>
            <a:r>
              <a:rPr lang="en-IN">
                <a:solidFill>
                  <a:schemeClr val="bg1"/>
                </a:solidFill>
                <a:effectLst>
                  <a:outerShdw blurRad="38100" dist="38100" dir="2700000" algn="tl">
                    <a:srgbClr val="000000">
                      <a:alpha val="43137"/>
                    </a:srgbClr>
                  </a:outerShdw>
                </a:effectLst>
              </a:rPr>
              <a:t>TravelVerse – Tour Management System Database Project</a:t>
            </a:r>
          </a:p>
          <a:p>
            <a:endParaRPr lang="en-IN">
              <a:solidFill>
                <a:schemeClr val="bg1"/>
              </a:solidFill>
            </a:endParaRPr>
          </a:p>
        </p:txBody>
      </p:sp>
    </p:spTree>
    <p:extLst>
      <p:ext uri="{BB962C8B-B14F-4D97-AF65-F5344CB8AC3E}">
        <p14:creationId xmlns:p14="http://schemas.microsoft.com/office/powerpoint/2010/main" val="56960893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D5707-C7F7-4BC1-BE15-B1209E9FA401}"/>
              </a:ext>
            </a:extLst>
          </p:cNvPr>
          <p:cNvSpPr>
            <a:spLocks noGrp="1"/>
          </p:cNvSpPr>
          <p:nvPr>
            <p:ph type="title"/>
          </p:nvPr>
        </p:nvSpPr>
        <p:spPr>
          <a:xfrm>
            <a:off x="0" y="2793999"/>
            <a:ext cx="12204441" cy="1533657"/>
          </a:xfrm>
        </p:spPr>
        <p:txBody>
          <a:bodyPr>
            <a:normAutofit/>
          </a:bodyPr>
          <a:lstStyle/>
          <a:p>
            <a:pPr algn="ctr"/>
            <a:r>
              <a:rPr lang="en-IN" sz="4200" i="1" u="sng">
                <a:solidFill>
                  <a:schemeClr val="bg1"/>
                </a:solidFill>
                <a:effectLst>
                  <a:outerShdw blurRad="38100" dist="38100" dir="2700000" algn="tl">
                    <a:srgbClr val="000000">
                      <a:alpha val="43137"/>
                    </a:srgbClr>
                  </a:outerShdw>
                </a:effectLst>
              </a:rPr>
              <a:t>Thank you</a:t>
            </a:r>
            <a:br>
              <a:rPr lang="en-IN" sz="3400" i="1" u="sng">
                <a:solidFill>
                  <a:schemeClr val="bg1"/>
                </a:solidFill>
                <a:effectLst>
                  <a:outerShdw blurRad="38100" dist="38100" dir="2700000" algn="tl">
                    <a:srgbClr val="000000">
                      <a:alpha val="43137"/>
                    </a:srgbClr>
                  </a:outerShdw>
                </a:effectLst>
              </a:rPr>
            </a:br>
            <a:br>
              <a:rPr lang="en-IN" sz="3400" i="1" u="sng">
                <a:solidFill>
                  <a:schemeClr val="bg1"/>
                </a:solidFill>
                <a:effectLst>
                  <a:outerShdw blurRad="38100" dist="38100" dir="2700000" algn="tl">
                    <a:srgbClr val="000000">
                      <a:alpha val="43137"/>
                    </a:srgbClr>
                  </a:outerShdw>
                </a:effectLst>
              </a:rPr>
            </a:br>
            <a:r>
              <a:rPr lang="en-IN" sz="1300" b="1" i="1">
                <a:solidFill>
                  <a:schemeClr val="bg2"/>
                </a:solidFill>
                <a:latin typeface="Arial" panose="020B0604020202020204" pitchFamily="34" charset="0"/>
                <a:cs typeface="Arial" panose="020B0604020202020204" pitchFamily="34" charset="0"/>
              </a:rPr>
              <a:t>keep exploring the world</a:t>
            </a:r>
            <a:endParaRPr lang="en-IN" sz="1300" b="1">
              <a:solidFill>
                <a:schemeClr val="bg2"/>
              </a:solidFill>
            </a:endParaRPr>
          </a:p>
        </p:txBody>
      </p:sp>
      <p:pic>
        <p:nvPicPr>
          <p:cNvPr id="5" name="Picture 4">
            <a:extLst>
              <a:ext uri="{FF2B5EF4-FFF2-40B4-BE49-F238E27FC236}">
                <a16:creationId xmlns:a16="http://schemas.microsoft.com/office/drawing/2014/main" id="{0F92EC37-1C64-4849-94C0-4EB3FFF581D5}"/>
              </a:ext>
            </a:extLst>
          </p:cNvPr>
          <p:cNvPicPr>
            <a:picLocks noChangeAspect="1"/>
          </p:cNvPicPr>
          <p:nvPr/>
        </p:nvPicPr>
        <p:blipFill rotWithShape="1">
          <a:blip r:embed="rId2">
            <a:extLst>
              <a:ext uri="{28A0092B-C50C-407E-A947-70E740481C1C}">
                <a14:useLocalDpi xmlns:a14="http://schemas.microsoft.com/office/drawing/2010/main" val="0"/>
              </a:ext>
            </a:extLst>
          </a:blip>
          <a:srcRect b="5850"/>
          <a:stretch/>
        </p:blipFill>
        <p:spPr>
          <a:xfrm rot="256886" flipH="1">
            <a:off x="-149114" y="1078067"/>
            <a:ext cx="5776229" cy="5787483"/>
          </a:xfrm>
          <a:prstGeom prst="rect">
            <a:avLst/>
          </a:prstGeom>
        </p:spPr>
      </p:pic>
    </p:spTree>
    <p:extLst>
      <p:ext uri="{BB962C8B-B14F-4D97-AF65-F5344CB8AC3E}">
        <p14:creationId xmlns:p14="http://schemas.microsoft.com/office/powerpoint/2010/main" val="30467011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ppt/theme/theme3.xml><?xml version="1.0" encoding="utf-8"?>
<a:theme xmlns:a="http://schemas.openxmlformats.org/drawingml/2006/main" name="1_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ppt/theme/theme4.xml><?xml version="1.0" encoding="utf-8"?>
<a:theme xmlns:a="http://schemas.openxmlformats.org/drawingml/2006/main" name="2_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docProps/app.xml><?xml version="1.0" encoding="utf-8"?>
<Properties xmlns="http://schemas.openxmlformats.org/officeDocument/2006/extended-properties" xmlns:vt="http://schemas.openxmlformats.org/officeDocument/2006/docPropsVTypes">
  <Template>Slice</Template>
  <TotalTime>717</TotalTime>
  <Words>2054</Words>
  <Application>Microsoft Office PowerPoint</Application>
  <PresentationFormat>Widescreen</PresentationFormat>
  <Paragraphs>323</Paragraphs>
  <Slides>42</Slides>
  <Notes>0</Notes>
  <HiddenSlides>0</HiddenSlides>
  <MMClips>0</MMClips>
  <ScaleCrop>false</ScaleCrop>
  <HeadingPairs>
    <vt:vector size="6" baseType="variant">
      <vt:variant>
        <vt:lpstr>Fonts Used</vt:lpstr>
      </vt:variant>
      <vt:variant>
        <vt:i4>5</vt:i4>
      </vt:variant>
      <vt:variant>
        <vt:lpstr>Theme</vt:lpstr>
      </vt:variant>
      <vt:variant>
        <vt:i4>4</vt:i4>
      </vt:variant>
      <vt:variant>
        <vt:lpstr>Slide Titles</vt:lpstr>
      </vt:variant>
      <vt:variant>
        <vt:i4>42</vt:i4>
      </vt:variant>
    </vt:vector>
  </HeadingPairs>
  <TitlesOfParts>
    <vt:vector size="51" baseType="lpstr">
      <vt:lpstr>Arial</vt:lpstr>
      <vt:lpstr>Calibri</vt:lpstr>
      <vt:lpstr>Calibri Light</vt:lpstr>
      <vt:lpstr>Century Gothic</vt:lpstr>
      <vt:lpstr>Wingdings 3</vt:lpstr>
      <vt:lpstr>Office Theme</vt:lpstr>
      <vt:lpstr>Slice</vt:lpstr>
      <vt:lpstr>1_Slice</vt:lpstr>
      <vt:lpstr>2_Slice</vt:lpstr>
      <vt:lpstr>PowerPoint Presentation</vt:lpstr>
      <vt:lpstr>Abstract</vt:lpstr>
      <vt:lpstr>ER-Diagram</vt:lpstr>
      <vt:lpstr>Structure of Tables</vt:lpstr>
      <vt:lpstr>Structure of Customers Table</vt:lpstr>
      <vt:lpstr>Structure of Destinations Table</vt:lpstr>
      <vt:lpstr>Structure of Hotels Table</vt:lpstr>
      <vt:lpstr>Structure of TourPackages Table</vt:lpstr>
      <vt:lpstr>Structure of Bookings Table</vt:lpstr>
      <vt:lpstr>Structure of Payments Table</vt:lpstr>
      <vt:lpstr>Structure of Reviews Table</vt:lpstr>
      <vt:lpstr>Contents of Tables </vt:lpstr>
      <vt:lpstr>Contents of Customers Table</vt:lpstr>
      <vt:lpstr>Contents of Destinations Table</vt:lpstr>
      <vt:lpstr>Contents of Hotels table</vt:lpstr>
      <vt:lpstr>Contents of TourPackages Table</vt:lpstr>
      <vt:lpstr>Contents of Bookings Table</vt:lpstr>
      <vt:lpstr>Contents of Payments table</vt:lpstr>
      <vt:lpstr>Contents of Reviews Table</vt:lpstr>
      <vt:lpstr>JOINS</vt:lpstr>
      <vt:lpstr>Joins</vt:lpstr>
      <vt:lpstr>Joins</vt:lpstr>
      <vt:lpstr>Joins</vt:lpstr>
      <vt:lpstr>Joins</vt:lpstr>
      <vt:lpstr>Joins</vt:lpstr>
      <vt:lpstr>SUBQUERIES</vt:lpstr>
      <vt:lpstr>Subqueries</vt:lpstr>
      <vt:lpstr>Subqueries</vt:lpstr>
      <vt:lpstr>Subqueries</vt:lpstr>
      <vt:lpstr>Subqueries</vt:lpstr>
      <vt:lpstr>Subqueries</vt:lpstr>
      <vt:lpstr>VIEWS</vt:lpstr>
      <vt:lpstr>Views</vt:lpstr>
      <vt:lpstr>Views</vt:lpstr>
      <vt:lpstr>Views</vt:lpstr>
      <vt:lpstr>Views</vt:lpstr>
      <vt:lpstr>Views</vt:lpstr>
      <vt:lpstr>WINDOW FUNCTIONS</vt:lpstr>
      <vt:lpstr>Window Function</vt:lpstr>
      <vt:lpstr>Window Function</vt:lpstr>
      <vt:lpstr>Prepared By</vt:lpstr>
      <vt:lpstr>Thank you  keep exploring the world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TravelVerse – Tour Management System</dc:title>
  <dc:creator>khandbhorkartik@gmail.com</dc:creator>
  <cp:lastModifiedBy>khandbhorkartik@gmail.com</cp:lastModifiedBy>
  <cp:revision>74</cp:revision>
  <dcterms:created xsi:type="dcterms:W3CDTF">2026-07-25T20:37:34Z</dcterms:created>
  <dcterms:modified xsi:type="dcterms:W3CDTF">2026-08-07T06:56:47Z</dcterms:modified>
</cp:coreProperties>
</file>